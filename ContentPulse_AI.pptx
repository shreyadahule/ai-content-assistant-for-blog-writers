
<file path=[Content_Types].xml><?xml version="1.0" encoding="utf-8"?>
<Types xmlns="http://schemas.openxmlformats.org/package/2006/content-types">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27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Trend Score</c:v>
                </c:pt>
              </c:strCache>
            </c:strRef>
          </c:tx>
          <c:spPr>
            <a:solidFill>
              <a:srgbClr val="4B3BE0"/>
            </a:solidFill>
            <a:effectLst/>
          </c:spPr>
          <c:invertIfNegative val="0"/>
          <c:dLbls>
            <c:numFmt formatCode="#,##0" sourceLinked="0"/>
            <c:spPr>
              <a:noFill/>
              <a:ln>
                <a:noFill/>
              </a:ln>
              <a:effectLst/>
            </c:spPr>
            <c:txPr>
              <a:bodyPr/>
              <a:lstStyle/>
              <a:p>
                <a:pPr>
                  <a:defRPr sz="900" b="0" i="0" u="none" strike="noStrike">
                    <a:solidFill>
                      <a:srgbClr val="1720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Sheet1!$A$2:$A$6</c:f>
              <c:strCache>
                <c:ptCount val="5"/>
                <c:pt idx="0">
                  <c:v>AI Tutors</c:v>
                </c:pt>
                <c:pt idx="1">
                  <c:v>Personalized</c:v>
                </c:pt>
                <c:pt idx="2">
                  <c:v>Gen AI</c:v>
                </c:pt>
                <c:pt idx="3">
                  <c:v>Responsible AI</c:v>
                </c:pt>
                <c:pt idx="4">
                  <c:v>Classroom</c:v>
                </c:pt>
              </c:strCache>
            </c:strRef>
          </c:cat>
          <c:val>
            <c:numRef>
              <c:f>Sheet1!$B$2:$B$6</c:f>
              <c:numCache>
                <c:formatCode>General</c:formatCode>
                <c:ptCount val="5"/>
                <c:pt idx="0">
                  <c:v>91</c:v>
                </c:pt>
                <c:pt idx="1">
                  <c:v>87</c:v>
                </c:pt>
                <c:pt idx="2">
                  <c:v>85</c:v>
                </c:pt>
                <c:pt idx="3">
                  <c:v>79</c:v>
                </c:pt>
                <c:pt idx="4">
                  <c:v>76</c:v>
                </c:pt>
              </c:numCache>
            </c:numRef>
          </c:val>
          <c:extLst>
            <c:ext xmlns:c16="http://schemas.microsoft.com/office/drawing/2014/chart" uri="{C3380CC4-5D6E-409C-BE32-E72D297353CC}">
              <c16:uniqueId val="{00000000-04AF-4AE6-88AC-3A2250518CAD}"/>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697386"/>
                </a:solidFill>
                <a:latin typeface="Arial"/>
              </a:defRPr>
            </a:pPr>
            <a:endParaRPr lang="en-US"/>
          </a:p>
        </c:txPr>
        <c:crossAx val="2094734552"/>
        <c:crosses val="autoZero"/>
        <c:auto val="1"/>
        <c:lblAlgn val="ctr"/>
        <c:lblOffset val="100"/>
        <c:noMultiLvlLbl val="1"/>
      </c:catAx>
      <c:valAx>
        <c:axId val="2094734552"/>
        <c:scaling>
          <c:orientation val="minMax"/>
          <c:max val="10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Sentiment</c:v>
                </c:pt>
              </c:strCache>
            </c:strRef>
          </c:tx>
          <c:spPr>
            <a:solidFill>
              <a:schemeClr val="accent1"/>
            </a:solidFill>
            <a:ln w="9525" cap="flat">
              <a:solidFill>
                <a:srgbClr val="F9F9F9"/>
              </a:solidFill>
              <a:prstDash val="solid"/>
              <a:round/>
            </a:ln>
            <a:effectLst/>
          </c:spPr>
          <c:dPt>
            <c:idx val="0"/>
            <c:bubble3D val="0"/>
            <c:spPr>
              <a:solidFill>
                <a:srgbClr val="4B3BE0"/>
              </a:solidFill>
              <a:effectLst/>
            </c:spPr>
            <c:extLst>
              <c:ext xmlns:c16="http://schemas.microsoft.com/office/drawing/2014/chart" uri="{C3380CC4-5D6E-409C-BE32-E72D297353CC}">
                <c16:uniqueId val="{00000001-419C-445F-9E02-DD47C7889A8F}"/>
              </c:ext>
            </c:extLst>
          </c:dPt>
          <c:dPt>
            <c:idx val="1"/>
            <c:bubble3D val="0"/>
            <c:spPr>
              <a:solidFill>
                <a:srgbClr val="06B6D4"/>
              </a:solidFill>
              <a:effectLst/>
            </c:spPr>
            <c:extLst>
              <c:ext xmlns:c16="http://schemas.microsoft.com/office/drawing/2014/chart" uri="{C3380CC4-5D6E-409C-BE32-E72D297353CC}">
                <c16:uniqueId val="{00000003-419C-445F-9E02-DD47C7889A8F}"/>
              </c:ext>
            </c:extLst>
          </c:dPt>
          <c:dPt>
            <c:idx val="2"/>
            <c:bubble3D val="0"/>
            <c:spPr>
              <a:solidFill>
                <a:srgbClr val="F59E0B"/>
              </a:solidFill>
              <a:effectLst/>
            </c:spPr>
            <c:extLst>
              <c:ext xmlns:c16="http://schemas.microsoft.com/office/drawing/2014/chart" uri="{C3380CC4-5D6E-409C-BE32-E72D297353CC}">
                <c16:uniqueId val="{00000005-419C-445F-9E02-DD47C7889A8F}"/>
              </c:ext>
            </c:extLst>
          </c:dPt>
          <c:cat>
            <c:strRef>
              <c:f>Sheet1!$A$2:$A$4</c:f>
              <c:strCache>
                <c:ptCount val="3"/>
                <c:pt idx="0">
                  <c:v>Positive</c:v>
                </c:pt>
                <c:pt idx="1">
                  <c:v>Neutral</c:v>
                </c:pt>
                <c:pt idx="2">
                  <c:v>Negative</c:v>
                </c:pt>
              </c:strCache>
            </c:strRef>
          </c:cat>
          <c:val>
            <c:numRef>
              <c:f>Sheet1!$B$2:$B$4</c:f>
              <c:numCache>
                <c:formatCode>General</c:formatCode>
                <c:ptCount val="3"/>
                <c:pt idx="0">
                  <c:v>65</c:v>
                </c:pt>
                <c:pt idx="1">
                  <c:v>25</c:v>
                </c:pt>
                <c:pt idx="2">
                  <c:v>10</c:v>
                </c:pt>
              </c:numCache>
            </c:numRef>
          </c:val>
          <c:extLst>
            <c:ext xmlns:c16="http://schemas.microsoft.com/office/drawing/2014/chart" uri="{C3380CC4-5D6E-409C-BE32-E72D297353CC}">
              <c16:uniqueId val="{00000006-419C-445F-9E02-DD47C7889A8F}"/>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layout/>
      <c:overlay val="0"/>
      <c:txPr>
        <a:bodyPr/>
        <a:lstStyle/>
        <a:p>
          <a:pPr>
            <a:defRPr sz="800">
              <a:solidFill>
                <a:srgbClr val="697386"/>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Engagement</c:v>
                </c:pt>
              </c:strCache>
            </c:strRef>
          </c:tx>
          <c:spPr>
            <a:ln w="38100" cap="flat">
              <a:solidFill>
                <a:srgbClr val="06B6D4"/>
              </a:solidFill>
              <a:prstDash val="solid"/>
              <a:round/>
            </a:ln>
            <a:effectLst/>
          </c:spPr>
          <c:marker>
            <c:symbol val="circle"/>
            <c:size val="6"/>
            <c:spPr>
              <a:solidFill>
                <a:srgbClr val="06B6D4"/>
              </a:solidFill>
              <a:ln w="9525" cap="flat">
                <a:solidFill>
                  <a:srgbClr val="06B6D4"/>
                </a:solidFill>
                <a:prstDash val="solid"/>
                <a:round/>
              </a:ln>
              <a:effectLst/>
            </c:spPr>
          </c:marker>
          <c:cat>
            <c:strRef>
              <c:f>Sheet1!$A$2:$A$9</c:f>
              <c:strCache>
                <c:ptCount val="8"/>
                <c:pt idx="0">
                  <c:v>W1</c:v>
                </c:pt>
                <c:pt idx="1">
                  <c:v>W2</c:v>
                </c:pt>
                <c:pt idx="2">
                  <c:v>W3</c:v>
                </c:pt>
                <c:pt idx="3">
                  <c:v>W4</c:v>
                </c:pt>
                <c:pt idx="4">
                  <c:v>W5</c:v>
                </c:pt>
                <c:pt idx="5">
                  <c:v>W6</c:v>
                </c:pt>
                <c:pt idx="6">
                  <c:v>W7</c:v>
                </c:pt>
                <c:pt idx="7">
                  <c:v>W8</c:v>
                </c:pt>
              </c:strCache>
            </c:strRef>
          </c:cat>
          <c:val>
            <c:numRef>
              <c:f>Sheet1!$B$2:$B$9</c:f>
              <c:numCache>
                <c:formatCode>General</c:formatCode>
                <c:ptCount val="8"/>
                <c:pt idx="0">
                  <c:v>18</c:v>
                </c:pt>
                <c:pt idx="1">
                  <c:v>28</c:v>
                </c:pt>
                <c:pt idx="2">
                  <c:v>24</c:v>
                </c:pt>
                <c:pt idx="3">
                  <c:v>48</c:v>
                </c:pt>
                <c:pt idx="4">
                  <c:v>40</c:v>
                </c:pt>
                <c:pt idx="5">
                  <c:v>64</c:v>
                </c:pt>
                <c:pt idx="6">
                  <c:v>60</c:v>
                </c:pt>
                <c:pt idx="7">
                  <c:v>81</c:v>
                </c:pt>
              </c:numCache>
            </c:numRef>
          </c:val>
          <c:smooth val="1"/>
          <c:extLst>
            <c:ext xmlns:c16="http://schemas.microsoft.com/office/drawing/2014/chart" uri="{C3380CC4-5D6E-409C-BE32-E72D297353CC}">
              <c16:uniqueId val="{00000000-7D7B-4CDD-AA65-1EA1275B1C4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00" b="0" i="0" u="none" strike="noStrike">
                <a:solidFill>
                  <a:srgbClr val="697386"/>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9982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chart" Target="../charts/chart3.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440"/>
        </a:solidFill>
        <a:effectLst/>
      </p:bgPr>
    </p:bg>
    <p:spTree>
      <p:nvGrpSpPr>
        <p:cNvPr id="1" name=""/>
        <p:cNvGrpSpPr/>
        <p:nvPr/>
      </p:nvGrpSpPr>
      <p:grpSpPr>
        <a:xfrm>
          <a:off x="0" y="0"/>
          <a:ext cx="0" cy="0"/>
          <a:chOff x="0" y="0"/>
          <a:chExt cx="0" cy="0"/>
        </a:xfrm>
      </p:grpSpPr>
      <p:sp>
        <p:nvSpPr>
          <p:cNvPr id="2" name="Shape 0"/>
          <p:cNvSpPr/>
          <p:nvPr/>
        </p:nvSpPr>
        <p:spPr>
          <a:xfrm>
            <a:off x="8778240" y="-1645920"/>
            <a:ext cx="5486400" cy="5486400"/>
          </a:xfrm>
          <a:prstGeom prst="ellipse">
            <a:avLst/>
          </a:prstGeom>
          <a:solidFill>
            <a:srgbClr val="4B3BE0">
              <a:alpha val="35000"/>
            </a:srgbClr>
          </a:solidFill>
          <a:ln/>
        </p:spPr>
      </p:sp>
      <p:sp>
        <p:nvSpPr>
          <p:cNvPr id="3" name="Shape 1"/>
          <p:cNvSpPr/>
          <p:nvPr/>
        </p:nvSpPr>
        <p:spPr>
          <a:xfrm>
            <a:off x="-1645920" y="4206240"/>
            <a:ext cx="4572000" cy="4572000"/>
          </a:xfrm>
          <a:prstGeom prst="ellipse">
            <a:avLst/>
          </a:prstGeom>
          <a:solidFill>
            <a:srgbClr val="06B6D4">
              <a:alpha val="22000"/>
            </a:srgbClr>
          </a:solidFill>
          <a:ln/>
        </p:spPr>
      </p:sp>
      <p:sp>
        <p:nvSpPr>
          <p:cNvPr id="4" name="Shape 2"/>
          <p:cNvSpPr/>
          <p:nvPr/>
        </p:nvSpPr>
        <p:spPr>
          <a:xfrm>
            <a:off x="548640" y="548640"/>
            <a:ext cx="2331720" cy="457200"/>
          </a:xfrm>
          <a:prstGeom prst="roundRect">
            <a:avLst>
              <a:gd name="adj" fmla="val 50000"/>
            </a:avLst>
          </a:prstGeom>
          <a:solidFill>
            <a:srgbClr val="4B3BE0">
              <a:alpha val="70000"/>
            </a:srgbClr>
          </a:solidFill>
          <a:ln w="9525">
            <a:solidFill>
              <a:srgbClr val="06B6D4"/>
            </a:solidFill>
            <a:prstDash val="solid"/>
          </a:ln>
        </p:spPr>
      </p:sp>
      <p:sp>
        <p:nvSpPr>
          <p:cNvPr id="5" name="Text 3"/>
          <p:cNvSpPr/>
          <p:nvPr/>
        </p:nvSpPr>
        <p:spPr>
          <a:xfrm>
            <a:off x="548640" y="548640"/>
            <a:ext cx="4206240" cy="457200"/>
          </a:xfrm>
          <a:prstGeom prst="rect">
            <a:avLst/>
          </a:prstGeom>
          <a:noFill/>
          <a:ln/>
        </p:spPr>
        <p:txBody>
          <a:bodyPr wrap="square" lIns="0" tIns="0" rIns="0" bIns="0" rtlCol="0" anchor="ctr"/>
          <a:lstStyle/>
          <a:p>
            <a:pPr marL="0" indent="0">
              <a:buNone/>
            </a:pPr>
            <a:r>
              <a:rPr lang="en-US" sz="1100" b="1" kern="0" spc="100" dirty="0">
                <a:solidFill>
                  <a:srgbClr val="FFFFFF"/>
                </a:solidFill>
                <a:latin typeface="Calibri" pitchFamily="34" charset="0"/>
                <a:ea typeface="Calibri" pitchFamily="34" charset="-122"/>
                <a:cs typeface="Calibri" pitchFamily="34" charset="-120"/>
              </a:rPr>
              <a:t>✦  AGENTIC AI FOR BLOGGERS</a:t>
            </a:r>
            <a:endParaRPr lang="en-US" sz="1100" dirty="0"/>
          </a:p>
        </p:txBody>
      </p:sp>
      <p:sp>
        <p:nvSpPr>
          <p:cNvPr id="6" name="Text 4"/>
          <p:cNvSpPr/>
          <p:nvPr/>
        </p:nvSpPr>
        <p:spPr>
          <a:xfrm>
            <a:off x="548640" y="1965960"/>
            <a:ext cx="10515600" cy="1371600"/>
          </a:xfrm>
          <a:prstGeom prst="rect">
            <a:avLst/>
          </a:prstGeom>
          <a:noFill/>
          <a:ln/>
        </p:spPr>
        <p:txBody>
          <a:bodyPr wrap="square" lIns="0" tIns="0" rIns="0" bIns="0" rtlCol="0" anchor="ctr"/>
          <a:lstStyle/>
          <a:p>
            <a:pPr marL="0" indent="0">
              <a:buNone/>
            </a:pPr>
            <a:r>
              <a:rPr lang="en-US" sz="5800" b="1" dirty="0">
                <a:solidFill>
                  <a:srgbClr val="FFFFFF"/>
                </a:solidFill>
                <a:latin typeface="Cambria" pitchFamily="34" charset="0"/>
                <a:ea typeface="Cambria" pitchFamily="34" charset="-122"/>
                <a:cs typeface="Cambria" pitchFamily="34" charset="-120"/>
              </a:rPr>
              <a:t>ContentPulse </a:t>
            </a:r>
            <a:r>
              <a:rPr lang="en-US" sz="5800" b="1" dirty="0">
                <a:solidFill>
                  <a:srgbClr val="06B6D4"/>
                </a:solidFill>
                <a:latin typeface="Cambria" pitchFamily="34" charset="0"/>
                <a:ea typeface="Cambria" pitchFamily="34" charset="-122"/>
                <a:cs typeface="Cambria" pitchFamily="34" charset="-120"/>
              </a:rPr>
              <a:t>AI</a:t>
            </a:r>
            <a:endParaRPr lang="en-US" sz="5800" dirty="0"/>
          </a:p>
        </p:txBody>
      </p:sp>
      <p:sp>
        <p:nvSpPr>
          <p:cNvPr id="7" name="Text 5"/>
          <p:cNvSpPr/>
          <p:nvPr/>
        </p:nvSpPr>
        <p:spPr>
          <a:xfrm>
            <a:off x="566928" y="3246120"/>
            <a:ext cx="9326880" cy="822960"/>
          </a:xfrm>
          <a:prstGeom prst="rect">
            <a:avLst/>
          </a:prstGeom>
          <a:noFill/>
          <a:ln/>
        </p:spPr>
        <p:txBody>
          <a:bodyPr wrap="square" lIns="0" tIns="0" rIns="0" bIns="0" rtlCol="0" anchor="ctr"/>
          <a:lstStyle/>
          <a:p>
            <a:pPr marL="0" indent="0">
              <a:lnSpc>
                <a:spcPct val="130000"/>
              </a:lnSpc>
              <a:buNone/>
            </a:pPr>
            <a:r>
              <a:rPr lang="en-US" sz="1500" dirty="0">
                <a:solidFill>
                  <a:srgbClr val="C9CEE8"/>
                </a:solidFill>
                <a:latin typeface="Calibri" pitchFamily="34" charset="0"/>
                <a:ea typeface="Calibri" pitchFamily="34" charset="-122"/>
                <a:cs typeface="Calibri" pitchFamily="34" charset="-120"/>
              </a:rPr>
              <a:t>Turning content overload into content opportunity — an agentic writing</a:t>
            </a:r>
            <a:endParaRPr lang="en-US" sz="1500" dirty="0"/>
          </a:p>
          <a:p>
            <a:pPr marL="0" indent="0">
              <a:lnSpc>
                <a:spcPct val="130000"/>
              </a:lnSpc>
              <a:buNone/>
            </a:pPr>
            <a:r>
              <a:rPr lang="en-US" sz="1500" dirty="0">
                <a:solidFill>
                  <a:srgbClr val="C9CEE8"/>
                </a:solidFill>
                <a:latin typeface="Calibri" pitchFamily="34" charset="0"/>
                <a:ea typeface="Calibri" pitchFamily="34" charset="-122"/>
                <a:cs typeface="Calibri" pitchFamily="34" charset="-120"/>
              </a:rPr>
              <a:t>assistant that collects, synthesizes and predicts, built for Problem Statement No. 5.</a:t>
            </a:r>
            <a:endParaRPr lang="en-US" sz="1500" dirty="0"/>
          </a:p>
        </p:txBody>
      </p:sp>
      <p:sp>
        <p:nvSpPr>
          <p:cNvPr id="8" name="Shape 6"/>
          <p:cNvSpPr/>
          <p:nvPr/>
        </p:nvSpPr>
        <p:spPr>
          <a:xfrm>
            <a:off x="566928" y="4434840"/>
            <a:ext cx="3291840" cy="0"/>
          </a:xfrm>
          <a:prstGeom prst="line">
            <a:avLst/>
          </a:prstGeom>
          <a:noFill/>
          <a:ln w="12700">
            <a:solidFill>
              <a:srgbClr val="3A3470"/>
            </a:solidFill>
            <a:prstDash val="solid"/>
          </a:ln>
        </p:spPr>
      </p:sp>
      <p:sp>
        <p:nvSpPr>
          <p:cNvPr id="9" name="Text 7"/>
          <p:cNvSpPr/>
          <p:nvPr/>
        </p:nvSpPr>
        <p:spPr>
          <a:xfrm>
            <a:off x="566928" y="4617720"/>
            <a:ext cx="3657600" cy="256032"/>
          </a:xfrm>
          <a:prstGeom prst="rect">
            <a:avLst/>
          </a:prstGeom>
          <a:noFill/>
          <a:ln/>
        </p:spPr>
        <p:txBody>
          <a:bodyPr wrap="square" lIns="0" tIns="0" rIns="0" bIns="0" rtlCol="0" anchor="ctr"/>
          <a:lstStyle/>
          <a:p>
            <a:pPr marL="0" indent="0">
              <a:buNone/>
            </a:pPr>
            <a:r>
              <a:rPr lang="en-US" sz="1000" b="1" kern="0" spc="150" dirty="0">
                <a:solidFill>
                  <a:srgbClr val="06B6D4"/>
                </a:solidFill>
                <a:latin typeface="Calibri" pitchFamily="34" charset="0"/>
                <a:ea typeface="Calibri" pitchFamily="34" charset="-122"/>
                <a:cs typeface="Calibri" pitchFamily="34" charset="-120"/>
              </a:rPr>
              <a:t>PRESENTED BY</a:t>
            </a:r>
            <a:endParaRPr lang="en-US" sz="1000" dirty="0"/>
          </a:p>
        </p:txBody>
      </p:sp>
      <p:sp>
        <p:nvSpPr>
          <p:cNvPr id="10" name="Text 8"/>
          <p:cNvSpPr/>
          <p:nvPr/>
        </p:nvSpPr>
        <p:spPr>
          <a:xfrm>
            <a:off x="566928" y="4864608"/>
            <a:ext cx="5486400" cy="50292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Shreya Dahule</a:t>
            </a:r>
            <a:endParaRPr lang="en-US" sz="2200" dirty="0"/>
          </a:p>
        </p:txBody>
      </p:sp>
      <p:sp>
        <p:nvSpPr>
          <p:cNvPr id="11" name="Text 9"/>
          <p:cNvSpPr/>
          <p:nvPr/>
        </p:nvSpPr>
        <p:spPr>
          <a:xfrm>
            <a:off x="566928" y="5577840"/>
            <a:ext cx="3657600" cy="256032"/>
          </a:xfrm>
          <a:prstGeom prst="rect">
            <a:avLst/>
          </a:prstGeom>
          <a:noFill/>
          <a:ln/>
        </p:spPr>
        <p:txBody>
          <a:bodyPr wrap="square" lIns="0" tIns="0" rIns="0" bIns="0" rtlCol="0" anchor="ctr"/>
          <a:lstStyle/>
          <a:p>
            <a:pPr marL="0" indent="0">
              <a:buNone/>
            </a:pPr>
            <a:r>
              <a:rPr lang="en-US" sz="1000" b="1" kern="0" spc="150" dirty="0">
                <a:solidFill>
                  <a:srgbClr val="06B6D4"/>
                </a:solidFill>
                <a:latin typeface="Calibri" pitchFamily="34" charset="0"/>
                <a:ea typeface="Calibri" pitchFamily="34" charset="-122"/>
                <a:cs typeface="Calibri" pitchFamily="34" charset="-120"/>
              </a:rPr>
              <a:t>BUILT WITH</a:t>
            </a:r>
            <a:endParaRPr lang="en-US" sz="1000" dirty="0"/>
          </a:p>
        </p:txBody>
      </p:sp>
      <p:sp>
        <p:nvSpPr>
          <p:cNvPr id="12" name="Text 10"/>
          <p:cNvSpPr/>
          <p:nvPr/>
        </p:nvSpPr>
        <p:spPr>
          <a:xfrm>
            <a:off x="566928" y="5833872"/>
            <a:ext cx="7315200" cy="320040"/>
          </a:xfrm>
          <a:prstGeom prst="rect">
            <a:avLst/>
          </a:prstGeom>
          <a:noFill/>
          <a:ln/>
        </p:spPr>
        <p:txBody>
          <a:bodyPr wrap="square" lIns="0" tIns="0" rIns="0" bIns="0" rtlCol="0" anchor="ctr"/>
          <a:lstStyle/>
          <a:p>
            <a:pPr marL="0" indent="0">
              <a:buNone/>
            </a:pPr>
            <a:r>
              <a:rPr lang="en-US" sz="1300" dirty="0">
                <a:solidFill>
                  <a:srgbClr val="DADEF2"/>
                </a:solidFill>
                <a:latin typeface="Calibri" pitchFamily="34" charset="0"/>
                <a:ea typeface="Calibri" pitchFamily="34" charset="-122"/>
                <a:cs typeface="Calibri" pitchFamily="34" charset="-120"/>
              </a:rPr>
              <a:t>IBM Langflow  ·  IBM watsonx Orchestrate  ·  IBM Models</a:t>
            </a:r>
            <a:endParaRPr lang="en-US" sz="1300" dirty="0"/>
          </a:p>
        </p:txBody>
      </p:sp>
      <p:sp>
        <p:nvSpPr>
          <p:cNvPr id="13" name="Shape 11"/>
          <p:cNvSpPr/>
          <p:nvPr/>
        </p:nvSpPr>
        <p:spPr>
          <a:xfrm>
            <a:off x="10195560" y="548640"/>
            <a:ext cx="1463040" cy="384048"/>
          </a:xfrm>
          <a:prstGeom prst="roundRect">
            <a:avLst>
              <a:gd name="adj" fmla="val 50000"/>
            </a:avLst>
          </a:prstGeom>
          <a:solidFill>
            <a:srgbClr val="0E3B2E"/>
          </a:solidFill>
          <a:ln/>
        </p:spPr>
      </p:sp>
      <p:sp>
        <p:nvSpPr>
          <p:cNvPr id="14" name="Text 12"/>
          <p:cNvSpPr/>
          <p:nvPr/>
        </p:nvSpPr>
        <p:spPr>
          <a:xfrm>
            <a:off x="10195560" y="548640"/>
            <a:ext cx="1463040" cy="384048"/>
          </a:xfrm>
          <a:prstGeom prst="rect">
            <a:avLst/>
          </a:prstGeom>
          <a:noFill/>
          <a:ln/>
        </p:spPr>
        <p:txBody>
          <a:bodyPr wrap="square" lIns="0" tIns="0" rIns="0" bIns="0" rtlCol="0" anchor="ctr"/>
          <a:lstStyle/>
          <a:p>
            <a:pPr marL="0" indent="0" algn="ctr">
              <a:buNone/>
            </a:pPr>
            <a:r>
              <a:rPr lang="en-US" sz="950" b="1" dirty="0">
                <a:solidFill>
                  <a:srgbClr val="4ADE80"/>
                </a:solidFill>
                <a:latin typeface="Calibri" pitchFamily="34" charset="0"/>
                <a:ea typeface="Calibri" pitchFamily="34" charset="-122"/>
                <a:cs typeface="Calibri" pitchFamily="34" charset="-120"/>
              </a:rPr>
              <a:t>● DEMO MODE</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4B3BE0"/>
                </a:solidFill>
                <a:latin typeface="Calibri" pitchFamily="34" charset="0"/>
                <a:ea typeface="Calibri" pitchFamily="34" charset="-122"/>
                <a:cs typeface="Calibri" pitchFamily="34" charset="-120"/>
              </a:rPr>
              <a:t>PROBLEM STATEMENT NO. 5</a:t>
            </a:r>
            <a:endParaRPr lang="en-US" sz="1200" dirty="0"/>
          </a:p>
        </p:txBody>
      </p:sp>
      <p:sp>
        <p:nvSpPr>
          <p:cNvPr id="3" name="Text 1"/>
          <p:cNvSpPr/>
          <p:nvPr/>
        </p:nvSpPr>
        <p:spPr>
          <a:xfrm>
            <a:off x="548640" y="640080"/>
            <a:ext cx="10515600" cy="685800"/>
          </a:xfrm>
          <a:prstGeom prst="rect">
            <a:avLst/>
          </a:prstGeom>
          <a:noFill/>
          <a:ln/>
        </p:spPr>
        <p:txBody>
          <a:bodyPr wrap="square" lIns="0" tIns="0" rIns="0" bIns="0" rtlCol="0" anchor="ctr"/>
          <a:lstStyle/>
          <a:p>
            <a:pPr marL="0" indent="0">
              <a:buNone/>
            </a:pPr>
            <a:r>
              <a:rPr lang="en-US" sz="3200" b="1" dirty="0">
                <a:solidFill>
                  <a:srgbClr val="172033"/>
                </a:solidFill>
                <a:latin typeface="Cambria" pitchFamily="34" charset="0"/>
                <a:ea typeface="Cambria" pitchFamily="34" charset="-122"/>
                <a:cs typeface="Cambria" pitchFamily="34" charset="-120"/>
              </a:rPr>
              <a:t>Managing Content Overload for Blog Writers</a:t>
            </a:r>
            <a:endParaRPr lang="en-US" sz="3200" dirty="0"/>
          </a:p>
        </p:txBody>
      </p:sp>
      <p:sp>
        <p:nvSpPr>
          <p:cNvPr id="4" name="Text 2"/>
          <p:cNvSpPr/>
          <p:nvPr/>
        </p:nvSpPr>
        <p:spPr>
          <a:xfrm>
            <a:off x="548640" y="1600200"/>
            <a:ext cx="5943600" cy="1920240"/>
          </a:xfrm>
          <a:prstGeom prst="rect">
            <a:avLst/>
          </a:prstGeom>
          <a:noFill/>
          <a:ln/>
        </p:spPr>
        <p:txBody>
          <a:bodyPr wrap="square" lIns="0" tIns="0" rIns="0" bIns="0" rtlCol="0" anchor="ctr"/>
          <a:lstStyle/>
          <a:p>
            <a:pPr marL="0" indent="0">
              <a:lnSpc>
                <a:spcPct val="135000"/>
              </a:lnSpc>
              <a:buNone/>
            </a:pPr>
            <a:r>
              <a:rPr lang="en-US" sz="1500" dirty="0">
                <a:solidFill>
                  <a:srgbClr val="172033"/>
                </a:solidFill>
                <a:latin typeface="Calibri" pitchFamily="34" charset="0"/>
                <a:ea typeface="Calibri" pitchFamily="34" charset="-122"/>
                <a:cs typeface="Calibri" pitchFamily="34" charset="-120"/>
              </a:rPr>
              <a:t>Bloggers today face an overwhelming flood of scattered information — news updates, research articles, social media trends and audience feedback. This content is fragmented, quickly outdated and difficult to organize, making it hard for writers to focus on creating impactful blogs.</a:t>
            </a:r>
            <a:endParaRPr lang="en-US" sz="1500" dirty="0"/>
          </a:p>
        </p:txBody>
      </p:sp>
      <p:sp>
        <p:nvSpPr>
          <p:cNvPr id="5" name="Shape 3"/>
          <p:cNvSpPr/>
          <p:nvPr/>
        </p:nvSpPr>
        <p:spPr>
          <a:xfrm>
            <a:off x="548640" y="3611880"/>
            <a:ext cx="5943600" cy="1051560"/>
          </a:xfrm>
          <a:prstGeom prst="roundRect">
            <a:avLst>
              <a:gd name="adj" fmla="val 8696"/>
            </a:avLst>
          </a:prstGeom>
          <a:solidFill>
            <a:srgbClr val="F0EEFF"/>
          </a:solidFill>
          <a:ln/>
        </p:spPr>
      </p:sp>
      <p:sp>
        <p:nvSpPr>
          <p:cNvPr id="6" name="Text 4"/>
          <p:cNvSpPr/>
          <p:nvPr/>
        </p:nvSpPr>
        <p:spPr>
          <a:xfrm>
            <a:off x="777240" y="3611880"/>
            <a:ext cx="5486400" cy="1051560"/>
          </a:xfrm>
          <a:prstGeom prst="rect">
            <a:avLst/>
          </a:prstGeom>
          <a:noFill/>
          <a:ln/>
        </p:spPr>
        <p:txBody>
          <a:bodyPr wrap="square" lIns="0" tIns="0" rIns="0" bIns="0" rtlCol="0" anchor="ctr"/>
          <a:lstStyle/>
          <a:p>
            <a:pPr marL="0" indent="0">
              <a:lnSpc>
                <a:spcPct val="125000"/>
              </a:lnSpc>
              <a:buNone/>
            </a:pPr>
            <a:r>
              <a:rPr lang="en-US" sz="1350" b="1" dirty="0">
                <a:solidFill>
                  <a:srgbClr val="4B3BE0"/>
                </a:solidFill>
                <a:latin typeface="Calibri" pitchFamily="34" charset="0"/>
                <a:ea typeface="Calibri" pitchFamily="34" charset="-122"/>
                <a:cs typeface="Calibri" pitchFamily="34" charset="-120"/>
              </a:rPr>
              <a:t>The real challenge: </a:t>
            </a:r>
            <a:r>
              <a:rPr lang="en-US" sz="1350" dirty="0">
                <a:solidFill>
                  <a:srgbClr val="172033"/>
                </a:solidFill>
                <a:latin typeface="Calibri" pitchFamily="34" charset="0"/>
                <a:ea typeface="Calibri" pitchFamily="34" charset="-122"/>
                <a:cs typeface="Calibri" pitchFamily="34" charset="-120"/>
              </a:rPr>
              <a:t>not just collecting ideas, but learning to </a:t>
            </a:r>
            <a:r>
              <a:rPr lang="en-US" sz="1350" b="1" i="1" dirty="0">
                <a:solidFill>
                  <a:srgbClr val="4B3BE0"/>
                </a:solidFill>
                <a:latin typeface="Calibri" pitchFamily="34" charset="0"/>
                <a:ea typeface="Calibri" pitchFamily="34" charset="-122"/>
                <a:cs typeface="Calibri" pitchFamily="34" charset="-120"/>
              </a:rPr>
              <a:t>synthesize, prioritize and guide</a:t>
            </a:r>
            <a:r>
              <a:rPr lang="en-US" sz="1350" dirty="0">
                <a:solidFill>
                  <a:srgbClr val="172033"/>
                </a:solidFill>
                <a:latin typeface="Calibri" pitchFamily="34" charset="0"/>
                <a:ea typeface="Calibri" pitchFamily="34" charset="-122"/>
                <a:cs typeface="Calibri" pitchFamily="34" charset="-120"/>
              </a:rPr>
              <a:t> writers toward high-quality content.</a:t>
            </a:r>
            <a:endParaRPr lang="en-US" sz="1350" dirty="0"/>
          </a:p>
        </p:txBody>
      </p:sp>
      <p:sp>
        <p:nvSpPr>
          <p:cNvPr id="7" name="Shape 5"/>
          <p:cNvSpPr/>
          <p:nvPr/>
        </p:nvSpPr>
        <p:spPr>
          <a:xfrm>
            <a:off x="6903720" y="1600200"/>
            <a:ext cx="2286000" cy="1051560"/>
          </a:xfrm>
          <a:prstGeom prst="roundRect">
            <a:avLst>
              <a:gd name="adj" fmla="val 7826"/>
            </a:avLst>
          </a:prstGeom>
          <a:solidFill>
            <a:srgbClr val="F6F7FB"/>
          </a:solidFill>
          <a:ln w="9525">
            <a:solidFill>
              <a:srgbClr val="E5E7EF"/>
            </a:solidFill>
            <a:prstDash val="solid"/>
          </a:ln>
        </p:spPr>
      </p:sp>
      <p:sp>
        <p:nvSpPr>
          <p:cNvPr id="8" name="Shape 6"/>
          <p:cNvSpPr/>
          <p:nvPr/>
        </p:nvSpPr>
        <p:spPr>
          <a:xfrm>
            <a:off x="7068312" y="1764792"/>
            <a:ext cx="457200" cy="457200"/>
          </a:xfrm>
          <a:prstGeom prst="ellipse">
            <a:avLst/>
          </a:prstGeom>
          <a:solidFill>
            <a:srgbClr val="FFFFFF"/>
          </a:solidFill>
          <a:ln/>
        </p:spPr>
      </p:sp>
      <p:sp>
        <p:nvSpPr>
          <p:cNvPr id="9" name="Text 7"/>
          <p:cNvSpPr/>
          <p:nvPr/>
        </p:nvSpPr>
        <p:spPr>
          <a:xfrm>
            <a:off x="7068312" y="1764792"/>
            <a:ext cx="457200" cy="457200"/>
          </a:xfrm>
          <a:prstGeom prst="rect">
            <a:avLst/>
          </a:prstGeom>
          <a:noFill/>
          <a:ln/>
        </p:spPr>
        <p:txBody>
          <a:bodyPr wrap="square" lIns="0" tIns="0" rIns="0" bIns="0" rtlCol="0" anchor="ctr"/>
          <a:lstStyle/>
          <a:p>
            <a:pPr marL="0" indent="0" algn="ctr">
              <a:buNone/>
            </a:pPr>
            <a:r>
              <a:rPr lang="en-US" sz="2000" b="1" dirty="0">
                <a:solidFill>
                  <a:srgbClr val="172033"/>
                </a:solidFill>
                <a:latin typeface="Calibri" pitchFamily="34" charset="0"/>
                <a:ea typeface="Calibri" pitchFamily="34" charset="-122"/>
                <a:cs typeface="Calibri" pitchFamily="34" charset="-120"/>
              </a:rPr>
              <a:t>📰</a:t>
            </a:r>
            <a:endParaRPr lang="en-US" sz="2000" dirty="0"/>
          </a:p>
        </p:txBody>
      </p:sp>
      <p:sp>
        <p:nvSpPr>
          <p:cNvPr id="10" name="Text 8"/>
          <p:cNvSpPr/>
          <p:nvPr/>
        </p:nvSpPr>
        <p:spPr>
          <a:xfrm>
            <a:off x="7653528" y="1728216"/>
            <a:ext cx="1417320" cy="292608"/>
          </a:xfrm>
          <a:prstGeom prst="rect">
            <a:avLst/>
          </a:prstGeom>
          <a:noFill/>
          <a:ln/>
        </p:spPr>
        <p:txBody>
          <a:bodyPr wrap="square" lIns="0" tIns="0" rIns="0" bIns="0" rtlCol="0" anchor="ctr"/>
          <a:lstStyle/>
          <a:p>
            <a:pPr marL="0" indent="0">
              <a:buNone/>
            </a:pPr>
            <a:r>
              <a:rPr lang="en-US" sz="1250" b="1" dirty="0">
                <a:solidFill>
                  <a:srgbClr val="172033"/>
                </a:solidFill>
                <a:latin typeface="Calibri" pitchFamily="34" charset="0"/>
                <a:ea typeface="Calibri" pitchFamily="34" charset="-122"/>
                <a:cs typeface="Calibri" pitchFamily="34" charset="-120"/>
              </a:rPr>
              <a:t>News Updates</a:t>
            </a:r>
            <a:endParaRPr lang="en-US" sz="1250" dirty="0"/>
          </a:p>
        </p:txBody>
      </p:sp>
      <p:sp>
        <p:nvSpPr>
          <p:cNvPr id="11" name="Text 9"/>
          <p:cNvSpPr/>
          <p:nvPr/>
        </p:nvSpPr>
        <p:spPr>
          <a:xfrm>
            <a:off x="7653528" y="2020824"/>
            <a:ext cx="1417320" cy="502920"/>
          </a:xfrm>
          <a:prstGeom prst="rect">
            <a:avLst/>
          </a:prstGeom>
          <a:noFill/>
          <a:ln/>
        </p:spPr>
        <p:txBody>
          <a:bodyPr wrap="square" lIns="0" tIns="0" rIns="0" bIns="0" rtlCol="0" anchor="ctr"/>
          <a:lstStyle/>
          <a:p>
            <a:pPr marL="0" indent="0">
              <a:lnSpc>
                <a:spcPct val="115000"/>
              </a:lnSpc>
              <a:buNone/>
            </a:pPr>
            <a:r>
              <a:rPr lang="en-US" sz="1000" dirty="0">
                <a:solidFill>
                  <a:srgbClr val="697386"/>
                </a:solidFill>
                <a:latin typeface="Calibri" pitchFamily="34" charset="0"/>
                <a:ea typeface="Calibri" pitchFamily="34" charset="-122"/>
                <a:cs typeface="Calibri" pitchFamily="34" charset="-120"/>
              </a:rPr>
              <a:t>Fast-moving, quickly outdated</a:t>
            </a:r>
            <a:endParaRPr lang="en-US" sz="1000" dirty="0"/>
          </a:p>
        </p:txBody>
      </p:sp>
      <p:sp>
        <p:nvSpPr>
          <p:cNvPr id="12" name="Shape 10"/>
          <p:cNvSpPr/>
          <p:nvPr/>
        </p:nvSpPr>
        <p:spPr>
          <a:xfrm>
            <a:off x="9372600" y="1600200"/>
            <a:ext cx="2286000" cy="1051560"/>
          </a:xfrm>
          <a:prstGeom prst="roundRect">
            <a:avLst>
              <a:gd name="adj" fmla="val 7826"/>
            </a:avLst>
          </a:prstGeom>
          <a:solidFill>
            <a:srgbClr val="F6F7FB"/>
          </a:solidFill>
          <a:ln w="9525">
            <a:solidFill>
              <a:srgbClr val="E5E7EF"/>
            </a:solidFill>
            <a:prstDash val="solid"/>
          </a:ln>
        </p:spPr>
      </p:sp>
      <p:sp>
        <p:nvSpPr>
          <p:cNvPr id="13" name="Shape 11"/>
          <p:cNvSpPr/>
          <p:nvPr/>
        </p:nvSpPr>
        <p:spPr>
          <a:xfrm>
            <a:off x="9537192" y="1764792"/>
            <a:ext cx="457200" cy="457200"/>
          </a:xfrm>
          <a:prstGeom prst="ellipse">
            <a:avLst/>
          </a:prstGeom>
          <a:solidFill>
            <a:srgbClr val="FFFFFF"/>
          </a:solidFill>
          <a:ln/>
        </p:spPr>
      </p:sp>
      <p:sp>
        <p:nvSpPr>
          <p:cNvPr id="14" name="Text 12"/>
          <p:cNvSpPr/>
          <p:nvPr/>
        </p:nvSpPr>
        <p:spPr>
          <a:xfrm>
            <a:off x="9537192" y="1764792"/>
            <a:ext cx="457200" cy="457200"/>
          </a:xfrm>
          <a:prstGeom prst="rect">
            <a:avLst/>
          </a:prstGeom>
          <a:noFill/>
          <a:ln/>
        </p:spPr>
        <p:txBody>
          <a:bodyPr wrap="square" lIns="0" tIns="0" rIns="0" bIns="0" rtlCol="0" anchor="ctr"/>
          <a:lstStyle/>
          <a:p>
            <a:pPr marL="0" indent="0" algn="ctr">
              <a:buNone/>
            </a:pPr>
            <a:r>
              <a:rPr lang="en-US" sz="2000" b="1" dirty="0">
                <a:solidFill>
                  <a:srgbClr val="172033"/>
                </a:solidFill>
                <a:latin typeface="Calibri" pitchFamily="34" charset="0"/>
                <a:ea typeface="Calibri" pitchFamily="34" charset="-122"/>
                <a:cs typeface="Calibri" pitchFamily="34" charset="-120"/>
              </a:rPr>
              <a:t>🔬</a:t>
            </a:r>
            <a:endParaRPr lang="en-US" sz="2000" dirty="0"/>
          </a:p>
        </p:txBody>
      </p:sp>
      <p:sp>
        <p:nvSpPr>
          <p:cNvPr id="15" name="Text 13"/>
          <p:cNvSpPr/>
          <p:nvPr/>
        </p:nvSpPr>
        <p:spPr>
          <a:xfrm>
            <a:off x="10122408" y="1728216"/>
            <a:ext cx="1417320" cy="292608"/>
          </a:xfrm>
          <a:prstGeom prst="rect">
            <a:avLst/>
          </a:prstGeom>
          <a:noFill/>
          <a:ln/>
        </p:spPr>
        <p:txBody>
          <a:bodyPr wrap="square" lIns="0" tIns="0" rIns="0" bIns="0" rtlCol="0" anchor="ctr"/>
          <a:lstStyle/>
          <a:p>
            <a:pPr marL="0" indent="0">
              <a:buNone/>
            </a:pPr>
            <a:r>
              <a:rPr lang="en-US" sz="1250" b="1" dirty="0">
                <a:solidFill>
                  <a:srgbClr val="172033"/>
                </a:solidFill>
                <a:latin typeface="Calibri" pitchFamily="34" charset="0"/>
                <a:ea typeface="Calibri" pitchFamily="34" charset="-122"/>
                <a:cs typeface="Calibri" pitchFamily="34" charset="-120"/>
              </a:rPr>
              <a:t>Research Articles</a:t>
            </a:r>
            <a:endParaRPr lang="en-US" sz="1250" dirty="0"/>
          </a:p>
        </p:txBody>
      </p:sp>
      <p:sp>
        <p:nvSpPr>
          <p:cNvPr id="16" name="Text 14"/>
          <p:cNvSpPr/>
          <p:nvPr/>
        </p:nvSpPr>
        <p:spPr>
          <a:xfrm>
            <a:off x="10122408" y="2020824"/>
            <a:ext cx="1417320" cy="502920"/>
          </a:xfrm>
          <a:prstGeom prst="rect">
            <a:avLst/>
          </a:prstGeom>
          <a:noFill/>
          <a:ln/>
        </p:spPr>
        <p:txBody>
          <a:bodyPr wrap="square" lIns="0" tIns="0" rIns="0" bIns="0" rtlCol="0" anchor="ctr"/>
          <a:lstStyle/>
          <a:p>
            <a:pPr marL="0" indent="0">
              <a:lnSpc>
                <a:spcPct val="115000"/>
              </a:lnSpc>
              <a:buNone/>
            </a:pPr>
            <a:r>
              <a:rPr lang="en-US" sz="1000" dirty="0">
                <a:solidFill>
                  <a:srgbClr val="697386"/>
                </a:solidFill>
                <a:latin typeface="Calibri" pitchFamily="34" charset="0"/>
                <a:ea typeface="Calibri" pitchFamily="34" charset="-122"/>
                <a:cs typeface="Calibri" pitchFamily="34" charset="-120"/>
              </a:rPr>
              <a:t>Dense, technical, scattered</a:t>
            </a:r>
            <a:endParaRPr lang="en-US" sz="1000" dirty="0"/>
          </a:p>
        </p:txBody>
      </p:sp>
      <p:sp>
        <p:nvSpPr>
          <p:cNvPr id="17" name="Shape 15"/>
          <p:cNvSpPr/>
          <p:nvPr/>
        </p:nvSpPr>
        <p:spPr>
          <a:xfrm>
            <a:off x="6903720" y="2852928"/>
            <a:ext cx="2286000" cy="1051560"/>
          </a:xfrm>
          <a:prstGeom prst="roundRect">
            <a:avLst>
              <a:gd name="adj" fmla="val 7826"/>
            </a:avLst>
          </a:prstGeom>
          <a:solidFill>
            <a:srgbClr val="F6F7FB"/>
          </a:solidFill>
          <a:ln w="9525">
            <a:solidFill>
              <a:srgbClr val="E5E7EF"/>
            </a:solidFill>
            <a:prstDash val="solid"/>
          </a:ln>
        </p:spPr>
      </p:sp>
      <p:sp>
        <p:nvSpPr>
          <p:cNvPr id="18" name="Shape 16"/>
          <p:cNvSpPr/>
          <p:nvPr/>
        </p:nvSpPr>
        <p:spPr>
          <a:xfrm>
            <a:off x="7068312" y="3017520"/>
            <a:ext cx="457200" cy="457200"/>
          </a:xfrm>
          <a:prstGeom prst="ellipse">
            <a:avLst/>
          </a:prstGeom>
          <a:solidFill>
            <a:srgbClr val="FFFFFF"/>
          </a:solidFill>
          <a:ln/>
        </p:spPr>
      </p:sp>
      <p:sp>
        <p:nvSpPr>
          <p:cNvPr id="19" name="Text 17"/>
          <p:cNvSpPr/>
          <p:nvPr/>
        </p:nvSpPr>
        <p:spPr>
          <a:xfrm>
            <a:off x="7068312" y="3017520"/>
            <a:ext cx="457200" cy="457200"/>
          </a:xfrm>
          <a:prstGeom prst="rect">
            <a:avLst/>
          </a:prstGeom>
          <a:noFill/>
          <a:ln/>
        </p:spPr>
        <p:txBody>
          <a:bodyPr wrap="square" lIns="0" tIns="0" rIns="0" bIns="0" rtlCol="0" anchor="ctr"/>
          <a:lstStyle/>
          <a:p>
            <a:pPr marL="0" indent="0" algn="ctr">
              <a:buNone/>
            </a:pPr>
            <a:r>
              <a:rPr lang="en-US" sz="2000" b="1" dirty="0">
                <a:solidFill>
                  <a:srgbClr val="172033"/>
                </a:solidFill>
                <a:latin typeface="Calibri" pitchFamily="34" charset="0"/>
                <a:ea typeface="Calibri" pitchFamily="34" charset="-122"/>
                <a:cs typeface="Calibri" pitchFamily="34" charset="-120"/>
              </a:rPr>
              <a:t>📈</a:t>
            </a:r>
            <a:endParaRPr lang="en-US" sz="2000" dirty="0"/>
          </a:p>
        </p:txBody>
      </p:sp>
      <p:sp>
        <p:nvSpPr>
          <p:cNvPr id="20" name="Text 18"/>
          <p:cNvSpPr/>
          <p:nvPr/>
        </p:nvSpPr>
        <p:spPr>
          <a:xfrm>
            <a:off x="7653528" y="2980944"/>
            <a:ext cx="1417320" cy="292608"/>
          </a:xfrm>
          <a:prstGeom prst="rect">
            <a:avLst/>
          </a:prstGeom>
          <a:noFill/>
          <a:ln/>
        </p:spPr>
        <p:txBody>
          <a:bodyPr wrap="square" lIns="0" tIns="0" rIns="0" bIns="0" rtlCol="0" anchor="ctr"/>
          <a:lstStyle/>
          <a:p>
            <a:pPr marL="0" indent="0">
              <a:buNone/>
            </a:pPr>
            <a:r>
              <a:rPr lang="en-US" sz="1250" b="1" dirty="0">
                <a:solidFill>
                  <a:srgbClr val="172033"/>
                </a:solidFill>
                <a:latin typeface="Calibri" pitchFamily="34" charset="0"/>
                <a:ea typeface="Calibri" pitchFamily="34" charset="-122"/>
                <a:cs typeface="Calibri" pitchFamily="34" charset="-120"/>
              </a:rPr>
              <a:t>Social Media Trends</a:t>
            </a:r>
            <a:endParaRPr lang="en-US" sz="1250" dirty="0"/>
          </a:p>
        </p:txBody>
      </p:sp>
      <p:sp>
        <p:nvSpPr>
          <p:cNvPr id="21" name="Text 19"/>
          <p:cNvSpPr/>
          <p:nvPr/>
        </p:nvSpPr>
        <p:spPr>
          <a:xfrm>
            <a:off x="7653528" y="3273552"/>
            <a:ext cx="1417320" cy="502920"/>
          </a:xfrm>
          <a:prstGeom prst="rect">
            <a:avLst/>
          </a:prstGeom>
          <a:noFill/>
          <a:ln/>
        </p:spPr>
        <p:txBody>
          <a:bodyPr wrap="square" lIns="0" tIns="0" rIns="0" bIns="0" rtlCol="0" anchor="ctr"/>
          <a:lstStyle/>
          <a:p>
            <a:pPr marL="0" indent="0">
              <a:lnSpc>
                <a:spcPct val="115000"/>
              </a:lnSpc>
              <a:buNone/>
            </a:pPr>
            <a:r>
              <a:rPr lang="en-US" sz="1000" dirty="0">
                <a:solidFill>
                  <a:srgbClr val="697386"/>
                </a:solidFill>
                <a:latin typeface="Calibri" pitchFamily="34" charset="0"/>
                <a:ea typeface="Calibri" pitchFamily="34" charset="-122"/>
                <a:cs typeface="Calibri" pitchFamily="34" charset="-120"/>
              </a:rPr>
              <a:t>High volume, short-lived</a:t>
            </a:r>
            <a:endParaRPr lang="en-US" sz="1000" dirty="0"/>
          </a:p>
        </p:txBody>
      </p:sp>
      <p:sp>
        <p:nvSpPr>
          <p:cNvPr id="22" name="Shape 20"/>
          <p:cNvSpPr/>
          <p:nvPr/>
        </p:nvSpPr>
        <p:spPr>
          <a:xfrm>
            <a:off x="9372600" y="2852928"/>
            <a:ext cx="2286000" cy="1051560"/>
          </a:xfrm>
          <a:prstGeom prst="roundRect">
            <a:avLst>
              <a:gd name="adj" fmla="val 7826"/>
            </a:avLst>
          </a:prstGeom>
          <a:solidFill>
            <a:srgbClr val="F6F7FB"/>
          </a:solidFill>
          <a:ln w="9525">
            <a:solidFill>
              <a:srgbClr val="E5E7EF"/>
            </a:solidFill>
            <a:prstDash val="solid"/>
          </a:ln>
        </p:spPr>
      </p:sp>
      <p:sp>
        <p:nvSpPr>
          <p:cNvPr id="23" name="Shape 21"/>
          <p:cNvSpPr/>
          <p:nvPr/>
        </p:nvSpPr>
        <p:spPr>
          <a:xfrm>
            <a:off x="9537192" y="3017520"/>
            <a:ext cx="457200" cy="457200"/>
          </a:xfrm>
          <a:prstGeom prst="ellipse">
            <a:avLst/>
          </a:prstGeom>
          <a:solidFill>
            <a:srgbClr val="FFFFFF"/>
          </a:solidFill>
          <a:ln/>
        </p:spPr>
      </p:sp>
      <p:sp>
        <p:nvSpPr>
          <p:cNvPr id="24" name="Text 22"/>
          <p:cNvSpPr/>
          <p:nvPr/>
        </p:nvSpPr>
        <p:spPr>
          <a:xfrm>
            <a:off x="9537192" y="3017520"/>
            <a:ext cx="457200" cy="457200"/>
          </a:xfrm>
          <a:prstGeom prst="rect">
            <a:avLst/>
          </a:prstGeom>
          <a:noFill/>
          <a:ln/>
        </p:spPr>
        <p:txBody>
          <a:bodyPr wrap="square" lIns="0" tIns="0" rIns="0" bIns="0" rtlCol="0" anchor="ctr"/>
          <a:lstStyle/>
          <a:p>
            <a:pPr marL="0" indent="0" algn="ctr">
              <a:buNone/>
            </a:pPr>
            <a:r>
              <a:rPr lang="en-US" sz="2000" b="1" dirty="0">
                <a:solidFill>
                  <a:srgbClr val="172033"/>
                </a:solidFill>
                <a:latin typeface="Calibri" pitchFamily="34" charset="0"/>
                <a:ea typeface="Calibri" pitchFamily="34" charset="-122"/>
                <a:cs typeface="Calibri" pitchFamily="34" charset="-120"/>
              </a:rPr>
              <a:t>💬</a:t>
            </a:r>
            <a:endParaRPr lang="en-US" sz="2000" dirty="0"/>
          </a:p>
        </p:txBody>
      </p:sp>
      <p:sp>
        <p:nvSpPr>
          <p:cNvPr id="25" name="Text 23"/>
          <p:cNvSpPr/>
          <p:nvPr/>
        </p:nvSpPr>
        <p:spPr>
          <a:xfrm>
            <a:off x="10122408" y="2980944"/>
            <a:ext cx="1417320" cy="292608"/>
          </a:xfrm>
          <a:prstGeom prst="rect">
            <a:avLst/>
          </a:prstGeom>
          <a:noFill/>
          <a:ln/>
        </p:spPr>
        <p:txBody>
          <a:bodyPr wrap="square" lIns="0" tIns="0" rIns="0" bIns="0" rtlCol="0" anchor="ctr"/>
          <a:lstStyle/>
          <a:p>
            <a:pPr marL="0" indent="0">
              <a:buNone/>
            </a:pPr>
            <a:r>
              <a:rPr lang="en-US" sz="1250" b="1" dirty="0">
                <a:solidFill>
                  <a:srgbClr val="172033"/>
                </a:solidFill>
                <a:latin typeface="Calibri" pitchFamily="34" charset="0"/>
                <a:ea typeface="Calibri" pitchFamily="34" charset="-122"/>
                <a:cs typeface="Calibri" pitchFamily="34" charset="-120"/>
              </a:rPr>
              <a:t>Audience Feedback</a:t>
            </a:r>
            <a:endParaRPr lang="en-US" sz="1250" dirty="0"/>
          </a:p>
        </p:txBody>
      </p:sp>
      <p:sp>
        <p:nvSpPr>
          <p:cNvPr id="26" name="Text 24"/>
          <p:cNvSpPr/>
          <p:nvPr/>
        </p:nvSpPr>
        <p:spPr>
          <a:xfrm>
            <a:off x="10122408" y="3273552"/>
            <a:ext cx="1417320" cy="502920"/>
          </a:xfrm>
          <a:prstGeom prst="rect">
            <a:avLst/>
          </a:prstGeom>
          <a:noFill/>
          <a:ln/>
        </p:spPr>
        <p:txBody>
          <a:bodyPr wrap="square" lIns="0" tIns="0" rIns="0" bIns="0" rtlCol="0" anchor="ctr"/>
          <a:lstStyle/>
          <a:p>
            <a:pPr marL="0" indent="0">
              <a:lnSpc>
                <a:spcPct val="115000"/>
              </a:lnSpc>
              <a:buNone/>
            </a:pPr>
            <a:r>
              <a:rPr lang="en-US" sz="1000" dirty="0">
                <a:solidFill>
                  <a:srgbClr val="697386"/>
                </a:solidFill>
                <a:latin typeface="Calibri" pitchFamily="34" charset="0"/>
                <a:ea typeface="Calibri" pitchFamily="34" charset="-122"/>
                <a:cs typeface="Calibri" pitchFamily="34" charset="-120"/>
              </a:rPr>
              <a:t>Unstructured, easy to miss</a:t>
            </a:r>
            <a:endParaRPr lang="en-US" sz="1000" dirty="0"/>
          </a:p>
        </p:txBody>
      </p:sp>
      <p:sp>
        <p:nvSpPr>
          <p:cNvPr id="27" name="Shape 25"/>
          <p:cNvSpPr/>
          <p:nvPr/>
        </p:nvSpPr>
        <p:spPr>
          <a:xfrm>
            <a:off x="6903720" y="3977640"/>
            <a:ext cx="4754880" cy="1051560"/>
          </a:xfrm>
          <a:prstGeom prst="roundRect">
            <a:avLst>
              <a:gd name="adj" fmla="val 8696"/>
            </a:avLst>
          </a:prstGeom>
          <a:solidFill>
            <a:srgbClr val="1B1440"/>
          </a:solidFill>
          <a:ln/>
        </p:spPr>
      </p:sp>
      <p:sp>
        <p:nvSpPr>
          <p:cNvPr id="28" name="Text 26"/>
          <p:cNvSpPr/>
          <p:nvPr/>
        </p:nvSpPr>
        <p:spPr>
          <a:xfrm>
            <a:off x="7132320" y="3977640"/>
            <a:ext cx="4297680" cy="1051560"/>
          </a:xfrm>
          <a:prstGeom prst="rect">
            <a:avLst/>
          </a:prstGeom>
          <a:noFill/>
          <a:ln/>
        </p:spPr>
        <p:txBody>
          <a:bodyPr wrap="square" lIns="0" tIns="0" rIns="0" bIns="0" rtlCol="0" anchor="ctr"/>
          <a:lstStyle/>
          <a:p>
            <a:pPr marL="0" indent="0">
              <a:lnSpc>
                <a:spcPct val="125000"/>
              </a:lnSpc>
              <a:buNone/>
            </a:pPr>
            <a:r>
              <a:rPr lang="en-US" sz="1300" b="1" dirty="0">
                <a:solidFill>
                  <a:srgbClr val="06B6D4"/>
                </a:solidFill>
                <a:latin typeface="Calibri" pitchFamily="34" charset="0"/>
                <a:ea typeface="Calibri" pitchFamily="34" charset="-122"/>
                <a:cs typeface="Calibri" pitchFamily="34" charset="-120"/>
              </a:rPr>
              <a:t>Result: </a:t>
            </a:r>
            <a:r>
              <a:rPr lang="en-US" sz="1300" dirty="0">
                <a:solidFill>
                  <a:srgbClr val="E7E8FA"/>
                </a:solidFill>
                <a:latin typeface="Calibri" pitchFamily="34" charset="0"/>
                <a:ea typeface="Calibri" pitchFamily="34" charset="-122"/>
                <a:cs typeface="Calibri" pitchFamily="34" charset="-120"/>
              </a:rPr>
              <a:t>writers lose hours hunting for direction instead of writing.</a:t>
            </a:r>
            <a:endParaRPr lang="en-US" sz="1300" dirty="0"/>
          </a:p>
        </p:txBody>
      </p:sp>
      <p:sp>
        <p:nvSpPr>
          <p:cNvPr id="29" name="Shape 27"/>
          <p:cNvSpPr/>
          <p:nvPr/>
        </p:nvSpPr>
        <p:spPr>
          <a:xfrm>
            <a:off x="548640" y="5029200"/>
            <a:ext cx="5943600" cy="1234440"/>
          </a:xfrm>
          <a:prstGeom prst="roundRect">
            <a:avLst>
              <a:gd name="adj" fmla="val 7407"/>
            </a:avLst>
          </a:prstGeom>
          <a:solidFill>
            <a:srgbClr val="F6F7FB"/>
          </a:solidFill>
          <a:ln w="9525">
            <a:solidFill>
              <a:srgbClr val="E5E7EF"/>
            </a:solidFill>
            <a:prstDash val="solid"/>
          </a:ln>
        </p:spPr>
      </p:sp>
      <p:sp>
        <p:nvSpPr>
          <p:cNvPr id="30" name="Text 28"/>
          <p:cNvSpPr/>
          <p:nvPr/>
        </p:nvSpPr>
        <p:spPr>
          <a:xfrm>
            <a:off x="777240" y="5193792"/>
            <a:ext cx="1737360" cy="914400"/>
          </a:xfrm>
          <a:prstGeom prst="rect">
            <a:avLst/>
          </a:prstGeom>
          <a:noFill/>
          <a:ln/>
        </p:spPr>
        <p:txBody>
          <a:bodyPr wrap="square" lIns="0" tIns="0" rIns="0" bIns="0" rtlCol="0" anchor="ctr"/>
          <a:lstStyle/>
          <a:p>
            <a:pPr marL="0" indent="0">
              <a:buNone/>
            </a:pPr>
            <a:r>
              <a:rPr lang="en-US" sz="3400" b="1" dirty="0">
                <a:solidFill>
                  <a:srgbClr val="4B3BE0"/>
                </a:solidFill>
                <a:latin typeface="Cambria" pitchFamily="34" charset="0"/>
                <a:ea typeface="Cambria" pitchFamily="34" charset="-122"/>
                <a:cs typeface="Cambria" pitchFamily="34" charset="-120"/>
              </a:rPr>
              <a:t>4 → 1</a:t>
            </a:r>
            <a:endParaRPr lang="en-US" sz="3400" dirty="0"/>
          </a:p>
        </p:txBody>
      </p:sp>
      <p:sp>
        <p:nvSpPr>
          <p:cNvPr id="31" name="Shape 29"/>
          <p:cNvSpPr/>
          <p:nvPr/>
        </p:nvSpPr>
        <p:spPr>
          <a:xfrm>
            <a:off x="2514600" y="5230368"/>
            <a:ext cx="0" cy="822960"/>
          </a:xfrm>
          <a:prstGeom prst="line">
            <a:avLst/>
          </a:prstGeom>
          <a:noFill/>
          <a:ln w="12700">
            <a:solidFill>
              <a:srgbClr val="E5E7EF"/>
            </a:solidFill>
            <a:prstDash val="solid"/>
          </a:ln>
        </p:spPr>
      </p:sp>
      <p:sp>
        <p:nvSpPr>
          <p:cNvPr id="32" name="Text 30"/>
          <p:cNvSpPr/>
          <p:nvPr/>
        </p:nvSpPr>
        <p:spPr>
          <a:xfrm>
            <a:off x="2743200" y="5193792"/>
            <a:ext cx="3566160" cy="914400"/>
          </a:xfrm>
          <a:prstGeom prst="rect">
            <a:avLst/>
          </a:prstGeom>
          <a:noFill/>
          <a:ln/>
        </p:spPr>
        <p:txBody>
          <a:bodyPr wrap="square" lIns="0" tIns="0" rIns="0" bIns="0" rtlCol="0" anchor="ctr"/>
          <a:lstStyle/>
          <a:p>
            <a:pPr marL="0" indent="0">
              <a:lnSpc>
                <a:spcPct val="130000"/>
              </a:lnSpc>
              <a:buNone/>
            </a:pPr>
            <a:r>
              <a:rPr lang="en-US" sz="1100" dirty="0">
                <a:solidFill>
                  <a:srgbClr val="697386"/>
                </a:solidFill>
                <a:latin typeface="Calibri" pitchFamily="34" charset="0"/>
                <a:ea typeface="Calibri" pitchFamily="34" charset="-122"/>
                <a:cs typeface="Calibri" pitchFamily="34" charset="-120"/>
              </a:rPr>
              <a:t>Scattered source types — news, research, social, feedback — need to become one unified signal a blogger can act on.</a:t>
            </a:r>
            <a:endParaRPr lang="en-US" sz="1100" dirty="0"/>
          </a:p>
        </p:txBody>
      </p:sp>
      <p:sp>
        <p:nvSpPr>
          <p:cNvPr id="33" name="Text 31"/>
          <p:cNvSpPr/>
          <p:nvPr/>
        </p:nvSpPr>
        <p:spPr>
          <a:xfrm>
            <a:off x="457200" y="6473952"/>
            <a:ext cx="3657600" cy="274320"/>
          </a:xfrm>
          <a:prstGeom prst="rect">
            <a:avLst/>
          </a:prstGeom>
          <a:noFill/>
          <a:ln/>
        </p:spPr>
        <p:txBody>
          <a:bodyPr wrap="square" lIns="0" tIns="0" rIns="0" bIns="0" rtlCol="0" anchor="ctr"/>
          <a:lstStyle/>
          <a:p>
            <a:pPr marL="0" indent="0">
              <a:buNone/>
            </a:pPr>
            <a:r>
              <a:rPr lang="en-US" sz="900" dirty="0">
                <a:solidFill>
                  <a:srgbClr val="697386"/>
                </a:solidFill>
                <a:latin typeface="Calibri" pitchFamily="34" charset="0"/>
                <a:ea typeface="Calibri" pitchFamily="34" charset="-122"/>
                <a:cs typeface="Calibri" pitchFamily="34" charset="-120"/>
              </a:rPr>
              <a:t>ContentPulse AI</a:t>
            </a:r>
            <a:endParaRPr lang="en-US" sz="900" dirty="0"/>
          </a:p>
        </p:txBody>
      </p:sp>
      <p:sp>
        <p:nvSpPr>
          <p:cNvPr id="34" name="Text 32"/>
          <p:cNvSpPr/>
          <p:nvPr/>
        </p:nvSpPr>
        <p:spPr>
          <a:xfrm>
            <a:off x="8074152" y="6473952"/>
            <a:ext cx="3657600" cy="274320"/>
          </a:xfrm>
          <a:prstGeom prst="rect">
            <a:avLst/>
          </a:prstGeom>
          <a:noFill/>
          <a:ln/>
        </p:spPr>
        <p:txBody>
          <a:bodyPr wrap="square" lIns="0" tIns="0" rIns="0" bIns="0" rtlCol="0" anchor="ctr"/>
          <a:lstStyle/>
          <a:p>
            <a:pPr marL="0" indent="0" algn="r">
              <a:buNone/>
            </a:pPr>
            <a:r>
              <a:rPr lang="en-US" sz="900" dirty="0">
                <a:solidFill>
                  <a:srgbClr val="697386"/>
                </a:solidFill>
                <a:latin typeface="Calibri" pitchFamily="34" charset="0"/>
                <a:ea typeface="Calibri" pitchFamily="34" charset="-122"/>
                <a:cs typeface="Calibri" pitchFamily="34" charset="-120"/>
              </a:rPr>
              <a:t>01  ·  The Challenge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4B3BE0"/>
                </a:solidFill>
                <a:latin typeface="Calibri" pitchFamily="34" charset="0"/>
                <a:ea typeface="Calibri" pitchFamily="34" charset="-122"/>
                <a:cs typeface="Calibri" pitchFamily="34" charset="-120"/>
              </a:rPr>
              <a:t>THE OBJECTIVE</a:t>
            </a:r>
            <a:endParaRPr lang="en-US" sz="1200" dirty="0"/>
          </a:p>
        </p:txBody>
      </p:sp>
      <p:sp>
        <p:nvSpPr>
          <p:cNvPr id="3" name="Text 1"/>
          <p:cNvSpPr/>
          <p:nvPr/>
        </p:nvSpPr>
        <p:spPr>
          <a:xfrm>
            <a:off x="548640" y="640080"/>
            <a:ext cx="10515600" cy="685800"/>
          </a:xfrm>
          <a:prstGeom prst="rect">
            <a:avLst/>
          </a:prstGeom>
          <a:noFill/>
          <a:ln/>
        </p:spPr>
        <p:txBody>
          <a:bodyPr wrap="square" lIns="0" tIns="0" rIns="0" bIns="0" rtlCol="0" anchor="ctr"/>
          <a:lstStyle/>
          <a:p>
            <a:pPr marL="0" indent="0">
              <a:buNone/>
            </a:pPr>
            <a:r>
              <a:rPr lang="en-US" sz="3200" b="1" dirty="0">
                <a:solidFill>
                  <a:srgbClr val="172033"/>
                </a:solidFill>
                <a:latin typeface="Cambria" pitchFamily="34" charset="0"/>
                <a:ea typeface="Cambria" pitchFamily="34" charset="-122"/>
                <a:cs typeface="Cambria" pitchFamily="34" charset="-120"/>
              </a:rPr>
              <a:t>Build an Agentic AI Writing Assistant</a:t>
            </a:r>
            <a:endParaRPr lang="en-US" sz="3200" dirty="0"/>
          </a:p>
        </p:txBody>
      </p:sp>
      <p:sp>
        <p:nvSpPr>
          <p:cNvPr id="4" name="Text 2"/>
          <p:cNvSpPr/>
          <p:nvPr/>
        </p:nvSpPr>
        <p:spPr>
          <a:xfrm>
            <a:off x="548640" y="1417320"/>
            <a:ext cx="9144000" cy="320040"/>
          </a:xfrm>
          <a:prstGeom prst="rect">
            <a:avLst/>
          </a:prstGeom>
          <a:noFill/>
          <a:ln/>
        </p:spPr>
        <p:txBody>
          <a:bodyPr wrap="square" lIns="0" tIns="0" rIns="0" bIns="0" rtlCol="0" anchor="ctr"/>
          <a:lstStyle/>
          <a:p>
            <a:pPr marL="0" indent="0">
              <a:buNone/>
            </a:pPr>
            <a:r>
              <a:rPr lang="en-US" sz="1350" dirty="0">
                <a:solidFill>
                  <a:srgbClr val="697386"/>
                </a:solidFill>
                <a:latin typeface="Calibri" pitchFamily="34" charset="0"/>
                <a:ea typeface="Calibri" pitchFamily="34" charset="-122"/>
                <a:cs typeface="Calibri" pitchFamily="34" charset="-120"/>
              </a:rPr>
              <a:t>An intelligent, agentic system designed around four core capabilities:</a:t>
            </a:r>
            <a:endParaRPr lang="en-US" sz="1350" dirty="0"/>
          </a:p>
        </p:txBody>
      </p:sp>
      <p:sp>
        <p:nvSpPr>
          <p:cNvPr id="5" name="Shape 3"/>
          <p:cNvSpPr/>
          <p:nvPr/>
        </p:nvSpPr>
        <p:spPr>
          <a:xfrm>
            <a:off x="548640" y="1965960"/>
            <a:ext cx="2542032" cy="3977640"/>
          </a:xfrm>
          <a:prstGeom prst="roundRect">
            <a:avLst>
              <a:gd name="adj" fmla="val 3597"/>
            </a:avLst>
          </a:prstGeom>
          <a:solidFill>
            <a:srgbClr val="F6F7FB"/>
          </a:solidFill>
          <a:ln w="9525">
            <a:solidFill>
              <a:srgbClr val="E5E7EF"/>
            </a:solidFill>
            <a:prstDash val="solid"/>
          </a:ln>
        </p:spPr>
      </p:sp>
      <p:sp>
        <p:nvSpPr>
          <p:cNvPr id="6" name="Shape 4"/>
          <p:cNvSpPr/>
          <p:nvPr/>
        </p:nvSpPr>
        <p:spPr>
          <a:xfrm>
            <a:off x="548640" y="1965960"/>
            <a:ext cx="2542032" cy="64008"/>
          </a:xfrm>
          <a:prstGeom prst="roundRect">
            <a:avLst/>
          </a:prstGeom>
          <a:solidFill>
            <a:srgbClr val="4B3BE0"/>
          </a:solidFill>
          <a:ln/>
        </p:spPr>
      </p:sp>
      <p:sp>
        <p:nvSpPr>
          <p:cNvPr id="7" name="Shape 5"/>
          <p:cNvSpPr/>
          <p:nvPr/>
        </p:nvSpPr>
        <p:spPr>
          <a:xfrm>
            <a:off x="768096" y="2240280"/>
            <a:ext cx="566928" cy="566928"/>
          </a:xfrm>
          <a:prstGeom prst="ellipse">
            <a:avLst/>
          </a:prstGeom>
          <a:solidFill>
            <a:srgbClr val="FFFFFF"/>
          </a:solidFill>
          <a:ln/>
        </p:spPr>
      </p:sp>
      <p:sp>
        <p:nvSpPr>
          <p:cNvPr id="8" name="Text 6"/>
          <p:cNvSpPr/>
          <p:nvPr/>
        </p:nvSpPr>
        <p:spPr>
          <a:xfrm>
            <a:off x="768096" y="2240280"/>
            <a:ext cx="566928" cy="566928"/>
          </a:xfrm>
          <a:prstGeom prst="rect">
            <a:avLst/>
          </a:prstGeom>
          <a:noFill/>
          <a:ln/>
        </p:spPr>
        <p:txBody>
          <a:bodyPr wrap="square" lIns="0" tIns="0" rIns="0" bIns="0" rtlCol="0" anchor="ctr"/>
          <a:lstStyle/>
          <a:p>
            <a:pPr marL="0" indent="0" algn="ctr">
              <a:buNone/>
            </a:pPr>
            <a:r>
              <a:rPr lang="en-US" sz="2400" b="1" dirty="0">
                <a:solidFill>
                  <a:srgbClr val="172033"/>
                </a:solidFill>
                <a:latin typeface="Calibri" pitchFamily="34" charset="0"/>
                <a:ea typeface="Calibri" pitchFamily="34" charset="-122"/>
                <a:cs typeface="Calibri" pitchFamily="34" charset="-120"/>
              </a:rPr>
              <a:t>🔗</a:t>
            </a:r>
            <a:endParaRPr lang="en-US" sz="2400" dirty="0"/>
          </a:p>
        </p:txBody>
      </p:sp>
      <p:sp>
        <p:nvSpPr>
          <p:cNvPr id="9" name="Text 7"/>
          <p:cNvSpPr/>
          <p:nvPr/>
        </p:nvSpPr>
        <p:spPr>
          <a:xfrm>
            <a:off x="2404872" y="2221992"/>
            <a:ext cx="548640" cy="365760"/>
          </a:xfrm>
          <a:prstGeom prst="rect">
            <a:avLst/>
          </a:prstGeom>
          <a:noFill/>
          <a:ln/>
        </p:spPr>
        <p:txBody>
          <a:bodyPr wrap="square" lIns="0" tIns="0" rIns="0" bIns="0" rtlCol="0" anchor="ctr"/>
          <a:lstStyle/>
          <a:p>
            <a:pPr marL="0" indent="0" algn="r">
              <a:buNone/>
            </a:pPr>
            <a:r>
              <a:rPr lang="en-US" sz="1500" b="1" dirty="0">
                <a:solidFill>
                  <a:srgbClr val="E5E7EF"/>
                </a:solidFill>
                <a:latin typeface="Cambria" pitchFamily="34" charset="0"/>
                <a:ea typeface="Cambria" pitchFamily="34" charset="-122"/>
                <a:cs typeface="Cambria" pitchFamily="34" charset="-120"/>
              </a:rPr>
              <a:t>01</a:t>
            </a:r>
            <a:endParaRPr lang="en-US" sz="1500" dirty="0"/>
          </a:p>
        </p:txBody>
      </p:sp>
      <p:sp>
        <p:nvSpPr>
          <p:cNvPr id="10" name="Text 8"/>
          <p:cNvSpPr/>
          <p:nvPr/>
        </p:nvSpPr>
        <p:spPr>
          <a:xfrm>
            <a:off x="768096" y="3017520"/>
            <a:ext cx="2103120" cy="658368"/>
          </a:xfrm>
          <a:prstGeom prst="rect">
            <a:avLst/>
          </a:prstGeom>
          <a:noFill/>
          <a:ln/>
        </p:spPr>
        <p:txBody>
          <a:bodyPr wrap="square" lIns="0" tIns="0" rIns="0" bIns="0" rtlCol="0" anchor="ctr"/>
          <a:lstStyle/>
          <a:p>
            <a:pPr marL="0" indent="0">
              <a:lnSpc>
                <a:spcPct val="110000"/>
              </a:lnSpc>
              <a:buNone/>
            </a:pPr>
            <a:r>
              <a:rPr lang="en-US" sz="1450" b="1" dirty="0">
                <a:solidFill>
                  <a:srgbClr val="172033"/>
                </a:solidFill>
                <a:latin typeface="Calibri" pitchFamily="34" charset="0"/>
                <a:ea typeface="Calibri" pitchFamily="34" charset="-122"/>
                <a:cs typeface="Calibri" pitchFamily="34" charset="-120"/>
              </a:rPr>
              <a:t>Fuse Disparate Sources</a:t>
            </a:r>
            <a:endParaRPr lang="en-US" sz="1450" dirty="0"/>
          </a:p>
        </p:txBody>
      </p:sp>
      <p:sp>
        <p:nvSpPr>
          <p:cNvPr id="11" name="Text 9"/>
          <p:cNvSpPr/>
          <p:nvPr/>
        </p:nvSpPr>
        <p:spPr>
          <a:xfrm>
            <a:off x="768096" y="3721608"/>
            <a:ext cx="2103120" cy="2103120"/>
          </a:xfrm>
          <a:prstGeom prst="rect">
            <a:avLst/>
          </a:prstGeom>
          <a:noFill/>
          <a:ln/>
        </p:spPr>
        <p:txBody>
          <a:bodyPr wrap="square" lIns="0" tIns="0" rIns="0" bIns="0" rtlCol="0" anchor="ctr"/>
          <a:lstStyle/>
          <a:p>
            <a:pPr marL="0" indent="0">
              <a:lnSpc>
                <a:spcPct val="130000"/>
              </a:lnSpc>
              <a:buNone/>
            </a:pPr>
            <a:r>
              <a:rPr lang="en-US" sz="1050" dirty="0">
                <a:solidFill>
                  <a:srgbClr val="697386"/>
                </a:solidFill>
                <a:latin typeface="Calibri" pitchFamily="34" charset="0"/>
                <a:ea typeface="Calibri" pitchFamily="34" charset="-122"/>
                <a:cs typeface="Calibri" pitchFamily="34" charset="-120"/>
              </a:rPr>
              <a:t>Collect real-time data from news, research, social media and comments — synthesized into clear summaries with actionable blog topic suggestions.</a:t>
            </a:r>
            <a:endParaRPr lang="en-US" sz="1050" dirty="0"/>
          </a:p>
        </p:txBody>
      </p:sp>
      <p:sp>
        <p:nvSpPr>
          <p:cNvPr id="12" name="Shape 10"/>
          <p:cNvSpPr/>
          <p:nvPr/>
        </p:nvSpPr>
        <p:spPr>
          <a:xfrm>
            <a:off x="3310128" y="1965960"/>
            <a:ext cx="2542032" cy="3977640"/>
          </a:xfrm>
          <a:prstGeom prst="roundRect">
            <a:avLst>
              <a:gd name="adj" fmla="val 3597"/>
            </a:avLst>
          </a:prstGeom>
          <a:solidFill>
            <a:srgbClr val="F6F7FB"/>
          </a:solidFill>
          <a:ln w="9525">
            <a:solidFill>
              <a:srgbClr val="E5E7EF"/>
            </a:solidFill>
            <a:prstDash val="solid"/>
          </a:ln>
        </p:spPr>
      </p:sp>
      <p:sp>
        <p:nvSpPr>
          <p:cNvPr id="13" name="Shape 11"/>
          <p:cNvSpPr/>
          <p:nvPr/>
        </p:nvSpPr>
        <p:spPr>
          <a:xfrm>
            <a:off x="3310128" y="1965960"/>
            <a:ext cx="2542032" cy="64008"/>
          </a:xfrm>
          <a:prstGeom prst="roundRect">
            <a:avLst/>
          </a:prstGeom>
          <a:solidFill>
            <a:srgbClr val="06B6D4"/>
          </a:solidFill>
          <a:ln/>
        </p:spPr>
      </p:sp>
      <p:sp>
        <p:nvSpPr>
          <p:cNvPr id="14" name="Shape 12"/>
          <p:cNvSpPr/>
          <p:nvPr/>
        </p:nvSpPr>
        <p:spPr>
          <a:xfrm>
            <a:off x="3529584" y="2240280"/>
            <a:ext cx="566928" cy="566928"/>
          </a:xfrm>
          <a:prstGeom prst="ellipse">
            <a:avLst/>
          </a:prstGeom>
          <a:solidFill>
            <a:srgbClr val="FFFFFF"/>
          </a:solidFill>
          <a:ln/>
        </p:spPr>
      </p:sp>
      <p:sp>
        <p:nvSpPr>
          <p:cNvPr id="15" name="Text 13"/>
          <p:cNvSpPr/>
          <p:nvPr/>
        </p:nvSpPr>
        <p:spPr>
          <a:xfrm>
            <a:off x="3529584" y="2240280"/>
            <a:ext cx="566928" cy="566928"/>
          </a:xfrm>
          <a:prstGeom prst="rect">
            <a:avLst/>
          </a:prstGeom>
          <a:noFill/>
          <a:ln/>
        </p:spPr>
        <p:txBody>
          <a:bodyPr wrap="square" lIns="0" tIns="0" rIns="0" bIns="0" rtlCol="0" anchor="ctr"/>
          <a:lstStyle/>
          <a:p>
            <a:pPr marL="0" indent="0" algn="ctr">
              <a:buNone/>
            </a:pPr>
            <a:r>
              <a:rPr lang="en-US" sz="2400" b="1" dirty="0">
                <a:solidFill>
                  <a:srgbClr val="172033"/>
                </a:solidFill>
                <a:latin typeface="Calibri" pitchFamily="34" charset="0"/>
                <a:ea typeface="Calibri" pitchFamily="34" charset="-122"/>
                <a:cs typeface="Calibri" pitchFamily="34" charset="-120"/>
              </a:rPr>
              <a:t>🎛️</a:t>
            </a:r>
            <a:endParaRPr lang="en-US" sz="2400" dirty="0"/>
          </a:p>
        </p:txBody>
      </p:sp>
      <p:sp>
        <p:nvSpPr>
          <p:cNvPr id="16" name="Text 14"/>
          <p:cNvSpPr/>
          <p:nvPr/>
        </p:nvSpPr>
        <p:spPr>
          <a:xfrm>
            <a:off x="5166360" y="2221992"/>
            <a:ext cx="548640" cy="365760"/>
          </a:xfrm>
          <a:prstGeom prst="rect">
            <a:avLst/>
          </a:prstGeom>
          <a:noFill/>
          <a:ln/>
        </p:spPr>
        <p:txBody>
          <a:bodyPr wrap="square" lIns="0" tIns="0" rIns="0" bIns="0" rtlCol="0" anchor="ctr"/>
          <a:lstStyle/>
          <a:p>
            <a:pPr marL="0" indent="0" algn="r">
              <a:buNone/>
            </a:pPr>
            <a:r>
              <a:rPr lang="en-US" sz="1500" b="1" dirty="0">
                <a:solidFill>
                  <a:srgbClr val="E5E7EF"/>
                </a:solidFill>
                <a:latin typeface="Cambria" pitchFamily="34" charset="0"/>
                <a:ea typeface="Cambria" pitchFamily="34" charset="-122"/>
                <a:cs typeface="Cambria" pitchFamily="34" charset="-120"/>
              </a:rPr>
              <a:t>02</a:t>
            </a:r>
            <a:endParaRPr lang="en-US" sz="1500" dirty="0"/>
          </a:p>
        </p:txBody>
      </p:sp>
      <p:sp>
        <p:nvSpPr>
          <p:cNvPr id="17" name="Text 15"/>
          <p:cNvSpPr/>
          <p:nvPr/>
        </p:nvSpPr>
        <p:spPr>
          <a:xfrm>
            <a:off x="3529584" y="3017520"/>
            <a:ext cx="2103120" cy="658368"/>
          </a:xfrm>
          <a:prstGeom prst="rect">
            <a:avLst/>
          </a:prstGeom>
          <a:noFill/>
          <a:ln/>
        </p:spPr>
        <p:txBody>
          <a:bodyPr wrap="square" lIns="0" tIns="0" rIns="0" bIns="0" rtlCol="0" anchor="ctr"/>
          <a:lstStyle/>
          <a:p>
            <a:pPr marL="0" indent="0">
              <a:lnSpc>
                <a:spcPct val="110000"/>
              </a:lnSpc>
              <a:buNone/>
            </a:pPr>
            <a:r>
              <a:rPr lang="en-US" sz="1450" b="1" dirty="0">
                <a:solidFill>
                  <a:srgbClr val="172033"/>
                </a:solidFill>
                <a:latin typeface="Calibri" pitchFamily="34" charset="0"/>
                <a:ea typeface="Calibri" pitchFamily="34" charset="-122"/>
                <a:cs typeface="Calibri" pitchFamily="34" charset="-120"/>
              </a:rPr>
              <a:t>Enable Multimodal Curation</a:t>
            </a:r>
            <a:endParaRPr lang="en-US" sz="1450" dirty="0"/>
          </a:p>
        </p:txBody>
      </p:sp>
      <p:sp>
        <p:nvSpPr>
          <p:cNvPr id="18" name="Text 16"/>
          <p:cNvSpPr/>
          <p:nvPr/>
        </p:nvSpPr>
        <p:spPr>
          <a:xfrm>
            <a:off x="3529584" y="3721608"/>
            <a:ext cx="2103120" cy="2103120"/>
          </a:xfrm>
          <a:prstGeom prst="rect">
            <a:avLst/>
          </a:prstGeom>
          <a:noFill/>
          <a:ln/>
        </p:spPr>
        <p:txBody>
          <a:bodyPr wrap="square" lIns="0" tIns="0" rIns="0" bIns="0" rtlCol="0" anchor="ctr"/>
          <a:lstStyle/>
          <a:p>
            <a:pPr marL="0" indent="0">
              <a:lnSpc>
                <a:spcPct val="130000"/>
              </a:lnSpc>
              <a:buNone/>
            </a:pPr>
            <a:r>
              <a:rPr lang="en-US" sz="1050" dirty="0">
                <a:solidFill>
                  <a:srgbClr val="697386"/>
                </a:solidFill>
                <a:latin typeface="Calibri" pitchFamily="34" charset="0"/>
                <a:ea typeface="Calibri" pitchFamily="34" charset="-122"/>
                <a:cs typeface="Calibri" pitchFamily="34" charset="-120"/>
              </a:rPr>
              <a:t>Accept text, image and voice-note inputs; refine ideas and recommend blog structure, tone and supporting visuals.</a:t>
            </a:r>
            <a:endParaRPr lang="en-US" sz="1050" dirty="0"/>
          </a:p>
        </p:txBody>
      </p:sp>
      <p:sp>
        <p:nvSpPr>
          <p:cNvPr id="19" name="Shape 17"/>
          <p:cNvSpPr/>
          <p:nvPr/>
        </p:nvSpPr>
        <p:spPr>
          <a:xfrm>
            <a:off x="6071616" y="1965960"/>
            <a:ext cx="2542032" cy="3977640"/>
          </a:xfrm>
          <a:prstGeom prst="roundRect">
            <a:avLst>
              <a:gd name="adj" fmla="val 3597"/>
            </a:avLst>
          </a:prstGeom>
          <a:solidFill>
            <a:srgbClr val="F6F7FB"/>
          </a:solidFill>
          <a:ln w="9525">
            <a:solidFill>
              <a:srgbClr val="E5E7EF"/>
            </a:solidFill>
            <a:prstDash val="solid"/>
          </a:ln>
        </p:spPr>
      </p:sp>
      <p:sp>
        <p:nvSpPr>
          <p:cNvPr id="20" name="Shape 18"/>
          <p:cNvSpPr/>
          <p:nvPr/>
        </p:nvSpPr>
        <p:spPr>
          <a:xfrm>
            <a:off x="6071616" y="1965960"/>
            <a:ext cx="2542032" cy="64008"/>
          </a:xfrm>
          <a:prstGeom prst="roundRect">
            <a:avLst/>
          </a:prstGeom>
          <a:solidFill>
            <a:srgbClr val="4B3BE0"/>
          </a:solidFill>
          <a:ln/>
        </p:spPr>
      </p:sp>
      <p:sp>
        <p:nvSpPr>
          <p:cNvPr id="21" name="Shape 19"/>
          <p:cNvSpPr/>
          <p:nvPr/>
        </p:nvSpPr>
        <p:spPr>
          <a:xfrm>
            <a:off x="6291072" y="2240280"/>
            <a:ext cx="566928" cy="566928"/>
          </a:xfrm>
          <a:prstGeom prst="ellipse">
            <a:avLst/>
          </a:prstGeom>
          <a:solidFill>
            <a:srgbClr val="FFFFFF"/>
          </a:solidFill>
          <a:ln/>
        </p:spPr>
      </p:sp>
      <p:sp>
        <p:nvSpPr>
          <p:cNvPr id="22" name="Text 20"/>
          <p:cNvSpPr/>
          <p:nvPr/>
        </p:nvSpPr>
        <p:spPr>
          <a:xfrm>
            <a:off x="6291072" y="2240280"/>
            <a:ext cx="566928" cy="566928"/>
          </a:xfrm>
          <a:prstGeom prst="rect">
            <a:avLst/>
          </a:prstGeom>
          <a:noFill/>
          <a:ln/>
        </p:spPr>
        <p:txBody>
          <a:bodyPr wrap="square" lIns="0" tIns="0" rIns="0" bIns="0" rtlCol="0" anchor="ctr"/>
          <a:lstStyle/>
          <a:p>
            <a:pPr marL="0" indent="0" algn="ctr">
              <a:buNone/>
            </a:pPr>
            <a:r>
              <a:rPr lang="en-US" sz="2400" b="1" dirty="0">
                <a:solidFill>
                  <a:srgbClr val="172033"/>
                </a:solidFill>
                <a:latin typeface="Calibri" pitchFamily="34" charset="0"/>
                <a:ea typeface="Calibri" pitchFamily="34" charset="-122"/>
                <a:cs typeface="Calibri" pitchFamily="34" charset="-120"/>
              </a:rPr>
              <a:t>🔮</a:t>
            </a:r>
            <a:endParaRPr lang="en-US" sz="2400" dirty="0"/>
          </a:p>
        </p:txBody>
      </p:sp>
      <p:sp>
        <p:nvSpPr>
          <p:cNvPr id="23" name="Text 21"/>
          <p:cNvSpPr/>
          <p:nvPr/>
        </p:nvSpPr>
        <p:spPr>
          <a:xfrm>
            <a:off x="7927848" y="2221992"/>
            <a:ext cx="548640" cy="365760"/>
          </a:xfrm>
          <a:prstGeom prst="rect">
            <a:avLst/>
          </a:prstGeom>
          <a:noFill/>
          <a:ln/>
        </p:spPr>
        <p:txBody>
          <a:bodyPr wrap="square" lIns="0" tIns="0" rIns="0" bIns="0" rtlCol="0" anchor="ctr"/>
          <a:lstStyle/>
          <a:p>
            <a:pPr marL="0" indent="0" algn="r">
              <a:buNone/>
            </a:pPr>
            <a:r>
              <a:rPr lang="en-US" sz="1500" b="1" dirty="0">
                <a:solidFill>
                  <a:srgbClr val="E5E7EF"/>
                </a:solidFill>
                <a:latin typeface="Cambria" pitchFamily="34" charset="0"/>
                <a:ea typeface="Cambria" pitchFamily="34" charset="-122"/>
                <a:cs typeface="Cambria" pitchFamily="34" charset="-120"/>
              </a:rPr>
              <a:t>03</a:t>
            </a:r>
            <a:endParaRPr lang="en-US" sz="1500" dirty="0"/>
          </a:p>
        </p:txBody>
      </p:sp>
      <p:sp>
        <p:nvSpPr>
          <p:cNvPr id="24" name="Text 22"/>
          <p:cNvSpPr/>
          <p:nvPr/>
        </p:nvSpPr>
        <p:spPr>
          <a:xfrm>
            <a:off x="6291072" y="3017520"/>
            <a:ext cx="2103120" cy="658368"/>
          </a:xfrm>
          <a:prstGeom prst="rect">
            <a:avLst/>
          </a:prstGeom>
          <a:noFill/>
          <a:ln/>
        </p:spPr>
        <p:txBody>
          <a:bodyPr wrap="square" lIns="0" tIns="0" rIns="0" bIns="0" rtlCol="0" anchor="ctr"/>
          <a:lstStyle/>
          <a:p>
            <a:pPr marL="0" indent="0">
              <a:lnSpc>
                <a:spcPct val="110000"/>
              </a:lnSpc>
              <a:buNone/>
            </a:pPr>
            <a:r>
              <a:rPr lang="en-US" sz="1450" b="1" dirty="0">
                <a:solidFill>
                  <a:srgbClr val="172033"/>
                </a:solidFill>
                <a:latin typeface="Calibri" pitchFamily="34" charset="0"/>
                <a:ea typeface="Calibri" pitchFamily="34" charset="-122"/>
                <a:cs typeface="Calibri" pitchFamily="34" charset="-120"/>
              </a:rPr>
              <a:t>Predictive &amp; Agentic Layer</a:t>
            </a:r>
            <a:endParaRPr lang="en-US" sz="1450" dirty="0"/>
          </a:p>
        </p:txBody>
      </p:sp>
      <p:sp>
        <p:nvSpPr>
          <p:cNvPr id="25" name="Text 23"/>
          <p:cNvSpPr/>
          <p:nvPr/>
        </p:nvSpPr>
        <p:spPr>
          <a:xfrm>
            <a:off x="6291072" y="3721608"/>
            <a:ext cx="2103120" cy="2103120"/>
          </a:xfrm>
          <a:prstGeom prst="rect">
            <a:avLst/>
          </a:prstGeom>
          <a:noFill/>
          <a:ln/>
        </p:spPr>
        <p:txBody>
          <a:bodyPr wrap="square" lIns="0" tIns="0" rIns="0" bIns="0" rtlCol="0" anchor="ctr"/>
          <a:lstStyle/>
          <a:p>
            <a:pPr marL="0" indent="0">
              <a:lnSpc>
                <a:spcPct val="130000"/>
              </a:lnSpc>
              <a:buNone/>
            </a:pPr>
            <a:r>
              <a:rPr lang="en-US" sz="1050" dirty="0">
                <a:solidFill>
                  <a:srgbClr val="697386"/>
                </a:solidFill>
                <a:latin typeface="Calibri" pitchFamily="34" charset="0"/>
                <a:ea typeface="Calibri" pitchFamily="34" charset="-122"/>
                <a:cs typeface="Calibri" pitchFamily="34" charset="-120"/>
              </a:rPr>
              <a:t>Analyze engagement patterns to predict trending topics and suggest optimal publishing time, hashtags and angles.</a:t>
            </a:r>
            <a:endParaRPr lang="en-US" sz="1050" dirty="0"/>
          </a:p>
        </p:txBody>
      </p:sp>
      <p:sp>
        <p:nvSpPr>
          <p:cNvPr id="26" name="Shape 24"/>
          <p:cNvSpPr/>
          <p:nvPr/>
        </p:nvSpPr>
        <p:spPr>
          <a:xfrm>
            <a:off x="8833104" y="1965960"/>
            <a:ext cx="2542032" cy="3977640"/>
          </a:xfrm>
          <a:prstGeom prst="roundRect">
            <a:avLst>
              <a:gd name="adj" fmla="val 3597"/>
            </a:avLst>
          </a:prstGeom>
          <a:solidFill>
            <a:srgbClr val="F6F7FB"/>
          </a:solidFill>
          <a:ln w="9525">
            <a:solidFill>
              <a:srgbClr val="E5E7EF"/>
            </a:solidFill>
            <a:prstDash val="solid"/>
          </a:ln>
        </p:spPr>
      </p:sp>
      <p:sp>
        <p:nvSpPr>
          <p:cNvPr id="27" name="Shape 25"/>
          <p:cNvSpPr/>
          <p:nvPr/>
        </p:nvSpPr>
        <p:spPr>
          <a:xfrm>
            <a:off x="8833104" y="1965960"/>
            <a:ext cx="2542032" cy="64008"/>
          </a:xfrm>
          <a:prstGeom prst="roundRect">
            <a:avLst/>
          </a:prstGeom>
          <a:solidFill>
            <a:srgbClr val="06B6D4"/>
          </a:solidFill>
          <a:ln/>
        </p:spPr>
      </p:sp>
      <p:sp>
        <p:nvSpPr>
          <p:cNvPr id="28" name="Shape 26"/>
          <p:cNvSpPr/>
          <p:nvPr/>
        </p:nvSpPr>
        <p:spPr>
          <a:xfrm>
            <a:off x="9052560" y="2240280"/>
            <a:ext cx="566928" cy="566928"/>
          </a:xfrm>
          <a:prstGeom prst="ellipse">
            <a:avLst/>
          </a:prstGeom>
          <a:solidFill>
            <a:srgbClr val="FFFFFF"/>
          </a:solidFill>
          <a:ln/>
        </p:spPr>
      </p:sp>
      <p:sp>
        <p:nvSpPr>
          <p:cNvPr id="29" name="Text 27"/>
          <p:cNvSpPr/>
          <p:nvPr/>
        </p:nvSpPr>
        <p:spPr>
          <a:xfrm>
            <a:off x="9052560" y="2240280"/>
            <a:ext cx="566928" cy="566928"/>
          </a:xfrm>
          <a:prstGeom prst="rect">
            <a:avLst/>
          </a:prstGeom>
          <a:noFill/>
          <a:ln/>
        </p:spPr>
        <p:txBody>
          <a:bodyPr wrap="square" lIns="0" tIns="0" rIns="0" bIns="0" rtlCol="0" anchor="ctr"/>
          <a:lstStyle/>
          <a:p>
            <a:pPr marL="0" indent="0" algn="ctr">
              <a:buNone/>
            </a:pPr>
            <a:r>
              <a:rPr lang="en-US" sz="2400" b="1" dirty="0">
                <a:solidFill>
                  <a:srgbClr val="172033"/>
                </a:solidFill>
                <a:latin typeface="Calibri" pitchFamily="34" charset="0"/>
                <a:ea typeface="Calibri" pitchFamily="34" charset="-122"/>
                <a:cs typeface="Calibri" pitchFamily="34" charset="-120"/>
              </a:rPr>
              <a:t>📊</a:t>
            </a:r>
            <a:endParaRPr lang="en-US" sz="2400" dirty="0"/>
          </a:p>
        </p:txBody>
      </p:sp>
      <p:sp>
        <p:nvSpPr>
          <p:cNvPr id="30" name="Text 28"/>
          <p:cNvSpPr/>
          <p:nvPr/>
        </p:nvSpPr>
        <p:spPr>
          <a:xfrm>
            <a:off x="10689336" y="2221992"/>
            <a:ext cx="548640" cy="365760"/>
          </a:xfrm>
          <a:prstGeom prst="rect">
            <a:avLst/>
          </a:prstGeom>
          <a:noFill/>
          <a:ln/>
        </p:spPr>
        <p:txBody>
          <a:bodyPr wrap="square" lIns="0" tIns="0" rIns="0" bIns="0" rtlCol="0" anchor="ctr"/>
          <a:lstStyle/>
          <a:p>
            <a:pPr marL="0" indent="0" algn="r">
              <a:buNone/>
            </a:pPr>
            <a:r>
              <a:rPr lang="en-US" sz="1500" b="1" dirty="0">
                <a:solidFill>
                  <a:srgbClr val="E5E7EF"/>
                </a:solidFill>
                <a:latin typeface="Cambria" pitchFamily="34" charset="0"/>
                <a:ea typeface="Cambria" pitchFamily="34" charset="-122"/>
                <a:cs typeface="Cambria" pitchFamily="34" charset="-120"/>
              </a:rPr>
              <a:t>04</a:t>
            </a:r>
            <a:endParaRPr lang="en-US" sz="1500" dirty="0"/>
          </a:p>
        </p:txBody>
      </p:sp>
      <p:sp>
        <p:nvSpPr>
          <p:cNvPr id="31" name="Text 29"/>
          <p:cNvSpPr/>
          <p:nvPr/>
        </p:nvSpPr>
        <p:spPr>
          <a:xfrm>
            <a:off x="9052560" y="3017520"/>
            <a:ext cx="2103120" cy="658368"/>
          </a:xfrm>
          <a:prstGeom prst="rect">
            <a:avLst/>
          </a:prstGeom>
          <a:noFill/>
          <a:ln/>
        </p:spPr>
        <p:txBody>
          <a:bodyPr wrap="square" lIns="0" tIns="0" rIns="0" bIns="0" rtlCol="0" anchor="ctr"/>
          <a:lstStyle/>
          <a:p>
            <a:pPr marL="0" indent="0">
              <a:lnSpc>
                <a:spcPct val="110000"/>
              </a:lnSpc>
              <a:buNone/>
            </a:pPr>
            <a:r>
              <a:rPr lang="en-US" sz="1450" b="1" dirty="0">
                <a:solidFill>
                  <a:srgbClr val="172033"/>
                </a:solidFill>
                <a:latin typeface="Calibri" pitchFamily="34" charset="0"/>
                <a:ea typeface="Calibri" pitchFamily="34" charset="-122"/>
                <a:cs typeface="Calibri" pitchFamily="34" charset="-120"/>
              </a:rPr>
              <a:t>Visualize the Writing Pulse</a:t>
            </a:r>
            <a:endParaRPr lang="en-US" sz="1450" dirty="0"/>
          </a:p>
        </p:txBody>
      </p:sp>
      <p:sp>
        <p:nvSpPr>
          <p:cNvPr id="32" name="Text 30"/>
          <p:cNvSpPr/>
          <p:nvPr/>
        </p:nvSpPr>
        <p:spPr>
          <a:xfrm>
            <a:off x="9052560" y="3721608"/>
            <a:ext cx="2103120" cy="2103120"/>
          </a:xfrm>
          <a:prstGeom prst="rect">
            <a:avLst/>
          </a:prstGeom>
          <a:noFill/>
          <a:ln/>
        </p:spPr>
        <p:txBody>
          <a:bodyPr wrap="square" lIns="0" tIns="0" rIns="0" bIns="0" rtlCol="0" anchor="ctr"/>
          <a:lstStyle/>
          <a:p>
            <a:pPr marL="0" indent="0">
              <a:lnSpc>
                <a:spcPct val="130000"/>
              </a:lnSpc>
              <a:buNone/>
            </a:pPr>
            <a:r>
              <a:rPr lang="en-US" sz="1050" dirty="0">
                <a:solidFill>
                  <a:srgbClr val="697386"/>
                </a:solidFill>
                <a:latin typeface="Calibri" pitchFamily="34" charset="0"/>
                <a:ea typeface="Calibri" pitchFamily="34" charset="-122"/>
                <a:cs typeface="Calibri" pitchFamily="34" charset="-120"/>
              </a:rPr>
              <a:t>A clean, real-time dashboard showing curated topics, sentiment analysis and engagement forecasts.</a:t>
            </a:r>
            <a:endParaRPr lang="en-US" sz="1050" dirty="0"/>
          </a:p>
        </p:txBody>
      </p:sp>
      <p:sp>
        <p:nvSpPr>
          <p:cNvPr id="33" name="Text 31"/>
          <p:cNvSpPr/>
          <p:nvPr/>
        </p:nvSpPr>
        <p:spPr>
          <a:xfrm>
            <a:off x="457200" y="6473952"/>
            <a:ext cx="3657600" cy="274320"/>
          </a:xfrm>
          <a:prstGeom prst="rect">
            <a:avLst/>
          </a:prstGeom>
          <a:noFill/>
          <a:ln/>
        </p:spPr>
        <p:txBody>
          <a:bodyPr wrap="square" lIns="0" tIns="0" rIns="0" bIns="0" rtlCol="0" anchor="ctr"/>
          <a:lstStyle/>
          <a:p>
            <a:pPr marL="0" indent="0">
              <a:buNone/>
            </a:pPr>
            <a:r>
              <a:rPr lang="en-US" sz="900" dirty="0">
                <a:solidFill>
                  <a:srgbClr val="697386"/>
                </a:solidFill>
                <a:latin typeface="Calibri" pitchFamily="34" charset="0"/>
                <a:ea typeface="Calibri" pitchFamily="34" charset="-122"/>
                <a:cs typeface="Calibri" pitchFamily="34" charset="-120"/>
              </a:rPr>
              <a:t>ContentPulse AI</a:t>
            </a:r>
            <a:endParaRPr lang="en-US" sz="900" dirty="0"/>
          </a:p>
        </p:txBody>
      </p:sp>
      <p:sp>
        <p:nvSpPr>
          <p:cNvPr id="34" name="Text 32"/>
          <p:cNvSpPr/>
          <p:nvPr/>
        </p:nvSpPr>
        <p:spPr>
          <a:xfrm>
            <a:off x="8074152" y="6473952"/>
            <a:ext cx="3657600" cy="274320"/>
          </a:xfrm>
          <a:prstGeom prst="rect">
            <a:avLst/>
          </a:prstGeom>
          <a:noFill/>
          <a:ln/>
        </p:spPr>
        <p:txBody>
          <a:bodyPr wrap="square" lIns="0" tIns="0" rIns="0" bIns="0" rtlCol="0" anchor="ctr"/>
          <a:lstStyle/>
          <a:p>
            <a:pPr marL="0" indent="0" algn="r">
              <a:buNone/>
            </a:pPr>
            <a:r>
              <a:rPr lang="en-US" sz="900" dirty="0">
                <a:solidFill>
                  <a:srgbClr val="697386"/>
                </a:solidFill>
                <a:latin typeface="Calibri" pitchFamily="34" charset="0"/>
                <a:ea typeface="Calibri" pitchFamily="34" charset="-122"/>
                <a:cs typeface="Calibri" pitchFamily="34" charset="-120"/>
              </a:rPr>
              <a:t>02  ·  The Objective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4B3BE0"/>
                </a:solidFill>
                <a:latin typeface="Calibri" pitchFamily="34" charset="0"/>
                <a:ea typeface="Calibri" pitchFamily="34" charset="-122"/>
                <a:cs typeface="Calibri" pitchFamily="34" charset="-120"/>
              </a:rPr>
              <a:t>OUR SOLUTION</a:t>
            </a:r>
            <a:endParaRPr lang="en-US" sz="1200" dirty="0"/>
          </a:p>
        </p:txBody>
      </p:sp>
      <p:sp>
        <p:nvSpPr>
          <p:cNvPr id="3" name="Text 1"/>
          <p:cNvSpPr/>
          <p:nvPr/>
        </p:nvSpPr>
        <p:spPr>
          <a:xfrm>
            <a:off x="548640" y="640080"/>
            <a:ext cx="10515600" cy="685800"/>
          </a:xfrm>
          <a:prstGeom prst="rect">
            <a:avLst/>
          </a:prstGeom>
          <a:noFill/>
          <a:ln/>
        </p:spPr>
        <p:txBody>
          <a:bodyPr wrap="square" lIns="0" tIns="0" rIns="0" bIns="0" rtlCol="0" anchor="ctr"/>
          <a:lstStyle/>
          <a:p>
            <a:pPr marL="0" indent="0">
              <a:buNone/>
            </a:pPr>
            <a:r>
              <a:rPr lang="en-US" sz="3200" b="1" dirty="0">
                <a:solidFill>
                  <a:srgbClr val="172033"/>
                </a:solidFill>
                <a:latin typeface="Cambria" pitchFamily="34" charset="0"/>
                <a:ea typeface="Cambria" pitchFamily="34" charset="-122"/>
                <a:cs typeface="Cambria" pitchFamily="34" charset="-120"/>
              </a:rPr>
              <a:t>Meet ContentPulse AI</a:t>
            </a:r>
            <a:endParaRPr lang="en-US" sz="3200" dirty="0"/>
          </a:p>
        </p:txBody>
      </p:sp>
      <p:sp>
        <p:nvSpPr>
          <p:cNvPr id="4" name="Text 2"/>
          <p:cNvSpPr/>
          <p:nvPr/>
        </p:nvSpPr>
        <p:spPr>
          <a:xfrm>
            <a:off x="548640" y="1463040"/>
            <a:ext cx="6035040" cy="1371600"/>
          </a:xfrm>
          <a:prstGeom prst="rect">
            <a:avLst/>
          </a:prstGeom>
          <a:noFill/>
          <a:ln/>
        </p:spPr>
        <p:txBody>
          <a:bodyPr wrap="square" lIns="0" tIns="0" rIns="0" bIns="0" rtlCol="0" anchor="ctr"/>
          <a:lstStyle/>
          <a:p>
            <a:pPr marL="0" indent="0">
              <a:lnSpc>
                <a:spcPct val="135000"/>
              </a:lnSpc>
              <a:buNone/>
            </a:pPr>
            <a:r>
              <a:rPr lang="en-US" sz="1450" dirty="0">
                <a:solidFill>
                  <a:srgbClr val="172033"/>
                </a:solidFill>
                <a:latin typeface="Calibri" pitchFamily="34" charset="0"/>
                <a:ea typeface="Calibri" pitchFamily="34" charset="-122"/>
                <a:cs typeface="Calibri" pitchFamily="34" charset="-120"/>
              </a:rPr>
              <a:t>ContentPulse AI brings research, news, social trends and audience feedback together to help bloggers discover what to write, how to write it, and when to publish it — built on an IBM Langflow + watsonx Orchestrate + IBM Models-ready architecture.</a:t>
            </a:r>
            <a:endParaRPr lang="en-US" sz="1450" dirty="0"/>
          </a:p>
        </p:txBody>
      </p:sp>
      <p:sp>
        <p:nvSpPr>
          <p:cNvPr id="5" name="Shape 3"/>
          <p:cNvSpPr/>
          <p:nvPr/>
        </p:nvSpPr>
        <p:spPr>
          <a:xfrm>
            <a:off x="548640" y="2971800"/>
            <a:ext cx="457200" cy="457200"/>
          </a:xfrm>
          <a:prstGeom prst="ellipse">
            <a:avLst/>
          </a:prstGeom>
          <a:solidFill>
            <a:srgbClr val="F0EEFF"/>
          </a:solidFill>
          <a:ln/>
        </p:spPr>
      </p:sp>
      <p:sp>
        <p:nvSpPr>
          <p:cNvPr id="6" name="Text 4"/>
          <p:cNvSpPr/>
          <p:nvPr/>
        </p:nvSpPr>
        <p:spPr>
          <a:xfrm>
            <a:off x="548640" y="2971800"/>
            <a:ext cx="457200" cy="457200"/>
          </a:xfrm>
          <a:prstGeom prst="rect">
            <a:avLst/>
          </a:prstGeom>
          <a:noFill/>
          <a:ln/>
        </p:spPr>
        <p:txBody>
          <a:bodyPr wrap="square" lIns="0" tIns="0" rIns="0" bIns="0" rtlCol="0" anchor="ctr"/>
          <a:lstStyle/>
          <a:p>
            <a:pPr marL="0" indent="0" algn="ctr">
              <a:buNone/>
            </a:pPr>
            <a:r>
              <a:rPr lang="en-US" sz="1800" b="1" dirty="0">
                <a:solidFill>
                  <a:srgbClr val="4B3BE0"/>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170432" y="2944368"/>
            <a:ext cx="5394960" cy="292608"/>
          </a:xfrm>
          <a:prstGeom prst="rect">
            <a:avLst/>
          </a:prstGeom>
          <a:noFill/>
          <a:ln/>
        </p:spPr>
        <p:txBody>
          <a:bodyPr wrap="square" lIns="0" tIns="0" rIns="0" bIns="0" rtlCol="0" anchor="ctr"/>
          <a:lstStyle/>
          <a:p>
            <a:pPr marL="0" indent="0">
              <a:buNone/>
            </a:pPr>
            <a:r>
              <a:rPr lang="en-US" sz="1300" b="1" dirty="0">
                <a:solidFill>
                  <a:srgbClr val="172033"/>
                </a:solidFill>
                <a:latin typeface="Calibri" pitchFamily="34" charset="0"/>
                <a:ea typeface="Calibri" pitchFamily="34" charset="-122"/>
                <a:cs typeface="Calibri" pitchFamily="34" charset="-120"/>
              </a:rPr>
              <a:t>Research Intelligence</a:t>
            </a:r>
            <a:endParaRPr lang="en-US" sz="1300" dirty="0"/>
          </a:p>
        </p:txBody>
      </p:sp>
      <p:sp>
        <p:nvSpPr>
          <p:cNvPr id="8" name="Text 6"/>
          <p:cNvSpPr/>
          <p:nvPr/>
        </p:nvSpPr>
        <p:spPr>
          <a:xfrm>
            <a:off x="1170432" y="3218688"/>
            <a:ext cx="5394960" cy="365760"/>
          </a:xfrm>
          <a:prstGeom prst="rect">
            <a:avLst/>
          </a:prstGeom>
          <a:noFill/>
          <a:ln/>
        </p:spPr>
        <p:txBody>
          <a:bodyPr wrap="square" lIns="0" tIns="0" rIns="0" bIns="0" rtlCol="0" anchor="ctr"/>
          <a:lstStyle/>
          <a:p>
            <a:pPr marL="0" indent="0">
              <a:lnSpc>
                <a:spcPct val="115000"/>
              </a:lnSpc>
              <a:buNone/>
            </a:pPr>
            <a:r>
              <a:rPr lang="en-US" sz="1050" dirty="0">
                <a:solidFill>
                  <a:srgbClr val="697386"/>
                </a:solidFill>
                <a:latin typeface="Calibri" pitchFamily="34" charset="0"/>
                <a:ea typeface="Calibri" pitchFamily="34" charset="-122"/>
                <a:cs typeface="Calibri" pitchFamily="34" charset="-120"/>
              </a:rPr>
              <a:t>Synthesize research papers, news and knowledge sources into clear insights.</a:t>
            </a:r>
            <a:endParaRPr lang="en-US" sz="1050" dirty="0"/>
          </a:p>
        </p:txBody>
      </p:sp>
      <p:sp>
        <p:nvSpPr>
          <p:cNvPr id="9" name="Shape 7"/>
          <p:cNvSpPr/>
          <p:nvPr/>
        </p:nvSpPr>
        <p:spPr>
          <a:xfrm>
            <a:off x="548640" y="3749040"/>
            <a:ext cx="457200" cy="457200"/>
          </a:xfrm>
          <a:prstGeom prst="ellipse">
            <a:avLst/>
          </a:prstGeom>
          <a:solidFill>
            <a:srgbClr val="F0EEFF"/>
          </a:solidFill>
          <a:ln/>
        </p:spPr>
      </p:sp>
      <p:sp>
        <p:nvSpPr>
          <p:cNvPr id="10" name="Text 8"/>
          <p:cNvSpPr/>
          <p:nvPr/>
        </p:nvSpPr>
        <p:spPr>
          <a:xfrm>
            <a:off x="548640" y="3749040"/>
            <a:ext cx="457200" cy="457200"/>
          </a:xfrm>
          <a:prstGeom prst="rect">
            <a:avLst/>
          </a:prstGeom>
          <a:noFill/>
          <a:ln/>
        </p:spPr>
        <p:txBody>
          <a:bodyPr wrap="square" lIns="0" tIns="0" rIns="0" bIns="0" rtlCol="0" anchor="ctr"/>
          <a:lstStyle/>
          <a:p>
            <a:pPr marL="0" indent="0" algn="ctr">
              <a:buNone/>
            </a:pPr>
            <a:r>
              <a:rPr lang="en-US" sz="1800" b="1" dirty="0">
                <a:solidFill>
                  <a:srgbClr val="4B3BE0"/>
                </a:solidFill>
                <a:latin typeface="Calibri" pitchFamily="34" charset="0"/>
                <a:ea typeface="Calibri" pitchFamily="34" charset="-122"/>
                <a:cs typeface="Calibri" pitchFamily="34" charset="-120"/>
              </a:rPr>
              <a:t>📈</a:t>
            </a:r>
            <a:endParaRPr lang="en-US" sz="1800" dirty="0"/>
          </a:p>
        </p:txBody>
      </p:sp>
      <p:sp>
        <p:nvSpPr>
          <p:cNvPr id="11" name="Text 9"/>
          <p:cNvSpPr/>
          <p:nvPr/>
        </p:nvSpPr>
        <p:spPr>
          <a:xfrm>
            <a:off x="1170432" y="3721608"/>
            <a:ext cx="5394960" cy="292608"/>
          </a:xfrm>
          <a:prstGeom prst="rect">
            <a:avLst/>
          </a:prstGeom>
          <a:noFill/>
          <a:ln/>
        </p:spPr>
        <p:txBody>
          <a:bodyPr wrap="square" lIns="0" tIns="0" rIns="0" bIns="0" rtlCol="0" anchor="ctr"/>
          <a:lstStyle/>
          <a:p>
            <a:pPr marL="0" indent="0">
              <a:buNone/>
            </a:pPr>
            <a:r>
              <a:rPr lang="en-US" sz="1300" b="1" dirty="0">
                <a:solidFill>
                  <a:srgbClr val="172033"/>
                </a:solidFill>
                <a:latin typeface="Calibri" pitchFamily="34" charset="0"/>
                <a:ea typeface="Calibri" pitchFamily="34" charset="-122"/>
                <a:cs typeface="Calibri" pitchFamily="34" charset="-120"/>
              </a:rPr>
              <a:t>Trend Intelligence</a:t>
            </a:r>
            <a:endParaRPr lang="en-US" sz="1300" dirty="0"/>
          </a:p>
        </p:txBody>
      </p:sp>
      <p:sp>
        <p:nvSpPr>
          <p:cNvPr id="12" name="Text 10"/>
          <p:cNvSpPr/>
          <p:nvPr/>
        </p:nvSpPr>
        <p:spPr>
          <a:xfrm>
            <a:off x="1170432" y="3995928"/>
            <a:ext cx="5394960" cy="365760"/>
          </a:xfrm>
          <a:prstGeom prst="rect">
            <a:avLst/>
          </a:prstGeom>
          <a:noFill/>
          <a:ln/>
        </p:spPr>
        <p:txBody>
          <a:bodyPr wrap="square" lIns="0" tIns="0" rIns="0" bIns="0" rtlCol="0" anchor="ctr"/>
          <a:lstStyle/>
          <a:p>
            <a:pPr marL="0" indent="0">
              <a:lnSpc>
                <a:spcPct val="115000"/>
              </a:lnSpc>
              <a:buNone/>
            </a:pPr>
            <a:r>
              <a:rPr lang="en-US" sz="1050" dirty="0">
                <a:solidFill>
                  <a:srgbClr val="697386"/>
                </a:solidFill>
                <a:latin typeface="Calibri" pitchFamily="34" charset="0"/>
                <a:ea typeface="Calibri" pitchFamily="34" charset="-122"/>
                <a:cs typeface="Calibri" pitchFamily="34" charset="-120"/>
              </a:rPr>
              <a:t>Identify emerging topics and high-potential content opportunities.</a:t>
            </a:r>
            <a:endParaRPr lang="en-US" sz="1050" dirty="0"/>
          </a:p>
        </p:txBody>
      </p:sp>
      <p:sp>
        <p:nvSpPr>
          <p:cNvPr id="13" name="Shape 11"/>
          <p:cNvSpPr/>
          <p:nvPr/>
        </p:nvSpPr>
        <p:spPr>
          <a:xfrm>
            <a:off x="548640" y="4526280"/>
            <a:ext cx="457200" cy="457200"/>
          </a:xfrm>
          <a:prstGeom prst="ellipse">
            <a:avLst/>
          </a:prstGeom>
          <a:solidFill>
            <a:srgbClr val="F0EEFF"/>
          </a:solidFill>
          <a:ln/>
        </p:spPr>
      </p:sp>
      <p:sp>
        <p:nvSpPr>
          <p:cNvPr id="14" name="Text 12"/>
          <p:cNvSpPr/>
          <p:nvPr/>
        </p:nvSpPr>
        <p:spPr>
          <a:xfrm>
            <a:off x="548640" y="4526280"/>
            <a:ext cx="457200" cy="457200"/>
          </a:xfrm>
          <a:prstGeom prst="rect">
            <a:avLst/>
          </a:prstGeom>
          <a:noFill/>
          <a:ln/>
        </p:spPr>
        <p:txBody>
          <a:bodyPr wrap="square" lIns="0" tIns="0" rIns="0" bIns="0" rtlCol="0" anchor="ctr"/>
          <a:lstStyle/>
          <a:p>
            <a:pPr marL="0" indent="0" algn="ctr">
              <a:buNone/>
            </a:pPr>
            <a:r>
              <a:rPr lang="en-US" sz="1800" b="1" dirty="0">
                <a:solidFill>
                  <a:srgbClr val="4B3BE0"/>
                </a:solidFill>
                <a:latin typeface="Calibri" pitchFamily="34" charset="0"/>
                <a:ea typeface="Calibri" pitchFamily="34" charset="-122"/>
                <a:cs typeface="Calibri" pitchFamily="34" charset="-120"/>
              </a:rPr>
              <a:t>💬</a:t>
            </a:r>
            <a:endParaRPr lang="en-US" sz="1800" dirty="0"/>
          </a:p>
        </p:txBody>
      </p:sp>
      <p:sp>
        <p:nvSpPr>
          <p:cNvPr id="15" name="Text 13"/>
          <p:cNvSpPr/>
          <p:nvPr/>
        </p:nvSpPr>
        <p:spPr>
          <a:xfrm>
            <a:off x="1170432" y="4498848"/>
            <a:ext cx="5394960" cy="292608"/>
          </a:xfrm>
          <a:prstGeom prst="rect">
            <a:avLst/>
          </a:prstGeom>
          <a:noFill/>
          <a:ln/>
        </p:spPr>
        <p:txBody>
          <a:bodyPr wrap="square" lIns="0" tIns="0" rIns="0" bIns="0" rtlCol="0" anchor="ctr"/>
          <a:lstStyle/>
          <a:p>
            <a:pPr marL="0" indent="0">
              <a:buNone/>
            </a:pPr>
            <a:r>
              <a:rPr lang="en-US" sz="1300" b="1" dirty="0">
                <a:solidFill>
                  <a:srgbClr val="172033"/>
                </a:solidFill>
                <a:latin typeface="Calibri" pitchFamily="34" charset="0"/>
                <a:ea typeface="Calibri" pitchFamily="34" charset="-122"/>
                <a:cs typeface="Calibri" pitchFamily="34" charset="-120"/>
              </a:rPr>
              <a:t>Audience Insights</a:t>
            </a:r>
            <a:endParaRPr lang="en-US" sz="1300" dirty="0"/>
          </a:p>
        </p:txBody>
      </p:sp>
      <p:sp>
        <p:nvSpPr>
          <p:cNvPr id="16" name="Text 14"/>
          <p:cNvSpPr/>
          <p:nvPr/>
        </p:nvSpPr>
        <p:spPr>
          <a:xfrm>
            <a:off x="1170432" y="4773168"/>
            <a:ext cx="5394960" cy="365760"/>
          </a:xfrm>
          <a:prstGeom prst="rect">
            <a:avLst/>
          </a:prstGeom>
          <a:noFill/>
          <a:ln/>
        </p:spPr>
        <p:txBody>
          <a:bodyPr wrap="square" lIns="0" tIns="0" rIns="0" bIns="0" rtlCol="0" anchor="ctr"/>
          <a:lstStyle/>
          <a:p>
            <a:pPr marL="0" indent="0">
              <a:lnSpc>
                <a:spcPct val="115000"/>
              </a:lnSpc>
              <a:buNone/>
            </a:pPr>
            <a:r>
              <a:rPr lang="en-US" sz="1050" dirty="0">
                <a:solidFill>
                  <a:srgbClr val="697386"/>
                </a:solidFill>
                <a:latin typeface="Calibri" pitchFamily="34" charset="0"/>
                <a:ea typeface="Calibri" pitchFamily="34" charset="-122"/>
                <a:cs typeface="Calibri" pitchFamily="34" charset="-120"/>
              </a:rPr>
              <a:t>Understand sentiment, interests and audience feedback.</a:t>
            </a:r>
            <a:endParaRPr lang="en-US" sz="1050" dirty="0"/>
          </a:p>
        </p:txBody>
      </p:sp>
      <p:sp>
        <p:nvSpPr>
          <p:cNvPr id="17" name="Shape 15"/>
          <p:cNvSpPr/>
          <p:nvPr/>
        </p:nvSpPr>
        <p:spPr>
          <a:xfrm>
            <a:off x="548640" y="5303520"/>
            <a:ext cx="457200" cy="457200"/>
          </a:xfrm>
          <a:prstGeom prst="ellipse">
            <a:avLst/>
          </a:prstGeom>
          <a:solidFill>
            <a:srgbClr val="F0EEFF"/>
          </a:solidFill>
          <a:ln/>
        </p:spPr>
      </p:sp>
      <p:sp>
        <p:nvSpPr>
          <p:cNvPr id="18" name="Text 16"/>
          <p:cNvSpPr/>
          <p:nvPr/>
        </p:nvSpPr>
        <p:spPr>
          <a:xfrm>
            <a:off x="548640" y="5303520"/>
            <a:ext cx="457200" cy="457200"/>
          </a:xfrm>
          <a:prstGeom prst="rect">
            <a:avLst/>
          </a:prstGeom>
          <a:noFill/>
          <a:ln/>
        </p:spPr>
        <p:txBody>
          <a:bodyPr wrap="square" lIns="0" tIns="0" rIns="0" bIns="0" rtlCol="0" anchor="ctr"/>
          <a:lstStyle/>
          <a:p>
            <a:pPr marL="0" indent="0" algn="ctr">
              <a:buNone/>
            </a:pPr>
            <a:r>
              <a:rPr lang="en-US" sz="1800" b="1" dirty="0">
                <a:solidFill>
                  <a:srgbClr val="4B3BE0"/>
                </a:solidFill>
                <a:latin typeface="Calibri" pitchFamily="34" charset="0"/>
                <a:ea typeface="Calibri" pitchFamily="34" charset="-122"/>
                <a:cs typeface="Calibri" pitchFamily="34" charset="-120"/>
              </a:rPr>
              <a:t>✦</a:t>
            </a:r>
            <a:endParaRPr lang="en-US" sz="1800" dirty="0"/>
          </a:p>
        </p:txBody>
      </p:sp>
      <p:sp>
        <p:nvSpPr>
          <p:cNvPr id="19" name="Text 17"/>
          <p:cNvSpPr/>
          <p:nvPr/>
        </p:nvSpPr>
        <p:spPr>
          <a:xfrm>
            <a:off x="1170432" y="5276088"/>
            <a:ext cx="5394960" cy="292608"/>
          </a:xfrm>
          <a:prstGeom prst="rect">
            <a:avLst/>
          </a:prstGeom>
          <a:noFill/>
          <a:ln/>
        </p:spPr>
        <p:txBody>
          <a:bodyPr wrap="square" lIns="0" tIns="0" rIns="0" bIns="0" rtlCol="0" anchor="ctr"/>
          <a:lstStyle/>
          <a:p>
            <a:pPr marL="0" indent="0">
              <a:buNone/>
            </a:pPr>
            <a:r>
              <a:rPr lang="en-US" sz="1300" b="1" dirty="0">
                <a:solidFill>
                  <a:srgbClr val="172033"/>
                </a:solidFill>
                <a:latin typeface="Calibri" pitchFamily="34" charset="0"/>
                <a:ea typeface="Calibri" pitchFamily="34" charset="-122"/>
                <a:cs typeface="Calibri" pitchFamily="34" charset="-120"/>
              </a:rPr>
              <a:t>AI Recommendations</a:t>
            </a:r>
            <a:endParaRPr lang="en-US" sz="1300" dirty="0"/>
          </a:p>
        </p:txBody>
      </p:sp>
      <p:sp>
        <p:nvSpPr>
          <p:cNvPr id="20" name="Text 18"/>
          <p:cNvSpPr/>
          <p:nvPr/>
        </p:nvSpPr>
        <p:spPr>
          <a:xfrm>
            <a:off x="1170432" y="5550408"/>
            <a:ext cx="5394960" cy="365760"/>
          </a:xfrm>
          <a:prstGeom prst="rect">
            <a:avLst/>
          </a:prstGeom>
          <a:noFill/>
          <a:ln/>
        </p:spPr>
        <p:txBody>
          <a:bodyPr wrap="square" lIns="0" tIns="0" rIns="0" bIns="0" rtlCol="0" anchor="ctr"/>
          <a:lstStyle/>
          <a:p>
            <a:pPr marL="0" indent="0">
              <a:lnSpc>
                <a:spcPct val="115000"/>
              </a:lnSpc>
              <a:buNone/>
            </a:pPr>
            <a:r>
              <a:rPr lang="en-US" sz="1050" dirty="0">
                <a:solidFill>
                  <a:srgbClr val="697386"/>
                </a:solidFill>
                <a:latin typeface="Calibri" pitchFamily="34" charset="0"/>
                <a:ea typeface="Calibri" pitchFamily="34" charset="-122"/>
                <a:cs typeface="Calibri" pitchFamily="34" charset="-120"/>
              </a:rPr>
              <a:t>Generate titles, structure, tone, keywords, hashtags and angles.</a:t>
            </a:r>
            <a:endParaRPr lang="en-US" sz="1050" dirty="0"/>
          </a:p>
        </p:txBody>
      </p:sp>
      <p:sp>
        <p:nvSpPr>
          <p:cNvPr id="21" name="Shape 19"/>
          <p:cNvSpPr/>
          <p:nvPr/>
        </p:nvSpPr>
        <p:spPr>
          <a:xfrm>
            <a:off x="6949440" y="1463040"/>
            <a:ext cx="4709160" cy="4846320"/>
          </a:xfrm>
          <a:prstGeom prst="roundRect">
            <a:avLst>
              <a:gd name="adj" fmla="val 2718"/>
            </a:avLst>
          </a:prstGeom>
          <a:solidFill>
            <a:srgbClr val="EAE8FF"/>
          </a:solidFill>
          <a:ln/>
        </p:spPr>
      </p:sp>
      <p:sp>
        <p:nvSpPr>
          <p:cNvPr id="22" name="Shape 20"/>
          <p:cNvSpPr/>
          <p:nvPr/>
        </p:nvSpPr>
        <p:spPr>
          <a:xfrm>
            <a:off x="7269480" y="1874520"/>
            <a:ext cx="4069080" cy="4023360"/>
          </a:xfrm>
          <a:prstGeom prst="roundRect">
            <a:avLst>
              <a:gd name="adj" fmla="val 2727"/>
            </a:avLst>
          </a:prstGeom>
          <a:solidFill>
            <a:srgbClr val="FFFFFF"/>
          </a:solidFill>
          <a:ln/>
          <a:effectLst>
            <a:outerShdw blurRad="228600" dist="76200" dir="5400000" algn="bl" rotWithShape="0">
              <a:srgbClr val="343B68">
                <a:alpha val="18000"/>
              </a:srgbClr>
            </a:outerShdw>
          </a:effectLst>
        </p:spPr>
      </p:sp>
      <p:sp>
        <p:nvSpPr>
          <p:cNvPr id="23" name="Text 21"/>
          <p:cNvSpPr/>
          <p:nvPr/>
        </p:nvSpPr>
        <p:spPr>
          <a:xfrm>
            <a:off x="7543800" y="2084832"/>
            <a:ext cx="2743200" cy="320040"/>
          </a:xfrm>
          <a:prstGeom prst="rect">
            <a:avLst/>
          </a:prstGeom>
          <a:noFill/>
          <a:ln/>
        </p:spPr>
        <p:txBody>
          <a:bodyPr wrap="square" lIns="0" tIns="0" rIns="0" bIns="0" rtlCol="0" anchor="ctr"/>
          <a:lstStyle/>
          <a:p>
            <a:pPr marL="0" indent="0">
              <a:buNone/>
            </a:pPr>
            <a:r>
              <a:rPr lang="en-US" sz="1450" b="1" dirty="0">
                <a:solidFill>
                  <a:srgbClr val="172033"/>
                </a:solidFill>
                <a:latin typeface="Calibri" pitchFamily="34" charset="0"/>
                <a:ea typeface="Calibri" pitchFamily="34" charset="-122"/>
                <a:cs typeface="Calibri" pitchFamily="34" charset="-120"/>
              </a:rPr>
              <a:t>Writing Pulse</a:t>
            </a:r>
            <a:endParaRPr lang="en-US" sz="1450" dirty="0"/>
          </a:p>
        </p:txBody>
      </p:sp>
      <p:sp>
        <p:nvSpPr>
          <p:cNvPr id="24" name="Text 22"/>
          <p:cNvSpPr/>
          <p:nvPr/>
        </p:nvSpPr>
        <p:spPr>
          <a:xfrm>
            <a:off x="7543800" y="2377440"/>
            <a:ext cx="2743200" cy="256032"/>
          </a:xfrm>
          <a:prstGeom prst="rect">
            <a:avLst/>
          </a:prstGeom>
          <a:noFill/>
          <a:ln/>
        </p:spPr>
        <p:txBody>
          <a:bodyPr wrap="square" lIns="0" tIns="0" rIns="0" bIns="0" rtlCol="0" anchor="ctr"/>
          <a:lstStyle/>
          <a:p>
            <a:pPr marL="0" indent="0">
              <a:buNone/>
            </a:pPr>
            <a:r>
              <a:rPr lang="en-US" sz="1050" dirty="0">
                <a:solidFill>
                  <a:srgbClr val="697386"/>
                </a:solidFill>
                <a:latin typeface="Calibri" pitchFamily="34" charset="0"/>
                <a:ea typeface="Calibri" pitchFamily="34" charset="-122"/>
                <a:cs typeface="Calibri" pitchFamily="34" charset="-120"/>
              </a:rPr>
              <a:t>AI Education</a:t>
            </a:r>
            <a:endParaRPr lang="en-US" sz="1050" dirty="0"/>
          </a:p>
        </p:txBody>
      </p:sp>
      <p:sp>
        <p:nvSpPr>
          <p:cNvPr id="25" name="Text 23"/>
          <p:cNvSpPr/>
          <p:nvPr/>
        </p:nvSpPr>
        <p:spPr>
          <a:xfrm>
            <a:off x="10149840" y="2029968"/>
            <a:ext cx="1188720" cy="502920"/>
          </a:xfrm>
          <a:prstGeom prst="rect">
            <a:avLst/>
          </a:prstGeom>
          <a:noFill/>
          <a:ln/>
        </p:spPr>
        <p:txBody>
          <a:bodyPr wrap="square" lIns="0" tIns="0" rIns="0" bIns="0" rtlCol="0" anchor="ctr"/>
          <a:lstStyle/>
          <a:p>
            <a:pPr marL="0" indent="0" algn="r">
              <a:buNone/>
            </a:pPr>
            <a:r>
              <a:rPr lang="en-US" sz="3000" b="1" dirty="0">
                <a:solidFill>
                  <a:srgbClr val="4B3BE0"/>
                </a:solidFill>
                <a:latin typeface="Cambria" pitchFamily="34" charset="0"/>
                <a:ea typeface="Cambria" pitchFamily="34" charset="-122"/>
                <a:cs typeface="Cambria" pitchFamily="34" charset="-120"/>
              </a:rPr>
              <a:t>91</a:t>
            </a:r>
            <a:endParaRPr lang="en-US" sz="3000" dirty="0"/>
          </a:p>
        </p:txBody>
      </p:sp>
      <p:sp>
        <p:nvSpPr>
          <p:cNvPr id="26" name="Text 24"/>
          <p:cNvSpPr/>
          <p:nvPr/>
        </p:nvSpPr>
        <p:spPr>
          <a:xfrm>
            <a:off x="7543800" y="2880360"/>
            <a:ext cx="1417320" cy="274320"/>
          </a:xfrm>
          <a:prstGeom prst="rect">
            <a:avLst/>
          </a:prstGeom>
          <a:noFill/>
          <a:ln/>
        </p:spPr>
        <p:txBody>
          <a:bodyPr wrap="square" lIns="0" tIns="0" rIns="0" bIns="0" rtlCol="0" anchor="ctr"/>
          <a:lstStyle/>
          <a:p>
            <a:pPr marL="0" indent="0">
              <a:buNone/>
            </a:pPr>
            <a:r>
              <a:rPr lang="en-US" sz="950" dirty="0">
                <a:solidFill>
                  <a:srgbClr val="172033"/>
                </a:solidFill>
                <a:latin typeface="Calibri" pitchFamily="34" charset="0"/>
                <a:ea typeface="Calibri" pitchFamily="34" charset="-122"/>
                <a:cs typeface="Calibri" pitchFamily="34" charset="-120"/>
              </a:rPr>
              <a:t>AI Tutors</a:t>
            </a:r>
            <a:endParaRPr lang="en-US" sz="950" dirty="0"/>
          </a:p>
        </p:txBody>
      </p:sp>
      <p:sp>
        <p:nvSpPr>
          <p:cNvPr id="27" name="Shape 25"/>
          <p:cNvSpPr/>
          <p:nvPr/>
        </p:nvSpPr>
        <p:spPr>
          <a:xfrm>
            <a:off x="9052560" y="2962656"/>
            <a:ext cx="1463040" cy="118872"/>
          </a:xfrm>
          <a:prstGeom prst="roundRect">
            <a:avLst>
              <a:gd name="adj" fmla="val 50000"/>
            </a:avLst>
          </a:prstGeom>
          <a:solidFill>
            <a:srgbClr val="ECEEF5"/>
          </a:solidFill>
          <a:ln/>
        </p:spPr>
      </p:sp>
      <p:sp>
        <p:nvSpPr>
          <p:cNvPr id="28" name="Shape 26"/>
          <p:cNvSpPr/>
          <p:nvPr/>
        </p:nvSpPr>
        <p:spPr>
          <a:xfrm>
            <a:off x="9052560" y="2962656"/>
            <a:ext cx="1331366" cy="118872"/>
          </a:xfrm>
          <a:prstGeom prst="roundRect">
            <a:avLst>
              <a:gd name="adj" fmla="val 50000"/>
            </a:avLst>
          </a:prstGeom>
          <a:solidFill>
            <a:srgbClr val="4B3BE0"/>
          </a:solidFill>
          <a:ln/>
        </p:spPr>
      </p:sp>
      <p:sp>
        <p:nvSpPr>
          <p:cNvPr id="29" name="Text 27"/>
          <p:cNvSpPr/>
          <p:nvPr/>
        </p:nvSpPr>
        <p:spPr>
          <a:xfrm>
            <a:off x="10652760" y="2880360"/>
            <a:ext cx="548640" cy="274320"/>
          </a:xfrm>
          <a:prstGeom prst="rect">
            <a:avLst/>
          </a:prstGeom>
          <a:noFill/>
          <a:ln/>
        </p:spPr>
        <p:txBody>
          <a:bodyPr wrap="square" lIns="0" tIns="0" rIns="0" bIns="0" rtlCol="0" anchor="ctr"/>
          <a:lstStyle/>
          <a:p>
            <a:pPr marL="0" indent="0">
              <a:buNone/>
            </a:pPr>
            <a:r>
              <a:rPr lang="en-US" sz="950" b="1" dirty="0">
                <a:solidFill>
                  <a:srgbClr val="172033"/>
                </a:solidFill>
                <a:latin typeface="Calibri" pitchFamily="34" charset="0"/>
                <a:ea typeface="Calibri" pitchFamily="34" charset="-122"/>
                <a:cs typeface="Calibri" pitchFamily="34" charset="-120"/>
              </a:rPr>
              <a:t>91</a:t>
            </a:r>
            <a:endParaRPr lang="en-US" sz="950" dirty="0"/>
          </a:p>
        </p:txBody>
      </p:sp>
      <p:sp>
        <p:nvSpPr>
          <p:cNvPr id="30" name="Text 28"/>
          <p:cNvSpPr/>
          <p:nvPr/>
        </p:nvSpPr>
        <p:spPr>
          <a:xfrm>
            <a:off x="7543800" y="3264408"/>
            <a:ext cx="1417320" cy="274320"/>
          </a:xfrm>
          <a:prstGeom prst="rect">
            <a:avLst/>
          </a:prstGeom>
          <a:noFill/>
          <a:ln/>
        </p:spPr>
        <p:txBody>
          <a:bodyPr wrap="square" lIns="0" tIns="0" rIns="0" bIns="0" rtlCol="0" anchor="ctr"/>
          <a:lstStyle/>
          <a:p>
            <a:pPr marL="0" indent="0">
              <a:buNone/>
            </a:pPr>
            <a:r>
              <a:rPr lang="en-US" sz="950" dirty="0">
                <a:solidFill>
                  <a:srgbClr val="172033"/>
                </a:solidFill>
                <a:latin typeface="Calibri" pitchFamily="34" charset="0"/>
                <a:ea typeface="Calibri" pitchFamily="34" charset="-122"/>
                <a:cs typeface="Calibri" pitchFamily="34" charset="-120"/>
              </a:rPr>
              <a:t>Personalized</a:t>
            </a:r>
            <a:endParaRPr lang="en-US" sz="950" dirty="0"/>
          </a:p>
        </p:txBody>
      </p:sp>
      <p:sp>
        <p:nvSpPr>
          <p:cNvPr id="31" name="Shape 29"/>
          <p:cNvSpPr/>
          <p:nvPr/>
        </p:nvSpPr>
        <p:spPr>
          <a:xfrm>
            <a:off x="9052560" y="3346704"/>
            <a:ext cx="1463040" cy="118872"/>
          </a:xfrm>
          <a:prstGeom prst="roundRect">
            <a:avLst>
              <a:gd name="adj" fmla="val 50000"/>
            </a:avLst>
          </a:prstGeom>
          <a:solidFill>
            <a:srgbClr val="ECEEF5"/>
          </a:solidFill>
          <a:ln/>
        </p:spPr>
      </p:sp>
      <p:sp>
        <p:nvSpPr>
          <p:cNvPr id="32" name="Shape 30"/>
          <p:cNvSpPr/>
          <p:nvPr/>
        </p:nvSpPr>
        <p:spPr>
          <a:xfrm>
            <a:off x="9052560" y="3346704"/>
            <a:ext cx="1272845" cy="118872"/>
          </a:xfrm>
          <a:prstGeom prst="roundRect">
            <a:avLst>
              <a:gd name="adj" fmla="val 50000"/>
            </a:avLst>
          </a:prstGeom>
          <a:solidFill>
            <a:srgbClr val="4B3BE0"/>
          </a:solidFill>
          <a:ln/>
        </p:spPr>
      </p:sp>
      <p:sp>
        <p:nvSpPr>
          <p:cNvPr id="33" name="Text 31"/>
          <p:cNvSpPr/>
          <p:nvPr/>
        </p:nvSpPr>
        <p:spPr>
          <a:xfrm>
            <a:off x="10652760" y="3264408"/>
            <a:ext cx="548640" cy="274320"/>
          </a:xfrm>
          <a:prstGeom prst="rect">
            <a:avLst/>
          </a:prstGeom>
          <a:noFill/>
          <a:ln/>
        </p:spPr>
        <p:txBody>
          <a:bodyPr wrap="square" lIns="0" tIns="0" rIns="0" bIns="0" rtlCol="0" anchor="ctr"/>
          <a:lstStyle/>
          <a:p>
            <a:pPr marL="0" indent="0">
              <a:buNone/>
            </a:pPr>
            <a:r>
              <a:rPr lang="en-US" sz="950" b="1" dirty="0">
                <a:solidFill>
                  <a:srgbClr val="172033"/>
                </a:solidFill>
                <a:latin typeface="Calibri" pitchFamily="34" charset="0"/>
                <a:ea typeface="Calibri" pitchFamily="34" charset="-122"/>
                <a:cs typeface="Calibri" pitchFamily="34" charset="-120"/>
              </a:rPr>
              <a:t>87</a:t>
            </a:r>
            <a:endParaRPr lang="en-US" sz="950" dirty="0"/>
          </a:p>
        </p:txBody>
      </p:sp>
      <p:sp>
        <p:nvSpPr>
          <p:cNvPr id="34" name="Text 32"/>
          <p:cNvSpPr/>
          <p:nvPr/>
        </p:nvSpPr>
        <p:spPr>
          <a:xfrm>
            <a:off x="7543800" y="3648456"/>
            <a:ext cx="1417320" cy="274320"/>
          </a:xfrm>
          <a:prstGeom prst="rect">
            <a:avLst/>
          </a:prstGeom>
          <a:noFill/>
          <a:ln/>
        </p:spPr>
        <p:txBody>
          <a:bodyPr wrap="square" lIns="0" tIns="0" rIns="0" bIns="0" rtlCol="0" anchor="ctr"/>
          <a:lstStyle/>
          <a:p>
            <a:pPr marL="0" indent="0">
              <a:buNone/>
            </a:pPr>
            <a:r>
              <a:rPr lang="en-US" sz="950" dirty="0">
                <a:solidFill>
                  <a:srgbClr val="172033"/>
                </a:solidFill>
                <a:latin typeface="Calibri" pitchFamily="34" charset="0"/>
                <a:ea typeface="Calibri" pitchFamily="34" charset="-122"/>
                <a:cs typeface="Calibri" pitchFamily="34" charset="-120"/>
              </a:rPr>
              <a:t>Gen AI</a:t>
            </a:r>
            <a:endParaRPr lang="en-US" sz="950" dirty="0"/>
          </a:p>
        </p:txBody>
      </p:sp>
      <p:sp>
        <p:nvSpPr>
          <p:cNvPr id="35" name="Shape 33"/>
          <p:cNvSpPr/>
          <p:nvPr/>
        </p:nvSpPr>
        <p:spPr>
          <a:xfrm>
            <a:off x="9052560" y="3730752"/>
            <a:ext cx="1463040" cy="118872"/>
          </a:xfrm>
          <a:prstGeom prst="roundRect">
            <a:avLst>
              <a:gd name="adj" fmla="val 50000"/>
            </a:avLst>
          </a:prstGeom>
          <a:solidFill>
            <a:srgbClr val="ECEEF5"/>
          </a:solidFill>
          <a:ln/>
        </p:spPr>
      </p:sp>
      <p:sp>
        <p:nvSpPr>
          <p:cNvPr id="36" name="Shape 34"/>
          <p:cNvSpPr/>
          <p:nvPr/>
        </p:nvSpPr>
        <p:spPr>
          <a:xfrm>
            <a:off x="9052560" y="3730752"/>
            <a:ext cx="1243584" cy="118872"/>
          </a:xfrm>
          <a:prstGeom prst="roundRect">
            <a:avLst>
              <a:gd name="adj" fmla="val 50000"/>
            </a:avLst>
          </a:prstGeom>
          <a:solidFill>
            <a:srgbClr val="4B3BE0"/>
          </a:solidFill>
          <a:ln/>
        </p:spPr>
      </p:sp>
      <p:sp>
        <p:nvSpPr>
          <p:cNvPr id="37" name="Text 35"/>
          <p:cNvSpPr/>
          <p:nvPr/>
        </p:nvSpPr>
        <p:spPr>
          <a:xfrm>
            <a:off x="10652760" y="3648456"/>
            <a:ext cx="548640" cy="274320"/>
          </a:xfrm>
          <a:prstGeom prst="rect">
            <a:avLst/>
          </a:prstGeom>
          <a:noFill/>
          <a:ln/>
        </p:spPr>
        <p:txBody>
          <a:bodyPr wrap="square" lIns="0" tIns="0" rIns="0" bIns="0" rtlCol="0" anchor="ctr"/>
          <a:lstStyle/>
          <a:p>
            <a:pPr marL="0" indent="0">
              <a:buNone/>
            </a:pPr>
            <a:r>
              <a:rPr lang="en-US" sz="950" b="1" dirty="0">
                <a:solidFill>
                  <a:srgbClr val="172033"/>
                </a:solidFill>
                <a:latin typeface="Calibri" pitchFamily="34" charset="0"/>
                <a:ea typeface="Calibri" pitchFamily="34" charset="-122"/>
                <a:cs typeface="Calibri" pitchFamily="34" charset="-120"/>
              </a:rPr>
              <a:t>85</a:t>
            </a:r>
            <a:endParaRPr lang="en-US" sz="950" dirty="0"/>
          </a:p>
        </p:txBody>
      </p:sp>
      <p:sp>
        <p:nvSpPr>
          <p:cNvPr id="38" name="Text 36"/>
          <p:cNvSpPr/>
          <p:nvPr/>
        </p:nvSpPr>
        <p:spPr>
          <a:xfrm>
            <a:off x="7543800" y="4032504"/>
            <a:ext cx="1417320" cy="274320"/>
          </a:xfrm>
          <a:prstGeom prst="rect">
            <a:avLst/>
          </a:prstGeom>
          <a:noFill/>
          <a:ln/>
        </p:spPr>
        <p:txBody>
          <a:bodyPr wrap="square" lIns="0" tIns="0" rIns="0" bIns="0" rtlCol="0" anchor="ctr"/>
          <a:lstStyle/>
          <a:p>
            <a:pPr marL="0" indent="0">
              <a:buNone/>
            </a:pPr>
            <a:r>
              <a:rPr lang="en-US" sz="950" dirty="0">
                <a:solidFill>
                  <a:srgbClr val="172033"/>
                </a:solidFill>
                <a:latin typeface="Calibri" pitchFamily="34" charset="0"/>
                <a:ea typeface="Calibri" pitchFamily="34" charset="-122"/>
                <a:cs typeface="Calibri" pitchFamily="34" charset="-120"/>
              </a:rPr>
              <a:t>Responsible AI</a:t>
            </a:r>
            <a:endParaRPr lang="en-US" sz="950" dirty="0"/>
          </a:p>
        </p:txBody>
      </p:sp>
      <p:sp>
        <p:nvSpPr>
          <p:cNvPr id="39" name="Shape 37"/>
          <p:cNvSpPr/>
          <p:nvPr/>
        </p:nvSpPr>
        <p:spPr>
          <a:xfrm>
            <a:off x="9052560" y="4114800"/>
            <a:ext cx="1463040" cy="118872"/>
          </a:xfrm>
          <a:prstGeom prst="roundRect">
            <a:avLst>
              <a:gd name="adj" fmla="val 50000"/>
            </a:avLst>
          </a:prstGeom>
          <a:solidFill>
            <a:srgbClr val="ECEEF5"/>
          </a:solidFill>
          <a:ln/>
        </p:spPr>
      </p:sp>
      <p:sp>
        <p:nvSpPr>
          <p:cNvPr id="40" name="Shape 38"/>
          <p:cNvSpPr/>
          <p:nvPr/>
        </p:nvSpPr>
        <p:spPr>
          <a:xfrm>
            <a:off x="9052560" y="4114800"/>
            <a:ext cx="1155802" cy="118872"/>
          </a:xfrm>
          <a:prstGeom prst="roundRect">
            <a:avLst>
              <a:gd name="adj" fmla="val 50000"/>
            </a:avLst>
          </a:prstGeom>
          <a:solidFill>
            <a:srgbClr val="4B3BE0"/>
          </a:solidFill>
          <a:ln/>
        </p:spPr>
      </p:sp>
      <p:sp>
        <p:nvSpPr>
          <p:cNvPr id="41" name="Text 39"/>
          <p:cNvSpPr/>
          <p:nvPr/>
        </p:nvSpPr>
        <p:spPr>
          <a:xfrm>
            <a:off x="10652760" y="4032504"/>
            <a:ext cx="548640" cy="274320"/>
          </a:xfrm>
          <a:prstGeom prst="rect">
            <a:avLst/>
          </a:prstGeom>
          <a:noFill/>
          <a:ln/>
        </p:spPr>
        <p:txBody>
          <a:bodyPr wrap="square" lIns="0" tIns="0" rIns="0" bIns="0" rtlCol="0" anchor="ctr"/>
          <a:lstStyle/>
          <a:p>
            <a:pPr marL="0" indent="0">
              <a:buNone/>
            </a:pPr>
            <a:r>
              <a:rPr lang="en-US" sz="950" b="1" dirty="0">
                <a:solidFill>
                  <a:srgbClr val="172033"/>
                </a:solidFill>
                <a:latin typeface="Calibri" pitchFamily="34" charset="0"/>
                <a:ea typeface="Calibri" pitchFamily="34" charset="-122"/>
                <a:cs typeface="Calibri" pitchFamily="34" charset="-120"/>
              </a:rPr>
              <a:t>79</a:t>
            </a:r>
            <a:endParaRPr lang="en-US" sz="950" dirty="0"/>
          </a:p>
        </p:txBody>
      </p:sp>
      <p:sp>
        <p:nvSpPr>
          <p:cNvPr id="42" name="Text 40"/>
          <p:cNvSpPr/>
          <p:nvPr/>
        </p:nvSpPr>
        <p:spPr>
          <a:xfrm>
            <a:off x="7543800" y="5623560"/>
            <a:ext cx="3520440" cy="457200"/>
          </a:xfrm>
          <a:prstGeom prst="rect">
            <a:avLst/>
          </a:prstGeom>
          <a:noFill/>
          <a:ln/>
        </p:spPr>
        <p:txBody>
          <a:bodyPr wrap="square" lIns="0" tIns="0" rIns="0" bIns="0" rtlCol="0" anchor="ctr"/>
          <a:lstStyle/>
          <a:p>
            <a:pPr marL="0" indent="0">
              <a:lnSpc>
                <a:spcPct val="120000"/>
              </a:lnSpc>
              <a:buNone/>
            </a:pPr>
            <a:r>
              <a:rPr lang="en-US" sz="900" i="1" dirty="0">
                <a:solidFill>
                  <a:srgbClr val="697386"/>
                </a:solidFill>
                <a:latin typeface="Calibri" pitchFamily="34" charset="0"/>
                <a:ea typeface="Calibri" pitchFamily="34" charset="-122"/>
                <a:cs typeface="Calibri" pitchFamily="34" charset="-120"/>
              </a:rPr>
              <a:t>IBM Langflow + watsonx Orchestrate + IBM Models-ready architecture</a:t>
            </a:r>
            <a:endParaRPr lang="en-US" sz="900" dirty="0"/>
          </a:p>
        </p:txBody>
      </p:sp>
      <p:sp>
        <p:nvSpPr>
          <p:cNvPr id="43" name="Text 41"/>
          <p:cNvSpPr/>
          <p:nvPr/>
        </p:nvSpPr>
        <p:spPr>
          <a:xfrm>
            <a:off x="457200" y="6473952"/>
            <a:ext cx="3657600" cy="274320"/>
          </a:xfrm>
          <a:prstGeom prst="rect">
            <a:avLst/>
          </a:prstGeom>
          <a:noFill/>
          <a:ln/>
        </p:spPr>
        <p:txBody>
          <a:bodyPr wrap="square" lIns="0" tIns="0" rIns="0" bIns="0" rtlCol="0" anchor="ctr"/>
          <a:lstStyle/>
          <a:p>
            <a:pPr marL="0" indent="0">
              <a:buNone/>
            </a:pPr>
            <a:r>
              <a:rPr lang="en-US" sz="900" dirty="0">
                <a:solidFill>
                  <a:srgbClr val="697386"/>
                </a:solidFill>
                <a:latin typeface="Calibri" pitchFamily="34" charset="0"/>
                <a:ea typeface="Calibri" pitchFamily="34" charset="-122"/>
                <a:cs typeface="Calibri" pitchFamily="34" charset="-120"/>
              </a:rPr>
              <a:t>ContentPulse AI</a:t>
            </a:r>
            <a:endParaRPr lang="en-US" sz="900" dirty="0"/>
          </a:p>
        </p:txBody>
      </p:sp>
      <p:sp>
        <p:nvSpPr>
          <p:cNvPr id="44" name="Text 42"/>
          <p:cNvSpPr/>
          <p:nvPr/>
        </p:nvSpPr>
        <p:spPr>
          <a:xfrm>
            <a:off x="8074152" y="6473952"/>
            <a:ext cx="3657600" cy="274320"/>
          </a:xfrm>
          <a:prstGeom prst="rect">
            <a:avLst/>
          </a:prstGeom>
          <a:noFill/>
          <a:ln/>
        </p:spPr>
        <p:txBody>
          <a:bodyPr wrap="square" lIns="0" tIns="0" rIns="0" bIns="0" rtlCol="0" anchor="ctr"/>
          <a:lstStyle/>
          <a:p>
            <a:pPr marL="0" indent="0" algn="r">
              <a:buNone/>
            </a:pPr>
            <a:r>
              <a:rPr lang="en-US" sz="900" dirty="0">
                <a:solidFill>
                  <a:srgbClr val="697386"/>
                </a:solidFill>
                <a:latin typeface="Calibri" pitchFamily="34" charset="0"/>
                <a:ea typeface="Calibri" pitchFamily="34" charset="-122"/>
                <a:cs typeface="Calibri" pitchFamily="34" charset="-120"/>
              </a:rPr>
              <a:t>03  ·  The Solution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4B3BE0"/>
                </a:solidFill>
                <a:latin typeface="Calibri" pitchFamily="34" charset="0"/>
                <a:ea typeface="Calibri" pitchFamily="34" charset="-122"/>
                <a:cs typeface="Calibri" pitchFamily="34" charset="-120"/>
              </a:rPr>
              <a:t>HOW IT WORKS</a:t>
            </a:r>
            <a:endParaRPr lang="en-US" sz="1200" dirty="0"/>
          </a:p>
        </p:txBody>
      </p:sp>
      <p:sp>
        <p:nvSpPr>
          <p:cNvPr id="3" name="Text 1"/>
          <p:cNvSpPr/>
          <p:nvPr/>
        </p:nvSpPr>
        <p:spPr>
          <a:xfrm>
            <a:off x="548640" y="640080"/>
            <a:ext cx="10515600" cy="685800"/>
          </a:xfrm>
          <a:prstGeom prst="rect">
            <a:avLst/>
          </a:prstGeom>
          <a:noFill/>
          <a:ln/>
        </p:spPr>
        <p:txBody>
          <a:bodyPr wrap="square" lIns="0" tIns="0" rIns="0" bIns="0" rtlCol="0" anchor="ctr"/>
          <a:lstStyle/>
          <a:p>
            <a:pPr marL="0" indent="0">
              <a:buNone/>
            </a:pPr>
            <a:r>
              <a:rPr lang="en-US" sz="3200" b="1" dirty="0">
                <a:solidFill>
                  <a:srgbClr val="172033"/>
                </a:solidFill>
                <a:latin typeface="Cambria" pitchFamily="34" charset="0"/>
                <a:ea typeface="Cambria" pitchFamily="34" charset="-122"/>
                <a:cs typeface="Cambria" pitchFamily="34" charset="-120"/>
              </a:rPr>
              <a:t>From Fragmented Information to Action</a:t>
            </a:r>
            <a:endParaRPr lang="en-US" sz="3200" dirty="0"/>
          </a:p>
        </p:txBody>
      </p:sp>
      <p:sp>
        <p:nvSpPr>
          <p:cNvPr id="4" name="Shape 2"/>
          <p:cNvSpPr/>
          <p:nvPr/>
        </p:nvSpPr>
        <p:spPr>
          <a:xfrm>
            <a:off x="1497787" y="2350008"/>
            <a:ext cx="8617306" cy="0"/>
          </a:xfrm>
          <a:prstGeom prst="line">
            <a:avLst/>
          </a:prstGeom>
          <a:noFill/>
          <a:ln w="25400">
            <a:solidFill>
              <a:srgbClr val="E5E7EF"/>
            </a:solidFill>
            <a:prstDash val="dash"/>
          </a:ln>
        </p:spPr>
      </p:sp>
      <p:sp>
        <p:nvSpPr>
          <p:cNvPr id="5" name="Shape 3"/>
          <p:cNvSpPr/>
          <p:nvPr/>
        </p:nvSpPr>
        <p:spPr>
          <a:xfrm>
            <a:off x="1113739" y="1965960"/>
            <a:ext cx="768096" cy="768096"/>
          </a:xfrm>
          <a:prstGeom prst="ellipse">
            <a:avLst/>
          </a:prstGeom>
          <a:solidFill>
            <a:srgbClr val="4B3BE0"/>
          </a:solidFill>
          <a:ln/>
        </p:spPr>
      </p:sp>
      <p:sp>
        <p:nvSpPr>
          <p:cNvPr id="6" name="Text 4"/>
          <p:cNvSpPr/>
          <p:nvPr/>
        </p:nvSpPr>
        <p:spPr>
          <a:xfrm>
            <a:off x="1113739" y="1965960"/>
            <a:ext cx="768096" cy="768096"/>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a:t>
            </a:r>
            <a:endParaRPr lang="en-US" sz="2800" dirty="0"/>
          </a:p>
        </p:txBody>
      </p:sp>
      <p:sp>
        <p:nvSpPr>
          <p:cNvPr id="7" name="Shape 5"/>
          <p:cNvSpPr/>
          <p:nvPr/>
        </p:nvSpPr>
        <p:spPr>
          <a:xfrm>
            <a:off x="548640" y="2926080"/>
            <a:ext cx="1898294" cy="2240280"/>
          </a:xfrm>
          <a:prstGeom prst="roundRect">
            <a:avLst>
              <a:gd name="adj" fmla="val 4817"/>
            </a:avLst>
          </a:prstGeom>
          <a:solidFill>
            <a:srgbClr val="F6F7FB"/>
          </a:solidFill>
          <a:ln w="9525">
            <a:solidFill>
              <a:srgbClr val="E5E7EF"/>
            </a:solidFill>
            <a:prstDash val="solid"/>
          </a:ln>
        </p:spPr>
      </p:sp>
      <p:sp>
        <p:nvSpPr>
          <p:cNvPr id="8" name="Text 6"/>
          <p:cNvSpPr/>
          <p:nvPr/>
        </p:nvSpPr>
        <p:spPr>
          <a:xfrm>
            <a:off x="1989734" y="3017520"/>
            <a:ext cx="320040" cy="320040"/>
          </a:xfrm>
          <a:prstGeom prst="rect">
            <a:avLst/>
          </a:prstGeom>
          <a:noFill/>
          <a:ln/>
        </p:spPr>
        <p:txBody>
          <a:bodyPr wrap="square" lIns="0" tIns="0" rIns="0" bIns="0" rtlCol="0" anchor="ctr"/>
          <a:lstStyle/>
          <a:p>
            <a:pPr marL="0" indent="0" algn="r">
              <a:buNone/>
            </a:pPr>
            <a:r>
              <a:rPr lang="en-US" sz="1200" b="1" dirty="0">
                <a:solidFill>
                  <a:srgbClr val="E5E7EF"/>
                </a:solidFill>
                <a:latin typeface="Cambria" pitchFamily="34" charset="0"/>
                <a:ea typeface="Cambria" pitchFamily="34" charset="-122"/>
                <a:cs typeface="Cambria" pitchFamily="34" charset="-120"/>
              </a:rPr>
              <a:t>1</a:t>
            </a:r>
            <a:endParaRPr lang="en-US" sz="1200" dirty="0"/>
          </a:p>
        </p:txBody>
      </p:sp>
      <p:sp>
        <p:nvSpPr>
          <p:cNvPr id="9" name="Text 7"/>
          <p:cNvSpPr/>
          <p:nvPr/>
        </p:nvSpPr>
        <p:spPr>
          <a:xfrm>
            <a:off x="685800" y="3200400"/>
            <a:ext cx="1623974" cy="365760"/>
          </a:xfrm>
          <a:prstGeom prst="rect">
            <a:avLst/>
          </a:prstGeom>
          <a:noFill/>
          <a:ln/>
        </p:spPr>
        <p:txBody>
          <a:bodyPr wrap="square" lIns="0" tIns="0" rIns="0" bIns="0" rtlCol="0" anchor="ctr"/>
          <a:lstStyle/>
          <a:p>
            <a:pPr marL="0" indent="0">
              <a:buNone/>
            </a:pPr>
            <a:r>
              <a:rPr lang="en-US" sz="1350" b="1" kern="0" spc="50" dirty="0">
                <a:solidFill>
                  <a:srgbClr val="4B3BE0"/>
                </a:solidFill>
                <a:latin typeface="Calibri" pitchFamily="34" charset="0"/>
                <a:ea typeface="Calibri" pitchFamily="34" charset="-122"/>
                <a:cs typeface="Calibri" pitchFamily="34" charset="-120"/>
              </a:rPr>
              <a:t>COLLECT</a:t>
            </a:r>
            <a:endParaRPr lang="en-US" sz="1350" dirty="0"/>
          </a:p>
        </p:txBody>
      </p:sp>
      <p:sp>
        <p:nvSpPr>
          <p:cNvPr id="10" name="Text 8"/>
          <p:cNvSpPr/>
          <p:nvPr/>
        </p:nvSpPr>
        <p:spPr>
          <a:xfrm>
            <a:off x="685800" y="3566160"/>
            <a:ext cx="1623974" cy="1463040"/>
          </a:xfrm>
          <a:prstGeom prst="rect">
            <a:avLst/>
          </a:prstGeom>
          <a:noFill/>
          <a:ln/>
        </p:spPr>
        <p:txBody>
          <a:bodyPr wrap="square" lIns="0" tIns="0" rIns="0" bIns="0" rtlCol="0" anchor="ctr"/>
          <a:lstStyle/>
          <a:p>
            <a:pPr marL="0" indent="0">
              <a:lnSpc>
                <a:spcPct val="125000"/>
              </a:lnSpc>
              <a:buNone/>
            </a:pPr>
            <a:r>
              <a:rPr lang="en-US" sz="1000" dirty="0">
                <a:solidFill>
                  <a:srgbClr val="697386"/>
                </a:solidFill>
                <a:latin typeface="Calibri" pitchFamily="34" charset="0"/>
                <a:ea typeface="Calibri" pitchFamily="34" charset="-122"/>
                <a:cs typeface="Calibri" pitchFamily="34" charset="-120"/>
              </a:rPr>
              <a:t>News, research, social media and audience feedback.</a:t>
            </a:r>
            <a:endParaRPr lang="en-US" sz="1000" dirty="0"/>
          </a:p>
        </p:txBody>
      </p:sp>
      <p:sp>
        <p:nvSpPr>
          <p:cNvPr id="11" name="Shape 9"/>
          <p:cNvSpPr/>
          <p:nvPr/>
        </p:nvSpPr>
        <p:spPr>
          <a:xfrm>
            <a:off x="3268066" y="1965960"/>
            <a:ext cx="768096" cy="768096"/>
          </a:xfrm>
          <a:prstGeom prst="ellipse">
            <a:avLst/>
          </a:prstGeom>
          <a:solidFill>
            <a:srgbClr val="4B3BE0"/>
          </a:solidFill>
          <a:ln/>
        </p:spPr>
      </p:sp>
      <p:sp>
        <p:nvSpPr>
          <p:cNvPr id="12" name="Text 10"/>
          <p:cNvSpPr/>
          <p:nvPr/>
        </p:nvSpPr>
        <p:spPr>
          <a:xfrm>
            <a:off x="3268066" y="1965960"/>
            <a:ext cx="768096" cy="768096"/>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a:t>
            </a:r>
            <a:endParaRPr lang="en-US" sz="2800" dirty="0"/>
          </a:p>
        </p:txBody>
      </p:sp>
      <p:sp>
        <p:nvSpPr>
          <p:cNvPr id="13" name="Shape 11"/>
          <p:cNvSpPr/>
          <p:nvPr/>
        </p:nvSpPr>
        <p:spPr>
          <a:xfrm>
            <a:off x="2702966" y="2926080"/>
            <a:ext cx="1898294" cy="2240280"/>
          </a:xfrm>
          <a:prstGeom prst="roundRect">
            <a:avLst>
              <a:gd name="adj" fmla="val 4817"/>
            </a:avLst>
          </a:prstGeom>
          <a:solidFill>
            <a:srgbClr val="F6F7FB"/>
          </a:solidFill>
          <a:ln w="9525">
            <a:solidFill>
              <a:srgbClr val="E5E7EF"/>
            </a:solidFill>
            <a:prstDash val="solid"/>
          </a:ln>
        </p:spPr>
      </p:sp>
      <p:sp>
        <p:nvSpPr>
          <p:cNvPr id="14" name="Text 12"/>
          <p:cNvSpPr/>
          <p:nvPr/>
        </p:nvSpPr>
        <p:spPr>
          <a:xfrm>
            <a:off x="4144061" y="3017520"/>
            <a:ext cx="320040" cy="320040"/>
          </a:xfrm>
          <a:prstGeom prst="rect">
            <a:avLst/>
          </a:prstGeom>
          <a:noFill/>
          <a:ln/>
        </p:spPr>
        <p:txBody>
          <a:bodyPr wrap="square" lIns="0" tIns="0" rIns="0" bIns="0" rtlCol="0" anchor="ctr"/>
          <a:lstStyle/>
          <a:p>
            <a:pPr marL="0" indent="0" algn="r">
              <a:buNone/>
            </a:pPr>
            <a:r>
              <a:rPr lang="en-US" sz="1200" b="1" dirty="0">
                <a:solidFill>
                  <a:srgbClr val="E5E7EF"/>
                </a:solidFill>
                <a:latin typeface="Cambria" pitchFamily="34" charset="0"/>
                <a:ea typeface="Cambria" pitchFamily="34" charset="-122"/>
                <a:cs typeface="Cambria" pitchFamily="34" charset="-120"/>
              </a:rPr>
              <a:t>2</a:t>
            </a:r>
            <a:endParaRPr lang="en-US" sz="1200" dirty="0"/>
          </a:p>
        </p:txBody>
      </p:sp>
      <p:sp>
        <p:nvSpPr>
          <p:cNvPr id="15" name="Text 13"/>
          <p:cNvSpPr/>
          <p:nvPr/>
        </p:nvSpPr>
        <p:spPr>
          <a:xfrm>
            <a:off x="2840126" y="3200400"/>
            <a:ext cx="1623974" cy="365760"/>
          </a:xfrm>
          <a:prstGeom prst="rect">
            <a:avLst/>
          </a:prstGeom>
          <a:noFill/>
          <a:ln/>
        </p:spPr>
        <p:txBody>
          <a:bodyPr wrap="square" lIns="0" tIns="0" rIns="0" bIns="0" rtlCol="0" anchor="ctr"/>
          <a:lstStyle/>
          <a:p>
            <a:pPr marL="0" indent="0">
              <a:buNone/>
            </a:pPr>
            <a:r>
              <a:rPr lang="en-US" sz="1350" b="1" kern="0" spc="50" dirty="0">
                <a:solidFill>
                  <a:srgbClr val="4B3BE0"/>
                </a:solidFill>
                <a:latin typeface="Calibri" pitchFamily="34" charset="0"/>
                <a:ea typeface="Calibri" pitchFamily="34" charset="-122"/>
                <a:cs typeface="Calibri" pitchFamily="34" charset="-120"/>
              </a:rPr>
              <a:t>SYNTHESIZE</a:t>
            </a:r>
            <a:endParaRPr lang="en-US" sz="1350" dirty="0"/>
          </a:p>
        </p:txBody>
      </p:sp>
      <p:sp>
        <p:nvSpPr>
          <p:cNvPr id="16" name="Text 14"/>
          <p:cNvSpPr/>
          <p:nvPr/>
        </p:nvSpPr>
        <p:spPr>
          <a:xfrm>
            <a:off x="2840126" y="3566160"/>
            <a:ext cx="1623974" cy="1463040"/>
          </a:xfrm>
          <a:prstGeom prst="rect">
            <a:avLst/>
          </a:prstGeom>
          <a:noFill/>
          <a:ln/>
        </p:spPr>
        <p:txBody>
          <a:bodyPr wrap="square" lIns="0" tIns="0" rIns="0" bIns="0" rtlCol="0" anchor="ctr"/>
          <a:lstStyle/>
          <a:p>
            <a:pPr marL="0" indent="0">
              <a:lnSpc>
                <a:spcPct val="125000"/>
              </a:lnSpc>
              <a:buNone/>
            </a:pPr>
            <a:r>
              <a:rPr lang="en-US" sz="1000" dirty="0">
                <a:solidFill>
                  <a:srgbClr val="697386"/>
                </a:solidFill>
                <a:latin typeface="Calibri" pitchFamily="34" charset="0"/>
                <a:ea typeface="Calibri" pitchFamily="34" charset="-122"/>
                <a:cs typeface="Calibri" pitchFamily="34" charset="-120"/>
              </a:rPr>
              <a:t>Combine scattered information into one intelligence layer.</a:t>
            </a:r>
            <a:endParaRPr lang="en-US" sz="1000" dirty="0"/>
          </a:p>
        </p:txBody>
      </p:sp>
      <p:sp>
        <p:nvSpPr>
          <p:cNvPr id="17" name="Shape 15"/>
          <p:cNvSpPr/>
          <p:nvPr/>
        </p:nvSpPr>
        <p:spPr>
          <a:xfrm>
            <a:off x="5422392" y="1965960"/>
            <a:ext cx="768096" cy="768096"/>
          </a:xfrm>
          <a:prstGeom prst="ellipse">
            <a:avLst/>
          </a:prstGeom>
          <a:solidFill>
            <a:srgbClr val="4B3BE0"/>
          </a:solidFill>
          <a:ln/>
        </p:spPr>
      </p:sp>
      <p:sp>
        <p:nvSpPr>
          <p:cNvPr id="18" name="Text 16"/>
          <p:cNvSpPr/>
          <p:nvPr/>
        </p:nvSpPr>
        <p:spPr>
          <a:xfrm>
            <a:off x="5422392" y="1965960"/>
            <a:ext cx="768096" cy="768096"/>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a:t>
            </a:r>
            <a:endParaRPr lang="en-US" sz="2800" dirty="0"/>
          </a:p>
        </p:txBody>
      </p:sp>
      <p:sp>
        <p:nvSpPr>
          <p:cNvPr id="19" name="Shape 17"/>
          <p:cNvSpPr/>
          <p:nvPr/>
        </p:nvSpPr>
        <p:spPr>
          <a:xfrm>
            <a:off x="4857293" y="2926080"/>
            <a:ext cx="1898294" cy="2240280"/>
          </a:xfrm>
          <a:prstGeom prst="roundRect">
            <a:avLst>
              <a:gd name="adj" fmla="val 4817"/>
            </a:avLst>
          </a:prstGeom>
          <a:solidFill>
            <a:srgbClr val="F6F7FB"/>
          </a:solidFill>
          <a:ln w="9525">
            <a:solidFill>
              <a:srgbClr val="E5E7EF"/>
            </a:solidFill>
            <a:prstDash val="solid"/>
          </a:ln>
        </p:spPr>
      </p:sp>
      <p:sp>
        <p:nvSpPr>
          <p:cNvPr id="20" name="Text 18"/>
          <p:cNvSpPr/>
          <p:nvPr/>
        </p:nvSpPr>
        <p:spPr>
          <a:xfrm>
            <a:off x="6298387" y="3017520"/>
            <a:ext cx="320040" cy="320040"/>
          </a:xfrm>
          <a:prstGeom prst="rect">
            <a:avLst/>
          </a:prstGeom>
          <a:noFill/>
          <a:ln/>
        </p:spPr>
        <p:txBody>
          <a:bodyPr wrap="square" lIns="0" tIns="0" rIns="0" bIns="0" rtlCol="0" anchor="ctr"/>
          <a:lstStyle/>
          <a:p>
            <a:pPr marL="0" indent="0" algn="r">
              <a:buNone/>
            </a:pPr>
            <a:r>
              <a:rPr lang="en-US" sz="1200" b="1" dirty="0">
                <a:solidFill>
                  <a:srgbClr val="E5E7EF"/>
                </a:solidFill>
                <a:latin typeface="Cambria" pitchFamily="34" charset="0"/>
                <a:ea typeface="Cambria" pitchFamily="34" charset="-122"/>
                <a:cs typeface="Cambria" pitchFamily="34" charset="-120"/>
              </a:rPr>
              <a:t>3</a:t>
            </a:r>
            <a:endParaRPr lang="en-US" sz="1200" dirty="0"/>
          </a:p>
        </p:txBody>
      </p:sp>
      <p:sp>
        <p:nvSpPr>
          <p:cNvPr id="21" name="Text 19"/>
          <p:cNvSpPr/>
          <p:nvPr/>
        </p:nvSpPr>
        <p:spPr>
          <a:xfrm>
            <a:off x="4994453" y="3200400"/>
            <a:ext cx="1623974" cy="365760"/>
          </a:xfrm>
          <a:prstGeom prst="rect">
            <a:avLst/>
          </a:prstGeom>
          <a:noFill/>
          <a:ln/>
        </p:spPr>
        <p:txBody>
          <a:bodyPr wrap="square" lIns="0" tIns="0" rIns="0" bIns="0" rtlCol="0" anchor="ctr"/>
          <a:lstStyle/>
          <a:p>
            <a:pPr marL="0" indent="0">
              <a:buNone/>
            </a:pPr>
            <a:r>
              <a:rPr lang="en-US" sz="1350" b="1" kern="0" spc="50" dirty="0">
                <a:solidFill>
                  <a:srgbClr val="4B3BE0"/>
                </a:solidFill>
                <a:latin typeface="Calibri" pitchFamily="34" charset="0"/>
                <a:ea typeface="Calibri" pitchFamily="34" charset="-122"/>
                <a:cs typeface="Calibri" pitchFamily="34" charset="-120"/>
              </a:rPr>
              <a:t>ANALYZE</a:t>
            </a:r>
            <a:endParaRPr lang="en-US" sz="1350" dirty="0"/>
          </a:p>
        </p:txBody>
      </p:sp>
      <p:sp>
        <p:nvSpPr>
          <p:cNvPr id="22" name="Text 20"/>
          <p:cNvSpPr/>
          <p:nvPr/>
        </p:nvSpPr>
        <p:spPr>
          <a:xfrm>
            <a:off x="4994453" y="3566160"/>
            <a:ext cx="1623974" cy="1463040"/>
          </a:xfrm>
          <a:prstGeom prst="rect">
            <a:avLst/>
          </a:prstGeom>
          <a:noFill/>
          <a:ln/>
        </p:spPr>
        <p:txBody>
          <a:bodyPr wrap="square" lIns="0" tIns="0" rIns="0" bIns="0" rtlCol="0" anchor="ctr"/>
          <a:lstStyle/>
          <a:p>
            <a:pPr marL="0" indent="0">
              <a:lnSpc>
                <a:spcPct val="125000"/>
              </a:lnSpc>
              <a:buNone/>
            </a:pPr>
            <a:r>
              <a:rPr lang="en-US" sz="1000" dirty="0">
                <a:solidFill>
                  <a:srgbClr val="697386"/>
                </a:solidFill>
                <a:latin typeface="Calibri" pitchFamily="34" charset="0"/>
                <a:ea typeface="Calibri" pitchFamily="34" charset="-122"/>
                <a:cs typeface="Calibri" pitchFamily="34" charset="-120"/>
              </a:rPr>
              <a:t>Surface themes, sentiment and content opportunities.</a:t>
            </a:r>
            <a:endParaRPr lang="en-US" sz="1000" dirty="0"/>
          </a:p>
        </p:txBody>
      </p:sp>
      <p:sp>
        <p:nvSpPr>
          <p:cNvPr id="23" name="Shape 21"/>
          <p:cNvSpPr/>
          <p:nvPr/>
        </p:nvSpPr>
        <p:spPr>
          <a:xfrm>
            <a:off x="7576718" y="1965960"/>
            <a:ext cx="768096" cy="768096"/>
          </a:xfrm>
          <a:prstGeom prst="ellipse">
            <a:avLst/>
          </a:prstGeom>
          <a:solidFill>
            <a:srgbClr val="4B3BE0"/>
          </a:solidFill>
          <a:ln/>
        </p:spPr>
      </p:sp>
      <p:sp>
        <p:nvSpPr>
          <p:cNvPr id="24" name="Text 22"/>
          <p:cNvSpPr/>
          <p:nvPr/>
        </p:nvSpPr>
        <p:spPr>
          <a:xfrm>
            <a:off x="7576718" y="1965960"/>
            <a:ext cx="768096" cy="768096"/>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a:t>
            </a:r>
            <a:endParaRPr lang="en-US" sz="2800" dirty="0"/>
          </a:p>
        </p:txBody>
      </p:sp>
      <p:sp>
        <p:nvSpPr>
          <p:cNvPr id="25" name="Shape 23"/>
          <p:cNvSpPr/>
          <p:nvPr/>
        </p:nvSpPr>
        <p:spPr>
          <a:xfrm>
            <a:off x="7011619" y="2926080"/>
            <a:ext cx="1898294" cy="2240280"/>
          </a:xfrm>
          <a:prstGeom prst="roundRect">
            <a:avLst>
              <a:gd name="adj" fmla="val 4817"/>
            </a:avLst>
          </a:prstGeom>
          <a:solidFill>
            <a:srgbClr val="F6F7FB"/>
          </a:solidFill>
          <a:ln w="9525">
            <a:solidFill>
              <a:srgbClr val="E5E7EF"/>
            </a:solidFill>
            <a:prstDash val="solid"/>
          </a:ln>
        </p:spPr>
      </p:sp>
      <p:sp>
        <p:nvSpPr>
          <p:cNvPr id="26" name="Text 24"/>
          <p:cNvSpPr/>
          <p:nvPr/>
        </p:nvSpPr>
        <p:spPr>
          <a:xfrm>
            <a:off x="8452714" y="3017520"/>
            <a:ext cx="320040" cy="320040"/>
          </a:xfrm>
          <a:prstGeom prst="rect">
            <a:avLst/>
          </a:prstGeom>
          <a:noFill/>
          <a:ln/>
        </p:spPr>
        <p:txBody>
          <a:bodyPr wrap="square" lIns="0" tIns="0" rIns="0" bIns="0" rtlCol="0" anchor="ctr"/>
          <a:lstStyle/>
          <a:p>
            <a:pPr marL="0" indent="0" algn="r">
              <a:buNone/>
            </a:pPr>
            <a:r>
              <a:rPr lang="en-US" sz="1200" b="1" dirty="0">
                <a:solidFill>
                  <a:srgbClr val="E5E7EF"/>
                </a:solidFill>
                <a:latin typeface="Cambria" pitchFamily="34" charset="0"/>
                <a:ea typeface="Cambria" pitchFamily="34" charset="-122"/>
                <a:cs typeface="Cambria" pitchFamily="34" charset="-120"/>
              </a:rPr>
              <a:t>4</a:t>
            </a:r>
            <a:endParaRPr lang="en-US" sz="1200" dirty="0"/>
          </a:p>
        </p:txBody>
      </p:sp>
      <p:sp>
        <p:nvSpPr>
          <p:cNvPr id="27" name="Text 25"/>
          <p:cNvSpPr/>
          <p:nvPr/>
        </p:nvSpPr>
        <p:spPr>
          <a:xfrm>
            <a:off x="7148779" y="3200400"/>
            <a:ext cx="1623974" cy="365760"/>
          </a:xfrm>
          <a:prstGeom prst="rect">
            <a:avLst/>
          </a:prstGeom>
          <a:noFill/>
          <a:ln/>
        </p:spPr>
        <p:txBody>
          <a:bodyPr wrap="square" lIns="0" tIns="0" rIns="0" bIns="0" rtlCol="0" anchor="ctr"/>
          <a:lstStyle/>
          <a:p>
            <a:pPr marL="0" indent="0">
              <a:buNone/>
            </a:pPr>
            <a:r>
              <a:rPr lang="en-US" sz="1350" b="1" kern="0" spc="50" dirty="0">
                <a:solidFill>
                  <a:srgbClr val="4B3BE0"/>
                </a:solidFill>
                <a:latin typeface="Calibri" pitchFamily="34" charset="0"/>
                <a:ea typeface="Calibri" pitchFamily="34" charset="-122"/>
                <a:cs typeface="Calibri" pitchFamily="34" charset="-120"/>
              </a:rPr>
              <a:t>PREDICT</a:t>
            </a:r>
            <a:endParaRPr lang="en-US" sz="1350" dirty="0"/>
          </a:p>
        </p:txBody>
      </p:sp>
      <p:sp>
        <p:nvSpPr>
          <p:cNvPr id="28" name="Text 26"/>
          <p:cNvSpPr/>
          <p:nvPr/>
        </p:nvSpPr>
        <p:spPr>
          <a:xfrm>
            <a:off x="7148779" y="3566160"/>
            <a:ext cx="1623974" cy="1463040"/>
          </a:xfrm>
          <a:prstGeom prst="rect">
            <a:avLst/>
          </a:prstGeom>
          <a:noFill/>
          <a:ln/>
        </p:spPr>
        <p:txBody>
          <a:bodyPr wrap="square" lIns="0" tIns="0" rIns="0" bIns="0" rtlCol="0" anchor="ctr"/>
          <a:lstStyle/>
          <a:p>
            <a:pPr marL="0" indent="0">
              <a:lnSpc>
                <a:spcPct val="125000"/>
              </a:lnSpc>
              <a:buNone/>
            </a:pPr>
            <a:r>
              <a:rPr lang="en-US" sz="1000" dirty="0">
                <a:solidFill>
                  <a:srgbClr val="697386"/>
                </a:solidFill>
                <a:latin typeface="Calibri" pitchFamily="34" charset="0"/>
                <a:ea typeface="Calibri" pitchFamily="34" charset="-122"/>
                <a:cs typeface="Calibri" pitchFamily="34" charset="-120"/>
              </a:rPr>
              <a:t>Forecast trends, audience reach and best timing.</a:t>
            </a:r>
            <a:endParaRPr lang="en-US" sz="1000" dirty="0"/>
          </a:p>
        </p:txBody>
      </p:sp>
      <p:sp>
        <p:nvSpPr>
          <p:cNvPr id="29" name="Shape 27"/>
          <p:cNvSpPr/>
          <p:nvPr/>
        </p:nvSpPr>
        <p:spPr>
          <a:xfrm>
            <a:off x="9731045" y="1965960"/>
            <a:ext cx="768096" cy="768096"/>
          </a:xfrm>
          <a:prstGeom prst="ellipse">
            <a:avLst/>
          </a:prstGeom>
          <a:solidFill>
            <a:srgbClr val="06B6D4"/>
          </a:solidFill>
          <a:ln/>
        </p:spPr>
      </p:sp>
      <p:sp>
        <p:nvSpPr>
          <p:cNvPr id="30" name="Text 28"/>
          <p:cNvSpPr/>
          <p:nvPr/>
        </p:nvSpPr>
        <p:spPr>
          <a:xfrm>
            <a:off x="9731045" y="1965960"/>
            <a:ext cx="768096" cy="768096"/>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a:t>
            </a:r>
            <a:endParaRPr lang="en-US" sz="2800" dirty="0"/>
          </a:p>
        </p:txBody>
      </p:sp>
      <p:sp>
        <p:nvSpPr>
          <p:cNvPr id="31" name="Shape 29"/>
          <p:cNvSpPr/>
          <p:nvPr/>
        </p:nvSpPr>
        <p:spPr>
          <a:xfrm>
            <a:off x="9165946" y="2926080"/>
            <a:ext cx="1898294" cy="2240280"/>
          </a:xfrm>
          <a:prstGeom prst="roundRect">
            <a:avLst>
              <a:gd name="adj" fmla="val 4817"/>
            </a:avLst>
          </a:prstGeom>
          <a:solidFill>
            <a:srgbClr val="F6F7FB"/>
          </a:solidFill>
          <a:ln w="9525">
            <a:solidFill>
              <a:srgbClr val="E5E7EF"/>
            </a:solidFill>
            <a:prstDash val="solid"/>
          </a:ln>
        </p:spPr>
      </p:sp>
      <p:sp>
        <p:nvSpPr>
          <p:cNvPr id="32" name="Text 30"/>
          <p:cNvSpPr/>
          <p:nvPr/>
        </p:nvSpPr>
        <p:spPr>
          <a:xfrm>
            <a:off x="10607040" y="3017520"/>
            <a:ext cx="320040" cy="320040"/>
          </a:xfrm>
          <a:prstGeom prst="rect">
            <a:avLst/>
          </a:prstGeom>
          <a:noFill/>
          <a:ln/>
        </p:spPr>
        <p:txBody>
          <a:bodyPr wrap="square" lIns="0" tIns="0" rIns="0" bIns="0" rtlCol="0" anchor="ctr"/>
          <a:lstStyle/>
          <a:p>
            <a:pPr marL="0" indent="0" algn="r">
              <a:buNone/>
            </a:pPr>
            <a:r>
              <a:rPr lang="en-US" sz="1200" b="1" dirty="0">
                <a:solidFill>
                  <a:srgbClr val="E5E7EF"/>
                </a:solidFill>
                <a:latin typeface="Cambria" pitchFamily="34" charset="0"/>
                <a:ea typeface="Cambria" pitchFamily="34" charset="-122"/>
                <a:cs typeface="Cambria" pitchFamily="34" charset="-120"/>
              </a:rPr>
              <a:t>5</a:t>
            </a:r>
            <a:endParaRPr lang="en-US" sz="1200" dirty="0"/>
          </a:p>
        </p:txBody>
      </p:sp>
      <p:sp>
        <p:nvSpPr>
          <p:cNvPr id="33" name="Text 31"/>
          <p:cNvSpPr/>
          <p:nvPr/>
        </p:nvSpPr>
        <p:spPr>
          <a:xfrm>
            <a:off x="9303106" y="3200400"/>
            <a:ext cx="1623974" cy="365760"/>
          </a:xfrm>
          <a:prstGeom prst="rect">
            <a:avLst/>
          </a:prstGeom>
          <a:noFill/>
          <a:ln/>
        </p:spPr>
        <p:txBody>
          <a:bodyPr wrap="square" lIns="0" tIns="0" rIns="0" bIns="0" rtlCol="0" anchor="ctr"/>
          <a:lstStyle/>
          <a:p>
            <a:pPr marL="0" indent="0">
              <a:buNone/>
            </a:pPr>
            <a:r>
              <a:rPr lang="en-US" sz="1350" b="1" kern="0" spc="50" dirty="0">
                <a:solidFill>
                  <a:srgbClr val="4B3BE0"/>
                </a:solidFill>
                <a:latin typeface="Calibri" pitchFamily="34" charset="0"/>
                <a:ea typeface="Calibri" pitchFamily="34" charset="-122"/>
                <a:cs typeface="Calibri" pitchFamily="34" charset="-120"/>
              </a:rPr>
              <a:t>RECOMMEND</a:t>
            </a:r>
            <a:endParaRPr lang="en-US" sz="1350" dirty="0"/>
          </a:p>
        </p:txBody>
      </p:sp>
      <p:sp>
        <p:nvSpPr>
          <p:cNvPr id="34" name="Text 32"/>
          <p:cNvSpPr/>
          <p:nvPr/>
        </p:nvSpPr>
        <p:spPr>
          <a:xfrm>
            <a:off x="9303106" y="3566160"/>
            <a:ext cx="1623974" cy="1463040"/>
          </a:xfrm>
          <a:prstGeom prst="rect">
            <a:avLst/>
          </a:prstGeom>
          <a:noFill/>
          <a:ln/>
        </p:spPr>
        <p:txBody>
          <a:bodyPr wrap="square" lIns="0" tIns="0" rIns="0" bIns="0" rtlCol="0" anchor="ctr"/>
          <a:lstStyle/>
          <a:p>
            <a:pPr marL="0" indent="0">
              <a:lnSpc>
                <a:spcPct val="125000"/>
              </a:lnSpc>
              <a:buNone/>
            </a:pPr>
            <a:r>
              <a:rPr lang="en-US" sz="1000" dirty="0">
                <a:solidFill>
                  <a:srgbClr val="697386"/>
                </a:solidFill>
                <a:latin typeface="Calibri" pitchFamily="34" charset="0"/>
                <a:ea typeface="Calibri" pitchFamily="34" charset="-122"/>
                <a:cs typeface="Calibri" pitchFamily="34" charset="-120"/>
              </a:rPr>
              <a:t>Suggest topics, titles, structure and hashtags.</a:t>
            </a:r>
            <a:endParaRPr lang="en-US" sz="1000" dirty="0"/>
          </a:p>
        </p:txBody>
      </p:sp>
      <p:sp>
        <p:nvSpPr>
          <p:cNvPr id="35" name="Shape 33"/>
          <p:cNvSpPr/>
          <p:nvPr/>
        </p:nvSpPr>
        <p:spPr>
          <a:xfrm>
            <a:off x="548640" y="5577840"/>
            <a:ext cx="10515600" cy="685800"/>
          </a:xfrm>
          <a:prstGeom prst="roundRect">
            <a:avLst>
              <a:gd name="adj" fmla="val 13333"/>
            </a:avLst>
          </a:prstGeom>
          <a:solidFill>
            <a:srgbClr val="1B1440"/>
          </a:solidFill>
          <a:ln/>
        </p:spPr>
      </p:sp>
      <p:sp>
        <p:nvSpPr>
          <p:cNvPr id="36" name="Text 34"/>
          <p:cNvSpPr/>
          <p:nvPr/>
        </p:nvSpPr>
        <p:spPr>
          <a:xfrm>
            <a:off x="777240" y="5577840"/>
            <a:ext cx="10058400" cy="685800"/>
          </a:xfrm>
          <a:prstGeom prst="rect">
            <a:avLst/>
          </a:prstGeom>
          <a:noFill/>
          <a:ln/>
        </p:spPr>
        <p:txBody>
          <a:bodyPr wrap="square" lIns="0" tIns="0" rIns="0" bIns="0" rtlCol="0" anchor="ctr"/>
          <a:lstStyle/>
          <a:p>
            <a:pPr marL="0" indent="0">
              <a:buNone/>
            </a:pPr>
            <a:r>
              <a:rPr lang="en-US" sz="1200" b="1" dirty="0">
                <a:solidFill>
                  <a:srgbClr val="06B6D4"/>
                </a:solidFill>
                <a:latin typeface="Calibri" pitchFamily="34" charset="0"/>
                <a:ea typeface="Calibri" pitchFamily="34" charset="-122"/>
                <a:cs typeface="Calibri" pitchFamily="34" charset="-120"/>
              </a:rPr>
              <a:t>Agentic layer:  </a:t>
            </a:r>
            <a:r>
              <a:rPr lang="en-US" sz="1200" dirty="0">
                <a:solidFill>
                  <a:srgbClr val="E7E8FA"/>
                </a:solidFill>
                <a:latin typeface="Calibri" pitchFamily="34" charset="0"/>
                <a:ea typeface="Calibri" pitchFamily="34" charset="-122"/>
                <a:cs typeface="Calibri" pitchFamily="34" charset="-120"/>
              </a:rPr>
              <a:t>each stage runs as an orchestrated agent step in IBM watsonx Orchestrate, powered by IBM Langflow pipelines and IBM Models.</a:t>
            </a:r>
            <a:endParaRPr lang="en-US" sz="1200" dirty="0"/>
          </a:p>
        </p:txBody>
      </p:sp>
      <p:sp>
        <p:nvSpPr>
          <p:cNvPr id="37" name="Text 35"/>
          <p:cNvSpPr/>
          <p:nvPr/>
        </p:nvSpPr>
        <p:spPr>
          <a:xfrm>
            <a:off x="457200" y="6473952"/>
            <a:ext cx="3657600" cy="274320"/>
          </a:xfrm>
          <a:prstGeom prst="rect">
            <a:avLst/>
          </a:prstGeom>
          <a:noFill/>
          <a:ln/>
        </p:spPr>
        <p:txBody>
          <a:bodyPr wrap="square" lIns="0" tIns="0" rIns="0" bIns="0" rtlCol="0" anchor="ctr"/>
          <a:lstStyle/>
          <a:p>
            <a:pPr marL="0" indent="0">
              <a:buNone/>
            </a:pPr>
            <a:r>
              <a:rPr lang="en-US" sz="900" dirty="0">
                <a:solidFill>
                  <a:srgbClr val="697386"/>
                </a:solidFill>
                <a:latin typeface="Calibri" pitchFamily="34" charset="0"/>
                <a:ea typeface="Calibri" pitchFamily="34" charset="-122"/>
                <a:cs typeface="Calibri" pitchFamily="34" charset="-120"/>
              </a:rPr>
              <a:t>ContentPulse AI</a:t>
            </a:r>
            <a:endParaRPr lang="en-US" sz="900" dirty="0"/>
          </a:p>
        </p:txBody>
      </p:sp>
      <p:sp>
        <p:nvSpPr>
          <p:cNvPr id="38" name="Text 36"/>
          <p:cNvSpPr/>
          <p:nvPr/>
        </p:nvSpPr>
        <p:spPr>
          <a:xfrm>
            <a:off x="8074152" y="6473952"/>
            <a:ext cx="3657600" cy="274320"/>
          </a:xfrm>
          <a:prstGeom prst="rect">
            <a:avLst/>
          </a:prstGeom>
          <a:noFill/>
          <a:ln/>
        </p:spPr>
        <p:txBody>
          <a:bodyPr wrap="square" lIns="0" tIns="0" rIns="0" bIns="0" rtlCol="0" anchor="ctr"/>
          <a:lstStyle/>
          <a:p>
            <a:pPr marL="0" indent="0" algn="r">
              <a:buNone/>
            </a:pPr>
            <a:r>
              <a:rPr lang="en-US" sz="900" dirty="0">
                <a:solidFill>
                  <a:srgbClr val="697386"/>
                </a:solidFill>
                <a:latin typeface="Calibri" pitchFamily="34" charset="0"/>
                <a:ea typeface="Calibri" pitchFamily="34" charset="-122"/>
                <a:cs typeface="Calibri" pitchFamily="34" charset="-120"/>
              </a:rPr>
              <a:t>04  ·  How It Works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4B3BE0"/>
                </a:solidFill>
                <a:latin typeface="Calibri" pitchFamily="34" charset="0"/>
                <a:ea typeface="Calibri" pitchFamily="34" charset="-122"/>
                <a:cs typeface="Calibri" pitchFamily="34" charset="-120"/>
              </a:rPr>
              <a:t>FEATURE 01</a:t>
            </a:r>
            <a:endParaRPr lang="en-US" sz="1200" dirty="0"/>
          </a:p>
        </p:txBody>
      </p:sp>
      <p:sp>
        <p:nvSpPr>
          <p:cNvPr id="3" name="Text 1"/>
          <p:cNvSpPr/>
          <p:nvPr/>
        </p:nvSpPr>
        <p:spPr>
          <a:xfrm>
            <a:off x="548640" y="640080"/>
            <a:ext cx="10515600" cy="685800"/>
          </a:xfrm>
          <a:prstGeom prst="rect">
            <a:avLst/>
          </a:prstGeom>
          <a:noFill/>
          <a:ln/>
        </p:spPr>
        <p:txBody>
          <a:bodyPr wrap="square" lIns="0" tIns="0" rIns="0" bIns="0" rtlCol="0" anchor="ctr"/>
          <a:lstStyle/>
          <a:p>
            <a:pPr marL="0" indent="0">
              <a:buNone/>
            </a:pPr>
            <a:r>
              <a:rPr lang="en-US" sz="3200" b="1" dirty="0">
                <a:solidFill>
                  <a:srgbClr val="172033"/>
                </a:solidFill>
                <a:latin typeface="Cambria" pitchFamily="34" charset="0"/>
                <a:ea typeface="Cambria" pitchFamily="34" charset="-122"/>
                <a:cs typeface="Cambria" pitchFamily="34" charset="-120"/>
              </a:rPr>
              <a:t>AI Writer — Content Intelligence Assistant</a:t>
            </a:r>
            <a:endParaRPr lang="en-US" sz="3200" dirty="0"/>
          </a:p>
        </p:txBody>
      </p:sp>
      <p:sp>
        <p:nvSpPr>
          <p:cNvPr id="4" name="Text 2"/>
          <p:cNvSpPr/>
          <p:nvPr/>
        </p:nvSpPr>
        <p:spPr>
          <a:xfrm>
            <a:off x="548640" y="1417320"/>
            <a:ext cx="5852160" cy="640080"/>
          </a:xfrm>
          <a:prstGeom prst="rect">
            <a:avLst/>
          </a:prstGeom>
          <a:noFill/>
          <a:ln/>
        </p:spPr>
        <p:txBody>
          <a:bodyPr wrap="square" lIns="0" tIns="0" rIns="0" bIns="0" rtlCol="0" anchor="ctr"/>
          <a:lstStyle/>
          <a:p>
            <a:pPr marL="0" indent="0">
              <a:lnSpc>
                <a:spcPct val="130000"/>
              </a:lnSpc>
              <a:buNone/>
            </a:pPr>
            <a:r>
              <a:rPr lang="en-US" sz="1300" dirty="0">
                <a:solidFill>
                  <a:srgbClr val="697386"/>
                </a:solidFill>
                <a:latin typeface="Calibri" pitchFamily="34" charset="0"/>
                <a:ea typeface="Calibri" pitchFamily="34" charset="-122"/>
                <a:cs typeface="Calibri" pitchFamily="34" charset="-120"/>
              </a:rPr>
              <a:t>A conversational workspace where writers hand off a topic, research notes or audience feedback — and get back structured, actionable guidance.</a:t>
            </a:r>
            <a:endParaRPr lang="en-US" sz="1300" dirty="0"/>
          </a:p>
        </p:txBody>
      </p:sp>
      <p:sp>
        <p:nvSpPr>
          <p:cNvPr id="5" name="Shape 3"/>
          <p:cNvSpPr/>
          <p:nvPr/>
        </p:nvSpPr>
        <p:spPr>
          <a:xfrm>
            <a:off x="548640" y="2331720"/>
            <a:ext cx="420624" cy="420624"/>
          </a:xfrm>
          <a:prstGeom prst="ellipse">
            <a:avLst/>
          </a:prstGeom>
          <a:solidFill>
            <a:srgbClr val="F0EEFF"/>
          </a:solidFill>
          <a:ln/>
        </p:spPr>
      </p:sp>
      <p:sp>
        <p:nvSpPr>
          <p:cNvPr id="6" name="Text 4"/>
          <p:cNvSpPr/>
          <p:nvPr/>
        </p:nvSpPr>
        <p:spPr>
          <a:xfrm>
            <a:off x="548640" y="2331720"/>
            <a:ext cx="420624" cy="420624"/>
          </a:xfrm>
          <a:prstGeom prst="rect">
            <a:avLst/>
          </a:prstGeom>
          <a:noFill/>
          <a:ln/>
        </p:spPr>
        <p:txBody>
          <a:bodyPr wrap="square" lIns="0" tIns="0" rIns="0" bIns="0" rtlCol="0" anchor="ctr"/>
          <a:lstStyle/>
          <a:p>
            <a:pPr marL="0" indent="0" algn="ctr">
              <a:buNone/>
            </a:pPr>
            <a:r>
              <a:rPr lang="en-US" sz="1600" b="1" dirty="0">
                <a:solidFill>
                  <a:srgbClr val="4B3BE0"/>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1115568" y="2313432"/>
            <a:ext cx="5394960" cy="274320"/>
          </a:xfrm>
          <a:prstGeom prst="rect">
            <a:avLst/>
          </a:prstGeom>
          <a:noFill/>
          <a:ln/>
        </p:spPr>
        <p:txBody>
          <a:bodyPr wrap="square" lIns="0" tIns="0" rIns="0" bIns="0" rtlCol="0" anchor="ctr"/>
          <a:lstStyle/>
          <a:p>
            <a:pPr marL="0" indent="0">
              <a:buNone/>
            </a:pPr>
            <a:r>
              <a:rPr lang="en-US" sz="1250" b="1" dirty="0">
                <a:solidFill>
                  <a:srgbClr val="172033"/>
                </a:solidFill>
                <a:latin typeface="Calibri" pitchFamily="34" charset="0"/>
                <a:ea typeface="Calibri" pitchFamily="34" charset="-122"/>
                <a:cs typeface="Calibri" pitchFamily="34" charset="-120"/>
              </a:rPr>
              <a:t>Multimodal input</a:t>
            </a:r>
            <a:endParaRPr lang="en-US" sz="1250" dirty="0"/>
          </a:p>
        </p:txBody>
      </p:sp>
      <p:sp>
        <p:nvSpPr>
          <p:cNvPr id="8" name="Text 6"/>
          <p:cNvSpPr/>
          <p:nvPr/>
        </p:nvSpPr>
        <p:spPr>
          <a:xfrm>
            <a:off x="1115568" y="2569464"/>
            <a:ext cx="5394960" cy="347472"/>
          </a:xfrm>
          <a:prstGeom prst="rect">
            <a:avLst/>
          </a:prstGeom>
          <a:noFill/>
          <a:ln/>
        </p:spPr>
        <p:txBody>
          <a:bodyPr wrap="square" lIns="0" tIns="0" rIns="0" bIns="0" rtlCol="0" anchor="ctr"/>
          <a:lstStyle/>
          <a:p>
            <a:pPr marL="0" indent="0">
              <a:buNone/>
            </a:pPr>
            <a:r>
              <a:rPr lang="en-US" sz="1000" dirty="0">
                <a:solidFill>
                  <a:srgbClr val="697386"/>
                </a:solidFill>
                <a:latin typeface="Calibri" pitchFamily="34" charset="0"/>
                <a:ea typeface="Calibri" pitchFamily="34" charset="-122"/>
                <a:cs typeface="Calibri" pitchFamily="34" charset="-120"/>
              </a:rPr>
              <a:t>Accepts text, images and voice notes as prompts.</a:t>
            </a:r>
            <a:endParaRPr lang="en-US" sz="1000" dirty="0"/>
          </a:p>
        </p:txBody>
      </p:sp>
      <p:sp>
        <p:nvSpPr>
          <p:cNvPr id="9" name="Shape 7"/>
          <p:cNvSpPr/>
          <p:nvPr/>
        </p:nvSpPr>
        <p:spPr>
          <a:xfrm>
            <a:off x="548640" y="3081528"/>
            <a:ext cx="420624" cy="420624"/>
          </a:xfrm>
          <a:prstGeom prst="ellipse">
            <a:avLst/>
          </a:prstGeom>
          <a:solidFill>
            <a:srgbClr val="F0EEFF"/>
          </a:solidFill>
          <a:ln/>
        </p:spPr>
      </p:sp>
      <p:sp>
        <p:nvSpPr>
          <p:cNvPr id="10" name="Text 8"/>
          <p:cNvSpPr/>
          <p:nvPr/>
        </p:nvSpPr>
        <p:spPr>
          <a:xfrm>
            <a:off x="548640" y="3081528"/>
            <a:ext cx="420624" cy="420624"/>
          </a:xfrm>
          <a:prstGeom prst="rect">
            <a:avLst/>
          </a:prstGeom>
          <a:noFill/>
          <a:ln/>
        </p:spPr>
        <p:txBody>
          <a:bodyPr wrap="square" lIns="0" tIns="0" rIns="0" bIns="0" rtlCol="0" anchor="ctr"/>
          <a:lstStyle/>
          <a:p>
            <a:pPr marL="0" indent="0" algn="ctr">
              <a:buNone/>
            </a:pPr>
            <a:r>
              <a:rPr lang="en-US" sz="1600" b="1" dirty="0">
                <a:solidFill>
                  <a:srgbClr val="4B3BE0"/>
                </a:solidFill>
                <a:latin typeface="Calibri" pitchFamily="34" charset="0"/>
                <a:ea typeface="Calibri" pitchFamily="34" charset="-122"/>
                <a:cs typeface="Calibri" pitchFamily="34" charset="-120"/>
              </a:rPr>
              <a:t>⚡</a:t>
            </a:r>
            <a:endParaRPr lang="en-US" sz="1600" dirty="0"/>
          </a:p>
        </p:txBody>
      </p:sp>
      <p:sp>
        <p:nvSpPr>
          <p:cNvPr id="11" name="Text 9"/>
          <p:cNvSpPr/>
          <p:nvPr/>
        </p:nvSpPr>
        <p:spPr>
          <a:xfrm>
            <a:off x="1115568" y="3063240"/>
            <a:ext cx="5394960" cy="274320"/>
          </a:xfrm>
          <a:prstGeom prst="rect">
            <a:avLst/>
          </a:prstGeom>
          <a:noFill/>
          <a:ln/>
        </p:spPr>
        <p:txBody>
          <a:bodyPr wrap="square" lIns="0" tIns="0" rIns="0" bIns="0" rtlCol="0" anchor="ctr"/>
          <a:lstStyle/>
          <a:p>
            <a:pPr marL="0" indent="0">
              <a:buNone/>
            </a:pPr>
            <a:r>
              <a:rPr lang="en-US" sz="1250" b="1" dirty="0">
                <a:solidFill>
                  <a:srgbClr val="172033"/>
                </a:solidFill>
                <a:latin typeface="Calibri" pitchFamily="34" charset="0"/>
                <a:ea typeface="Calibri" pitchFamily="34" charset="-122"/>
                <a:cs typeface="Calibri" pitchFamily="34" charset="-120"/>
              </a:rPr>
              <a:t>Quick actions</a:t>
            </a:r>
            <a:endParaRPr lang="en-US" sz="1250" dirty="0"/>
          </a:p>
        </p:txBody>
      </p:sp>
      <p:sp>
        <p:nvSpPr>
          <p:cNvPr id="12" name="Text 10"/>
          <p:cNvSpPr/>
          <p:nvPr/>
        </p:nvSpPr>
        <p:spPr>
          <a:xfrm>
            <a:off x="1115568" y="3319272"/>
            <a:ext cx="5394960" cy="347472"/>
          </a:xfrm>
          <a:prstGeom prst="rect">
            <a:avLst/>
          </a:prstGeom>
          <a:noFill/>
          <a:ln/>
        </p:spPr>
        <p:txBody>
          <a:bodyPr wrap="square" lIns="0" tIns="0" rIns="0" bIns="0" rtlCol="0" anchor="ctr"/>
          <a:lstStyle/>
          <a:p>
            <a:pPr marL="0" indent="0">
              <a:buNone/>
            </a:pPr>
            <a:r>
              <a:rPr lang="en-US" sz="1000" dirty="0">
                <a:solidFill>
                  <a:srgbClr val="697386"/>
                </a:solidFill>
                <a:latin typeface="Calibri" pitchFamily="34" charset="0"/>
                <a:ea typeface="Calibri" pitchFamily="34" charset="-122"/>
                <a:cs typeface="Calibri" pitchFamily="34" charset="-120"/>
              </a:rPr>
              <a:t>One-tap: trending topics, blog titles, sentiment, hashtags.</a:t>
            </a:r>
            <a:endParaRPr lang="en-US" sz="1000" dirty="0"/>
          </a:p>
        </p:txBody>
      </p:sp>
      <p:sp>
        <p:nvSpPr>
          <p:cNvPr id="13" name="Shape 11"/>
          <p:cNvSpPr/>
          <p:nvPr/>
        </p:nvSpPr>
        <p:spPr>
          <a:xfrm>
            <a:off x="548640" y="3831336"/>
            <a:ext cx="420624" cy="420624"/>
          </a:xfrm>
          <a:prstGeom prst="ellipse">
            <a:avLst/>
          </a:prstGeom>
          <a:solidFill>
            <a:srgbClr val="F0EEFF"/>
          </a:solidFill>
          <a:ln/>
        </p:spPr>
      </p:sp>
      <p:sp>
        <p:nvSpPr>
          <p:cNvPr id="14" name="Text 12"/>
          <p:cNvSpPr/>
          <p:nvPr/>
        </p:nvSpPr>
        <p:spPr>
          <a:xfrm>
            <a:off x="548640" y="3831336"/>
            <a:ext cx="420624" cy="420624"/>
          </a:xfrm>
          <a:prstGeom prst="rect">
            <a:avLst/>
          </a:prstGeom>
          <a:noFill/>
          <a:ln/>
        </p:spPr>
        <p:txBody>
          <a:bodyPr wrap="square" lIns="0" tIns="0" rIns="0" bIns="0" rtlCol="0" anchor="ctr"/>
          <a:lstStyle/>
          <a:p>
            <a:pPr marL="0" indent="0" algn="ctr">
              <a:buNone/>
            </a:pPr>
            <a:r>
              <a:rPr lang="en-US" sz="1600" b="1" dirty="0">
                <a:solidFill>
                  <a:srgbClr val="4B3BE0"/>
                </a:solidFill>
                <a:latin typeface="Calibri" pitchFamily="34" charset="0"/>
                <a:ea typeface="Calibri" pitchFamily="34" charset="-122"/>
                <a:cs typeface="Calibri" pitchFamily="34" charset="-120"/>
              </a:rPr>
              <a:t>🕐</a:t>
            </a:r>
            <a:endParaRPr lang="en-US" sz="1600" dirty="0"/>
          </a:p>
        </p:txBody>
      </p:sp>
      <p:sp>
        <p:nvSpPr>
          <p:cNvPr id="15" name="Text 13"/>
          <p:cNvSpPr/>
          <p:nvPr/>
        </p:nvSpPr>
        <p:spPr>
          <a:xfrm>
            <a:off x="1115568" y="3813048"/>
            <a:ext cx="5394960" cy="274320"/>
          </a:xfrm>
          <a:prstGeom prst="rect">
            <a:avLst/>
          </a:prstGeom>
          <a:noFill/>
          <a:ln/>
        </p:spPr>
        <p:txBody>
          <a:bodyPr wrap="square" lIns="0" tIns="0" rIns="0" bIns="0" rtlCol="0" anchor="ctr"/>
          <a:lstStyle/>
          <a:p>
            <a:pPr marL="0" indent="0">
              <a:buNone/>
            </a:pPr>
            <a:r>
              <a:rPr lang="en-US" sz="1250" b="1" dirty="0">
                <a:solidFill>
                  <a:srgbClr val="172033"/>
                </a:solidFill>
                <a:latin typeface="Calibri" pitchFamily="34" charset="0"/>
                <a:ea typeface="Calibri" pitchFamily="34" charset="-122"/>
                <a:cs typeface="Calibri" pitchFamily="34" charset="-120"/>
              </a:rPr>
              <a:t>Timing guidance</a:t>
            </a:r>
            <a:endParaRPr lang="en-US" sz="1250" dirty="0"/>
          </a:p>
        </p:txBody>
      </p:sp>
      <p:sp>
        <p:nvSpPr>
          <p:cNvPr id="16" name="Text 14"/>
          <p:cNvSpPr/>
          <p:nvPr/>
        </p:nvSpPr>
        <p:spPr>
          <a:xfrm>
            <a:off x="1115568" y="4069080"/>
            <a:ext cx="5394960" cy="347472"/>
          </a:xfrm>
          <a:prstGeom prst="rect">
            <a:avLst/>
          </a:prstGeom>
          <a:noFill/>
          <a:ln/>
        </p:spPr>
        <p:txBody>
          <a:bodyPr wrap="square" lIns="0" tIns="0" rIns="0" bIns="0" rtlCol="0" anchor="ctr"/>
          <a:lstStyle/>
          <a:p>
            <a:pPr marL="0" indent="0">
              <a:buNone/>
            </a:pPr>
            <a:r>
              <a:rPr lang="en-US" sz="1000" dirty="0">
                <a:solidFill>
                  <a:srgbClr val="697386"/>
                </a:solidFill>
                <a:latin typeface="Calibri" pitchFamily="34" charset="0"/>
                <a:ea typeface="Calibri" pitchFamily="34" charset="-122"/>
                <a:cs typeface="Calibri" pitchFamily="34" charset="-120"/>
              </a:rPr>
              <a:t>Recommends the best publishing time for reach.</a:t>
            </a:r>
            <a:endParaRPr lang="en-US" sz="1000" dirty="0"/>
          </a:p>
        </p:txBody>
      </p:sp>
      <p:sp>
        <p:nvSpPr>
          <p:cNvPr id="17" name="Shape 15"/>
          <p:cNvSpPr/>
          <p:nvPr/>
        </p:nvSpPr>
        <p:spPr>
          <a:xfrm>
            <a:off x="548640" y="4581144"/>
            <a:ext cx="420624" cy="420624"/>
          </a:xfrm>
          <a:prstGeom prst="ellipse">
            <a:avLst/>
          </a:prstGeom>
          <a:solidFill>
            <a:srgbClr val="F0EEFF"/>
          </a:solidFill>
          <a:ln/>
        </p:spPr>
      </p:sp>
      <p:sp>
        <p:nvSpPr>
          <p:cNvPr id="18" name="Text 16"/>
          <p:cNvSpPr/>
          <p:nvPr/>
        </p:nvSpPr>
        <p:spPr>
          <a:xfrm>
            <a:off x="548640" y="4581144"/>
            <a:ext cx="420624" cy="420624"/>
          </a:xfrm>
          <a:prstGeom prst="rect">
            <a:avLst/>
          </a:prstGeom>
          <a:noFill/>
          <a:ln/>
        </p:spPr>
        <p:txBody>
          <a:bodyPr wrap="square" lIns="0" tIns="0" rIns="0" bIns="0" rtlCol="0" anchor="ctr"/>
          <a:lstStyle/>
          <a:p>
            <a:pPr marL="0" indent="0" algn="ctr">
              <a:buNone/>
            </a:pPr>
            <a:r>
              <a:rPr lang="en-US" sz="1600" b="1" dirty="0">
                <a:solidFill>
                  <a:srgbClr val="4B3BE0"/>
                </a:solidFill>
                <a:latin typeface="Calibri" pitchFamily="34" charset="0"/>
                <a:ea typeface="Calibri" pitchFamily="34" charset="-122"/>
                <a:cs typeface="Calibri" pitchFamily="34" charset="-120"/>
              </a:rPr>
              <a:t>🔌</a:t>
            </a:r>
            <a:endParaRPr lang="en-US" sz="1600" dirty="0"/>
          </a:p>
        </p:txBody>
      </p:sp>
      <p:sp>
        <p:nvSpPr>
          <p:cNvPr id="19" name="Text 17"/>
          <p:cNvSpPr/>
          <p:nvPr/>
        </p:nvSpPr>
        <p:spPr>
          <a:xfrm>
            <a:off x="1115568" y="4562856"/>
            <a:ext cx="5394960" cy="274320"/>
          </a:xfrm>
          <a:prstGeom prst="rect">
            <a:avLst/>
          </a:prstGeom>
          <a:noFill/>
          <a:ln/>
        </p:spPr>
        <p:txBody>
          <a:bodyPr wrap="square" lIns="0" tIns="0" rIns="0" bIns="0" rtlCol="0" anchor="ctr"/>
          <a:lstStyle/>
          <a:p>
            <a:pPr marL="0" indent="0">
              <a:buNone/>
            </a:pPr>
            <a:r>
              <a:rPr lang="en-US" sz="1250" b="1" dirty="0">
                <a:solidFill>
                  <a:srgbClr val="172033"/>
                </a:solidFill>
                <a:latin typeface="Calibri" pitchFamily="34" charset="0"/>
                <a:ea typeface="Calibri" pitchFamily="34" charset="-122"/>
                <a:cs typeface="Calibri" pitchFamily="34" charset="-120"/>
              </a:rPr>
              <a:t>IBM-ready</a:t>
            </a:r>
            <a:endParaRPr lang="en-US" sz="1250" dirty="0"/>
          </a:p>
        </p:txBody>
      </p:sp>
      <p:sp>
        <p:nvSpPr>
          <p:cNvPr id="20" name="Text 18"/>
          <p:cNvSpPr/>
          <p:nvPr/>
        </p:nvSpPr>
        <p:spPr>
          <a:xfrm>
            <a:off x="1115568" y="4818888"/>
            <a:ext cx="5394960" cy="347472"/>
          </a:xfrm>
          <a:prstGeom prst="rect">
            <a:avLst/>
          </a:prstGeom>
          <a:noFill/>
          <a:ln/>
        </p:spPr>
        <p:txBody>
          <a:bodyPr wrap="square" lIns="0" tIns="0" rIns="0" bIns="0" rtlCol="0" anchor="ctr"/>
          <a:lstStyle/>
          <a:p>
            <a:pPr marL="0" indent="0">
              <a:buNone/>
            </a:pPr>
            <a:r>
              <a:rPr lang="en-US" sz="1000" dirty="0">
                <a:solidFill>
                  <a:srgbClr val="697386"/>
                </a:solidFill>
                <a:latin typeface="Calibri" pitchFamily="34" charset="0"/>
                <a:ea typeface="Calibri" pitchFamily="34" charset="-122"/>
                <a:cs typeface="Calibri" pitchFamily="34" charset="-120"/>
              </a:rPr>
              <a:t>Wired for Langflow → IBM Models → watsonx Orchestrate.</a:t>
            </a:r>
            <a:endParaRPr lang="en-US" sz="1000" dirty="0"/>
          </a:p>
        </p:txBody>
      </p:sp>
      <p:sp>
        <p:nvSpPr>
          <p:cNvPr id="21" name="Shape 19"/>
          <p:cNvSpPr/>
          <p:nvPr/>
        </p:nvSpPr>
        <p:spPr>
          <a:xfrm>
            <a:off x="6858000" y="1417320"/>
            <a:ext cx="4800600" cy="4846320"/>
          </a:xfrm>
          <a:prstGeom prst="roundRect">
            <a:avLst>
              <a:gd name="adj" fmla="val 2286"/>
            </a:avLst>
          </a:prstGeom>
          <a:solidFill>
            <a:srgbClr val="FFFFFF"/>
          </a:solidFill>
          <a:ln w="12700">
            <a:solidFill>
              <a:srgbClr val="E5E7EF"/>
            </a:solidFill>
            <a:prstDash val="solid"/>
          </a:ln>
          <a:effectLst>
            <a:outerShdw blurRad="203200" dist="63500" dir="5400000" algn="bl" rotWithShape="0">
              <a:srgbClr val="343B68">
                <a:alpha val="15000"/>
              </a:srgbClr>
            </a:outerShdw>
          </a:effectLst>
        </p:spPr>
      </p:sp>
      <p:sp>
        <p:nvSpPr>
          <p:cNvPr id="22" name="Shape 20"/>
          <p:cNvSpPr/>
          <p:nvPr/>
        </p:nvSpPr>
        <p:spPr>
          <a:xfrm>
            <a:off x="6858000" y="1417320"/>
            <a:ext cx="4800600" cy="548640"/>
          </a:xfrm>
          <a:prstGeom prst="roundRect">
            <a:avLst>
              <a:gd name="adj" fmla="val 20000"/>
            </a:avLst>
          </a:prstGeom>
          <a:solidFill>
            <a:srgbClr val="F6F7FB"/>
          </a:solidFill>
          <a:ln/>
        </p:spPr>
      </p:sp>
      <p:sp>
        <p:nvSpPr>
          <p:cNvPr id="23" name="Text 21"/>
          <p:cNvSpPr/>
          <p:nvPr/>
        </p:nvSpPr>
        <p:spPr>
          <a:xfrm>
            <a:off x="7040880" y="1417320"/>
            <a:ext cx="3017520" cy="548640"/>
          </a:xfrm>
          <a:prstGeom prst="rect">
            <a:avLst/>
          </a:prstGeom>
          <a:noFill/>
          <a:ln/>
        </p:spPr>
        <p:txBody>
          <a:bodyPr wrap="square" lIns="0" tIns="0" rIns="0" bIns="0" rtlCol="0" anchor="ctr"/>
          <a:lstStyle/>
          <a:p>
            <a:pPr marL="0" indent="0">
              <a:buNone/>
            </a:pPr>
            <a:r>
              <a:rPr lang="en-US" sz="1150" b="1" dirty="0">
                <a:solidFill>
                  <a:srgbClr val="172033"/>
                </a:solidFill>
                <a:latin typeface="Calibri" pitchFamily="34" charset="0"/>
                <a:ea typeface="Calibri" pitchFamily="34" charset="-122"/>
                <a:cs typeface="Calibri" pitchFamily="34" charset="-120"/>
              </a:rPr>
              <a:t>Content Intelligence Assistant</a:t>
            </a:r>
            <a:endParaRPr lang="en-US" sz="1150" dirty="0"/>
          </a:p>
        </p:txBody>
      </p:sp>
      <p:sp>
        <p:nvSpPr>
          <p:cNvPr id="24" name="Text 22"/>
          <p:cNvSpPr/>
          <p:nvPr/>
        </p:nvSpPr>
        <p:spPr>
          <a:xfrm>
            <a:off x="10469880" y="1417320"/>
            <a:ext cx="1005840" cy="548640"/>
          </a:xfrm>
          <a:prstGeom prst="rect">
            <a:avLst/>
          </a:prstGeom>
          <a:noFill/>
          <a:ln/>
        </p:spPr>
        <p:txBody>
          <a:bodyPr wrap="square" lIns="0" tIns="0" rIns="0" bIns="0" rtlCol="0" anchor="ctr"/>
          <a:lstStyle/>
          <a:p>
            <a:pPr marL="0" indent="0" algn="r">
              <a:buNone/>
            </a:pPr>
            <a:r>
              <a:rPr lang="en-US" sz="950" b="1" dirty="0">
                <a:solidFill>
                  <a:srgbClr val="16A34A"/>
                </a:solidFill>
                <a:latin typeface="Calibri" pitchFamily="34" charset="0"/>
                <a:ea typeface="Calibri" pitchFamily="34" charset="-122"/>
                <a:cs typeface="Calibri" pitchFamily="34" charset="-120"/>
              </a:rPr>
              <a:t>● Ready</a:t>
            </a:r>
            <a:endParaRPr lang="en-US" sz="950" dirty="0"/>
          </a:p>
        </p:txBody>
      </p:sp>
      <p:sp>
        <p:nvSpPr>
          <p:cNvPr id="25" name="Shape 23"/>
          <p:cNvSpPr/>
          <p:nvPr/>
        </p:nvSpPr>
        <p:spPr>
          <a:xfrm>
            <a:off x="7040880" y="2148840"/>
            <a:ext cx="3794760" cy="685800"/>
          </a:xfrm>
          <a:prstGeom prst="roundRect">
            <a:avLst>
              <a:gd name="adj" fmla="val 10667"/>
            </a:avLst>
          </a:prstGeom>
          <a:solidFill>
            <a:srgbClr val="F6F7FB"/>
          </a:solidFill>
          <a:ln w="9525">
            <a:solidFill>
              <a:srgbClr val="E5E7EF"/>
            </a:solidFill>
            <a:prstDash val="solid"/>
          </a:ln>
        </p:spPr>
      </p:sp>
      <p:sp>
        <p:nvSpPr>
          <p:cNvPr id="26" name="Text 24"/>
          <p:cNvSpPr/>
          <p:nvPr/>
        </p:nvSpPr>
        <p:spPr>
          <a:xfrm>
            <a:off x="7178040" y="2194560"/>
            <a:ext cx="3520440" cy="594360"/>
          </a:xfrm>
          <a:prstGeom prst="rect">
            <a:avLst/>
          </a:prstGeom>
          <a:noFill/>
          <a:ln/>
        </p:spPr>
        <p:txBody>
          <a:bodyPr wrap="square" lIns="0" tIns="0" rIns="0" bIns="0" rtlCol="0" anchor="ctr"/>
          <a:lstStyle/>
          <a:p>
            <a:pPr marL="0" indent="0">
              <a:lnSpc>
                <a:spcPct val="120000"/>
              </a:lnSpc>
              <a:buNone/>
            </a:pPr>
            <a:r>
              <a:rPr lang="en-US" sz="950" dirty="0">
                <a:solidFill>
                  <a:srgbClr val="172033"/>
                </a:solidFill>
                <a:latin typeface="Calibri" pitchFamily="34" charset="0"/>
                <a:ea typeface="Calibri" pitchFamily="34" charset="-122"/>
                <a:cs typeface="Calibri" pitchFamily="34" charset="-120"/>
              </a:rPr>
              <a:t>Welcome 👋  Try: “I want to write a blog about AI in education.”</a:t>
            </a:r>
            <a:endParaRPr lang="en-US" sz="950" dirty="0"/>
          </a:p>
        </p:txBody>
      </p:sp>
      <p:sp>
        <p:nvSpPr>
          <p:cNvPr id="27" name="Shape 25"/>
          <p:cNvSpPr/>
          <p:nvPr/>
        </p:nvSpPr>
        <p:spPr>
          <a:xfrm>
            <a:off x="7863840" y="3017520"/>
            <a:ext cx="3611880" cy="566928"/>
          </a:xfrm>
          <a:prstGeom prst="roundRect">
            <a:avLst>
              <a:gd name="adj" fmla="val 12903"/>
            </a:avLst>
          </a:prstGeom>
          <a:solidFill>
            <a:srgbClr val="4B3BE0"/>
          </a:solidFill>
          <a:ln/>
        </p:spPr>
      </p:sp>
      <p:sp>
        <p:nvSpPr>
          <p:cNvPr id="28" name="Text 26"/>
          <p:cNvSpPr/>
          <p:nvPr/>
        </p:nvSpPr>
        <p:spPr>
          <a:xfrm>
            <a:off x="8001000" y="3054096"/>
            <a:ext cx="3337560" cy="50292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Analyze AI in Education and suggest 5 blog titles</a:t>
            </a:r>
            <a:endParaRPr lang="en-US" sz="950" dirty="0"/>
          </a:p>
        </p:txBody>
      </p:sp>
      <p:sp>
        <p:nvSpPr>
          <p:cNvPr id="29" name="Shape 27"/>
          <p:cNvSpPr/>
          <p:nvPr/>
        </p:nvSpPr>
        <p:spPr>
          <a:xfrm>
            <a:off x="7040880" y="3749040"/>
            <a:ext cx="4114800" cy="1234440"/>
          </a:xfrm>
          <a:prstGeom prst="roundRect">
            <a:avLst>
              <a:gd name="adj" fmla="val 5926"/>
            </a:avLst>
          </a:prstGeom>
          <a:solidFill>
            <a:srgbClr val="F6F7FB"/>
          </a:solidFill>
          <a:ln w="9525">
            <a:solidFill>
              <a:srgbClr val="E5E7EF"/>
            </a:solidFill>
            <a:prstDash val="solid"/>
          </a:ln>
        </p:spPr>
      </p:sp>
      <p:sp>
        <p:nvSpPr>
          <p:cNvPr id="30" name="Text 28"/>
          <p:cNvSpPr/>
          <p:nvPr/>
        </p:nvSpPr>
        <p:spPr>
          <a:xfrm>
            <a:off x="7178040" y="3840480"/>
            <a:ext cx="3794760" cy="1097280"/>
          </a:xfrm>
          <a:prstGeom prst="rect">
            <a:avLst/>
          </a:prstGeom>
          <a:noFill/>
          <a:ln/>
        </p:spPr>
        <p:txBody>
          <a:bodyPr wrap="square" lIns="0" tIns="0" rIns="0" bIns="0" rtlCol="0" anchor="ctr"/>
          <a:lstStyle/>
          <a:p>
            <a:pPr marL="0" indent="0">
              <a:lnSpc>
                <a:spcPct val="125000"/>
              </a:lnSpc>
              <a:buNone/>
            </a:pPr>
            <a:r>
              <a:rPr lang="en-US" sz="950" b="1" dirty="0">
                <a:solidFill>
                  <a:srgbClr val="4B3BE0"/>
                </a:solidFill>
                <a:latin typeface="Calibri" pitchFamily="34" charset="0"/>
                <a:ea typeface="Calibri" pitchFamily="34" charset="-122"/>
                <a:cs typeface="Calibri" pitchFamily="34" charset="-120"/>
              </a:rPr>
              <a:t>Top blog opportunity:  </a:t>
            </a:r>
            <a:r>
              <a:rPr lang="en-US" sz="950" dirty="0">
                <a:solidFill>
                  <a:srgbClr val="172033"/>
                </a:solidFill>
                <a:latin typeface="Calibri" pitchFamily="34" charset="0"/>
                <a:ea typeface="Calibri" pitchFamily="34" charset="-122"/>
                <a:cs typeface="Calibri" pitchFamily="34" charset="-120"/>
              </a:rPr>
              <a:t>AI-powered personalized learning (score 91). Suggested angle: practical, example-led explainer for a general audience.</a:t>
            </a:r>
            <a:endParaRPr lang="en-US" sz="950" dirty="0"/>
          </a:p>
        </p:txBody>
      </p:sp>
      <p:sp>
        <p:nvSpPr>
          <p:cNvPr id="31" name="Shape 29"/>
          <p:cNvSpPr/>
          <p:nvPr/>
        </p:nvSpPr>
        <p:spPr>
          <a:xfrm>
            <a:off x="7040880" y="5212080"/>
            <a:ext cx="1051560" cy="384048"/>
          </a:xfrm>
          <a:prstGeom prst="roundRect">
            <a:avLst>
              <a:gd name="adj" fmla="val 50000"/>
            </a:avLst>
          </a:prstGeom>
          <a:solidFill>
            <a:srgbClr val="FFFFFF"/>
          </a:solidFill>
          <a:ln w="12700">
            <a:solidFill>
              <a:srgbClr val="E5E7EF"/>
            </a:solidFill>
            <a:prstDash val="solid"/>
          </a:ln>
        </p:spPr>
      </p:sp>
      <p:sp>
        <p:nvSpPr>
          <p:cNvPr id="32" name="Text 30"/>
          <p:cNvSpPr/>
          <p:nvPr/>
        </p:nvSpPr>
        <p:spPr>
          <a:xfrm>
            <a:off x="7040880" y="5212080"/>
            <a:ext cx="1051560" cy="384048"/>
          </a:xfrm>
          <a:prstGeom prst="rect">
            <a:avLst/>
          </a:prstGeom>
          <a:noFill/>
          <a:ln/>
        </p:spPr>
        <p:txBody>
          <a:bodyPr wrap="square" lIns="0" tIns="0" rIns="0" bIns="0" rtlCol="0" anchor="ctr"/>
          <a:lstStyle/>
          <a:p>
            <a:pPr marL="0" indent="0" algn="ctr">
              <a:buNone/>
            </a:pPr>
            <a:r>
              <a:rPr lang="en-US" sz="800" b="1" dirty="0">
                <a:solidFill>
                  <a:srgbClr val="172033"/>
                </a:solidFill>
                <a:latin typeface="Calibri" pitchFamily="34" charset="0"/>
                <a:ea typeface="Calibri" pitchFamily="34" charset="-122"/>
                <a:cs typeface="Calibri" pitchFamily="34" charset="-120"/>
              </a:rPr>
              <a:t>🖼 Image</a:t>
            </a:r>
            <a:endParaRPr lang="en-US" sz="800" dirty="0"/>
          </a:p>
        </p:txBody>
      </p:sp>
      <p:sp>
        <p:nvSpPr>
          <p:cNvPr id="33" name="Shape 31"/>
          <p:cNvSpPr/>
          <p:nvPr/>
        </p:nvSpPr>
        <p:spPr>
          <a:xfrm>
            <a:off x="8202168" y="5212080"/>
            <a:ext cx="1051560" cy="384048"/>
          </a:xfrm>
          <a:prstGeom prst="roundRect">
            <a:avLst>
              <a:gd name="adj" fmla="val 50000"/>
            </a:avLst>
          </a:prstGeom>
          <a:solidFill>
            <a:srgbClr val="FFFFFF"/>
          </a:solidFill>
          <a:ln w="12700">
            <a:solidFill>
              <a:srgbClr val="E5E7EF"/>
            </a:solidFill>
            <a:prstDash val="solid"/>
          </a:ln>
        </p:spPr>
      </p:sp>
      <p:sp>
        <p:nvSpPr>
          <p:cNvPr id="34" name="Text 32"/>
          <p:cNvSpPr/>
          <p:nvPr/>
        </p:nvSpPr>
        <p:spPr>
          <a:xfrm>
            <a:off x="8202168" y="5212080"/>
            <a:ext cx="1051560" cy="384048"/>
          </a:xfrm>
          <a:prstGeom prst="rect">
            <a:avLst/>
          </a:prstGeom>
          <a:noFill/>
          <a:ln/>
        </p:spPr>
        <p:txBody>
          <a:bodyPr wrap="square" lIns="0" tIns="0" rIns="0" bIns="0" rtlCol="0" anchor="ctr"/>
          <a:lstStyle/>
          <a:p>
            <a:pPr marL="0" indent="0" algn="ctr">
              <a:buNone/>
            </a:pPr>
            <a:r>
              <a:rPr lang="en-US" sz="800" b="1" dirty="0">
                <a:solidFill>
                  <a:srgbClr val="172033"/>
                </a:solidFill>
                <a:latin typeface="Calibri" pitchFamily="34" charset="0"/>
                <a:ea typeface="Calibri" pitchFamily="34" charset="-122"/>
                <a:cs typeface="Calibri" pitchFamily="34" charset="-120"/>
              </a:rPr>
              <a:t>🎤 Voice</a:t>
            </a:r>
            <a:endParaRPr lang="en-US" sz="800" dirty="0"/>
          </a:p>
        </p:txBody>
      </p:sp>
      <p:sp>
        <p:nvSpPr>
          <p:cNvPr id="35" name="Shape 33"/>
          <p:cNvSpPr/>
          <p:nvPr/>
        </p:nvSpPr>
        <p:spPr>
          <a:xfrm>
            <a:off x="9363456" y="5212080"/>
            <a:ext cx="1051560" cy="384048"/>
          </a:xfrm>
          <a:prstGeom prst="roundRect">
            <a:avLst>
              <a:gd name="adj" fmla="val 50000"/>
            </a:avLst>
          </a:prstGeom>
          <a:solidFill>
            <a:srgbClr val="FFFFFF"/>
          </a:solidFill>
          <a:ln w="12700">
            <a:solidFill>
              <a:srgbClr val="E5E7EF"/>
            </a:solidFill>
            <a:prstDash val="solid"/>
          </a:ln>
        </p:spPr>
      </p:sp>
      <p:sp>
        <p:nvSpPr>
          <p:cNvPr id="36" name="Text 34"/>
          <p:cNvSpPr/>
          <p:nvPr/>
        </p:nvSpPr>
        <p:spPr>
          <a:xfrm>
            <a:off x="9363456" y="5212080"/>
            <a:ext cx="1051560" cy="384048"/>
          </a:xfrm>
          <a:prstGeom prst="rect">
            <a:avLst/>
          </a:prstGeom>
          <a:noFill/>
          <a:ln/>
        </p:spPr>
        <p:txBody>
          <a:bodyPr wrap="square" lIns="0" tIns="0" rIns="0" bIns="0" rtlCol="0" anchor="ctr"/>
          <a:lstStyle/>
          <a:p>
            <a:pPr marL="0" indent="0" algn="ctr">
              <a:buNone/>
            </a:pPr>
            <a:r>
              <a:rPr lang="en-US" sz="800" b="1" dirty="0">
                <a:solidFill>
                  <a:srgbClr val="172033"/>
                </a:solidFill>
                <a:latin typeface="Calibri" pitchFamily="34" charset="0"/>
                <a:ea typeface="Calibri" pitchFamily="34" charset="-122"/>
                <a:cs typeface="Calibri" pitchFamily="34" charset="-120"/>
              </a:rPr>
              <a:t>🔥 Trending</a:t>
            </a:r>
            <a:endParaRPr lang="en-US" sz="800" dirty="0"/>
          </a:p>
        </p:txBody>
      </p:sp>
      <p:sp>
        <p:nvSpPr>
          <p:cNvPr id="37" name="Shape 35"/>
          <p:cNvSpPr/>
          <p:nvPr/>
        </p:nvSpPr>
        <p:spPr>
          <a:xfrm>
            <a:off x="10524744" y="5212080"/>
            <a:ext cx="1051560" cy="384048"/>
          </a:xfrm>
          <a:prstGeom prst="roundRect">
            <a:avLst>
              <a:gd name="adj" fmla="val 50000"/>
            </a:avLst>
          </a:prstGeom>
          <a:solidFill>
            <a:srgbClr val="FFFFFF"/>
          </a:solidFill>
          <a:ln w="12700">
            <a:solidFill>
              <a:srgbClr val="E5E7EF"/>
            </a:solidFill>
            <a:prstDash val="solid"/>
          </a:ln>
        </p:spPr>
      </p:sp>
      <p:sp>
        <p:nvSpPr>
          <p:cNvPr id="38" name="Text 36"/>
          <p:cNvSpPr/>
          <p:nvPr/>
        </p:nvSpPr>
        <p:spPr>
          <a:xfrm>
            <a:off x="10524744" y="5212080"/>
            <a:ext cx="1051560" cy="384048"/>
          </a:xfrm>
          <a:prstGeom prst="rect">
            <a:avLst/>
          </a:prstGeom>
          <a:noFill/>
          <a:ln/>
        </p:spPr>
        <p:txBody>
          <a:bodyPr wrap="square" lIns="0" tIns="0" rIns="0" bIns="0" rtlCol="0" anchor="ctr"/>
          <a:lstStyle/>
          <a:p>
            <a:pPr marL="0" indent="0" algn="ctr">
              <a:buNone/>
            </a:pPr>
            <a:r>
              <a:rPr lang="en-US" sz="800" b="1" dirty="0">
                <a:solidFill>
                  <a:srgbClr val="172033"/>
                </a:solidFill>
                <a:latin typeface="Calibri" pitchFamily="34" charset="0"/>
                <a:ea typeface="Calibri" pitchFamily="34" charset="-122"/>
                <a:cs typeface="Calibri" pitchFamily="34" charset="-120"/>
              </a:rPr>
              <a:t>#️⃣ Hashtags</a:t>
            </a:r>
            <a:endParaRPr lang="en-US" sz="800" dirty="0"/>
          </a:p>
        </p:txBody>
      </p:sp>
      <p:sp>
        <p:nvSpPr>
          <p:cNvPr id="39" name="Shape 37"/>
          <p:cNvSpPr/>
          <p:nvPr/>
        </p:nvSpPr>
        <p:spPr>
          <a:xfrm>
            <a:off x="7040880" y="5760720"/>
            <a:ext cx="4434840" cy="365760"/>
          </a:xfrm>
          <a:prstGeom prst="roundRect">
            <a:avLst>
              <a:gd name="adj" fmla="val 20000"/>
            </a:avLst>
          </a:prstGeom>
          <a:solidFill>
            <a:srgbClr val="F6F7FB"/>
          </a:solidFill>
          <a:ln w="9525">
            <a:solidFill>
              <a:srgbClr val="E5E7EF"/>
            </a:solidFill>
            <a:prstDash val="solid"/>
          </a:ln>
        </p:spPr>
      </p:sp>
      <p:sp>
        <p:nvSpPr>
          <p:cNvPr id="40" name="Text 38"/>
          <p:cNvSpPr/>
          <p:nvPr/>
        </p:nvSpPr>
        <p:spPr>
          <a:xfrm>
            <a:off x="7178040" y="5760720"/>
            <a:ext cx="4160520" cy="365760"/>
          </a:xfrm>
          <a:prstGeom prst="rect">
            <a:avLst/>
          </a:prstGeom>
          <a:noFill/>
          <a:ln/>
        </p:spPr>
        <p:txBody>
          <a:bodyPr wrap="square" lIns="0" tIns="0" rIns="0" bIns="0" rtlCol="0" anchor="ctr"/>
          <a:lstStyle/>
          <a:p>
            <a:pPr marL="0" indent="0">
              <a:buNone/>
            </a:pPr>
            <a:r>
              <a:rPr lang="en-US" sz="900" i="1" dirty="0">
                <a:solidFill>
                  <a:srgbClr val="697386"/>
                </a:solidFill>
                <a:latin typeface="Calibri" pitchFamily="34" charset="0"/>
                <a:ea typeface="Calibri" pitchFamily="34" charset="-122"/>
                <a:cs typeface="Calibri" pitchFamily="34" charset="-120"/>
              </a:rPr>
              <a:t>What do you want to write about?</a:t>
            </a:r>
            <a:endParaRPr lang="en-US" sz="900" dirty="0"/>
          </a:p>
        </p:txBody>
      </p:sp>
      <p:sp>
        <p:nvSpPr>
          <p:cNvPr id="41" name="Text 39"/>
          <p:cNvSpPr/>
          <p:nvPr/>
        </p:nvSpPr>
        <p:spPr>
          <a:xfrm>
            <a:off x="457200" y="6473952"/>
            <a:ext cx="3657600" cy="274320"/>
          </a:xfrm>
          <a:prstGeom prst="rect">
            <a:avLst/>
          </a:prstGeom>
          <a:noFill/>
          <a:ln/>
        </p:spPr>
        <p:txBody>
          <a:bodyPr wrap="square" lIns="0" tIns="0" rIns="0" bIns="0" rtlCol="0" anchor="ctr"/>
          <a:lstStyle/>
          <a:p>
            <a:pPr marL="0" indent="0">
              <a:buNone/>
            </a:pPr>
            <a:r>
              <a:rPr lang="en-US" sz="900" dirty="0">
                <a:solidFill>
                  <a:srgbClr val="697386"/>
                </a:solidFill>
                <a:latin typeface="Calibri" pitchFamily="34" charset="0"/>
                <a:ea typeface="Calibri" pitchFamily="34" charset="-122"/>
                <a:cs typeface="Calibri" pitchFamily="34" charset="-120"/>
              </a:rPr>
              <a:t>ContentPulse AI</a:t>
            </a:r>
            <a:endParaRPr lang="en-US" sz="900" dirty="0"/>
          </a:p>
        </p:txBody>
      </p:sp>
      <p:sp>
        <p:nvSpPr>
          <p:cNvPr id="42" name="Text 40"/>
          <p:cNvSpPr/>
          <p:nvPr/>
        </p:nvSpPr>
        <p:spPr>
          <a:xfrm>
            <a:off x="8074152" y="6473952"/>
            <a:ext cx="3657600" cy="274320"/>
          </a:xfrm>
          <a:prstGeom prst="rect">
            <a:avLst/>
          </a:prstGeom>
          <a:noFill/>
          <a:ln/>
        </p:spPr>
        <p:txBody>
          <a:bodyPr wrap="square" lIns="0" tIns="0" rIns="0" bIns="0" rtlCol="0" anchor="ctr"/>
          <a:lstStyle/>
          <a:p>
            <a:pPr marL="0" indent="0" algn="r">
              <a:buNone/>
            </a:pPr>
            <a:r>
              <a:rPr lang="en-US" sz="900" dirty="0">
                <a:solidFill>
                  <a:srgbClr val="697386"/>
                </a:solidFill>
                <a:latin typeface="Calibri" pitchFamily="34" charset="0"/>
                <a:ea typeface="Calibri" pitchFamily="34" charset="-122"/>
                <a:cs typeface="Calibri" pitchFamily="34" charset="-120"/>
              </a:rPr>
              <a:t>05  ·  AI Writer</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4B3BE0"/>
                </a:solidFill>
                <a:latin typeface="Calibri" pitchFamily="34" charset="0"/>
                <a:ea typeface="Calibri" pitchFamily="34" charset="-122"/>
                <a:cs typeface="Calibri" pitchFamily="34" charset="-120"/>
              </a:rPr>
              <a:t>FEATURE 02</a:t>
            </a:r>
            <a:endParaRPr lang="en-US" sz="1200" dirty="0"/>
          </a:p>
        </p:txBody>
      </p:sp>
      <p:sp>
        <p:nvSpPr>
          <p:cNvPr id="3" name="Text 1"/>
          <p:cNvSpPr/>
          <p:nvPr/>
        </p:nvSpPr>
        <p:spPr>
          <a:xfrm>
            <a:off x="548640" y="640080"/>
            <a:ext cx="10515600" cy="685800"/>
          </a:xfrm>
          <a:prstGeom prst="rect">
            <a:avLst/>
          </a:prstGeom>
          <a:noFill/>
          <a:ln/>
        </p:spPr>
        <p:txBody>
          <a:bodyPr wrap="square" lIns="0" tIns="0" rIns="0" bIns="0" rtlCol="0" anchor="ctr"/>
          <a:lstStyle/>
          <a:p>
            <a:pPr marL="0" indent="0">
              <a:buNone/>
            </a:pPr>
            <a:r>
              <a:rPr lang="en-US" sz="3200" b="1" dirty="0">
                <a:solidFill>
                  <a:srgbClr val="172033"/>
                </a:solidFill>
                <a:latin typeface="Cambria" pitchFamily="34" charset="0"/>
                <a:ea typeface="Cambria" pitchFamily="34" charset="-122"/>
                <a:cs typeface="Cambria" pitchFamily="34" charset="-120"/>
              </a:rPr>
              <a:t>Writing Pulse — Real-Time Dashboard</a:t>
            </a:r>
            <a:endParaRPr lang="en-US" sz="3200" dirty="0"/>
          </a:p>
        </p:txBody>
      </p:sp>
      <p:sp>
        <p:nvSpPr>
          <p:cNvPr id="4" name="Shape 2"/>
          <p:cNvSpPr/>
          <p:nvPr/>
        </p:nvSpPr>
        <p:spPr>
          <a:xfrm>
            <a:off x="548640" y="1508760"/>
            <a:ext cx="2542032" cy="960120"/>
          </a:xfrm>
          <a:prstGeom prst="roundRect">
            <a:avLst>
              <a:gd name="adj" fmla="val 9524"/>
            </a:avLst>
          </a:prstGeom>
          <a:solidFill>
            <a:srgbClr val="F6F7FB"/>
          </a:solidFill>
          <a:ln w="9525">
            <a:solidFill>
              <a:srgbClr val="E5E7EF"/>
            </a:solidFill>
            <a:prstDash val="solid"/>
          </a:ln>
        </p:spPr>
      </p:sp>
      <p:sp>
        <p:nvSpPr>
          <p:cNvPr id="5" name="Text 3"/>
          <p:cNvSpPr/>
          <p:nvPr/>
        </p:nvSpPr>
        <p:spPr>
          <a:xfrm>
            <a:off x="713232" y="1600200"/>
            <a:ext cx="2212848" cy="274320"/>
          </a:xfrm>
          <a:prstGeom prst="rect">
            <a:avLst/>
          </a:prstGeom>
          <a:noFill/>
          <a:ln/>
        </p:spPr>
        <p:txBody>
          <a:bodyPr wrap="square" lIns="0" tIns="0" rIns="0" bIns="0" rtlCol="0" anchor="ctr"/>
          <a:lstStyle/>
          <a:p>
            <a:pPr marL="0" indent="0">
              <a:buNone/>
            </a:pPr>
            <a:r>
              <a:rPr lang="en-US" sz="950" dirty="0">
                <a:solidFill>
                  <a:srgbClr val="697386"/>
                </a:solidFill>
                <a:latin typeface="Calibri" pitchFamily="34" charset="0"/>
                <a:ea typeface="Calibri" pitchFamily="34" charset="-122"/>
                <a:cs typeface="Calibri" pitchFamily="34" charset="-120"/>
              </a:rPr>
              <a:t>Top Trending Topic</a:t>
            </a:r>
            <a:endParaRPr lang="en-US" sz="950" dirty="0"/>
          </a:p>
        </p:txBody>
      </p:sp>
      <p:sp>
        <p:nvSpPr>
          <p:cNvPr id="6" name="Text 4"/>
          <p:cNvSpPr/>
          <p:nvPr/>
        </p:nvSpPr>
        <p:spPr>
          <a:xfrm>
            <a:off x="713232" y="1828800"/>
            <a:ext cx="2212848" cy="411480"/>
          </a:xfrm>
          <a:prstGeom prst="rect">
            <a:avLst/>
          </a:prstGeom>
          <a:noFill/>
          <a:ln/>
        </p:spPr>
        <p:txBody>
          <a:bodyPr wrap="square" lIns="0" tIns="0" rIns="0" bIns="0" rtlCol="0" anchor="ctr"/>
          <a:lstStyle/>
          <a:p>
            <a:pPr marL="0" indent="0">
              <a:buNone/>
            </a:pPr>
            <a:r>
              <a:rPr lang="en-US" sz="2100" b="1" dirty="0">
                <a:solidFill>
                  <a:srgbClr val="172033"/>
                </a:solidFill>
                <a:latin typeface="Cambria" pitchFamily="34" charset="0"/>
                <a:ea typeface="Cambria" pitchFamily="34" charset="-122"/>
                <a:cs typeface="Cambria" pitchFamily="34" charset="-120"/>
              </a:rPr>
              <a:t>AI Tutors</a:t>
            </a:r>
            <a:endParaRPr lang="en-US" sz="2100" dirty="0"/>
          </a:p>
        </p:txBody>
      </p:sp>
      <p:sp>
        <p:nvSpPr>
          <p:cNvPr id="7" name="Text 5"/>
          <p:cNvSpPr/>
          <p:nvPr/>
        </p:nvSpPr>
        <p:spPr>
          <a:xfrm>
            <a:off x="713232" y="2221992"/>
            <a:ext cx="2212848" cy="219456"/>
          </a:xfrm>
          <a:prstGeom prst="rect">
            <a:avLst/>
          </a:prstGeom>
          <a:noFill/>
          <a:ln/>
        </p:spPr>
        <p:txBody>
          <a:bodyPr wrap="square" lIns="0" tIns="0" rIns="0" bIns="0" rtlCol="0" anchor="ctr"/>
          <a:lstStyle/>
          <a:p>
            <a:pPr marL="0" indent="0">
              <a:buNone/>
            </a:pPr>
            <a:r>
              <a:rPr lang="en-US" sz="900" b="1" dirty="0">
                <a:solidFill>
                  <a:srgbClr val="16A34A"/>
                </a:solidFill>
                <a:latin typeface="Calibri" pitchFamily="34" charset="0"/>
                <a:ea typeface="Calibri" pitchFamily="34" charset="-122"/>
                <a:cs typeface="Calibri" pitchFamily="34" charset="-120"/>
              </a:rPr>
              <a:t>↑ 91 / 100</a:t>
            </a:r>
            <a:endParaRPr lang="en-US" sz="900" dirty="0"/>
          </a:p>
        </p:txBody>
      </p:sp>
      <p:sp>
        <p:nvSpPr>
          <p:cNvPr id="8" name="Shape 6"/>
          <p:cNvSpPr/>
          <p:nvPr/>
        </p:nvSpPr>
        <p:spPr>
          <a:xfrm>
            <a:off x="3291840" y="1508760"/>
            <a:ext cx="2542032" cy="960120"/>
          </a:xfrm>
          <a:prstGeom prst="roundRect">
            <a:avLst>
              <a:gd name="adj" fmla="val 9524"/>
            </a:avLst>
          </a:prstGeom>
          <a:solidFill>
            <a:srgbClr val="F6F7FB"/>
          </a:solidFill>
          <a:ln w="9525">
            <a:solidFill>
              <a:srgbClr val="E5E7EF"/>
            </a:solidFill>
            <a:prstDash val="solid"/>
          </a:ln>
        </p:spPr>
      </p:sp>
      <p:sp>
        <p:nvSpPr>
          <p:cNvPr id="9" name="Text 7"/>
          <p:cNvSpPr/>
          <p:nvPr/>
        </p:nvSpPr>
        <p:spPr>
          <a:xfrm>
            <a:off x="3456432" y="1600200"/>
            <a:ext cx="2212848" cy="274320"/>
          </a:xfrm>
          <a:prstGeom prst="rect">
            <a:avLst/>
          </a:prstGeom>
          <a:noFill/>
          <a:ln/>
        </p:spPr>
        <p:txBody>
          <a:bodyPr wrap="square" lIns="0" tIns="0" rIns="0" bIns="0" rtlCol="0" anchor="ctr"/>
          <a:lstStyle/>
          <a:p>
            <a:pPr marL="0" indent="0">
              <a:buNone/>
            </a:pPr>
            <a:r>
              <a:rPr lang="en-US" sz="950" dirty="0">
                <a:solidFill>
                  <a:srgbClr val="697386"/>
                </a:solidFill>
                <a:latin typeface="Calibri" pitchFamily="34" charset="0"/>
                <a:ea typeface="Calibri" pitchFamily="34" charset="-122"/>
                <a:cs typeface="Calibri" pitchFamily="34" charset="-120"/>
              </a:rPr>
              <a:t>Avg. Engagement</a:t>
            </a:r>
            <a:endParaRPr lang="en-US" sz="950" dirty="0"/>
          </a:p>
        </p:txBody>
      </p:sp>
      <p:sp>
        <p:nvSpPr>
          <p:cNvPr id="10" name="Text 8"/>
          <p:cNvSpPr/>
          <p:nvPr/>
        </p:nvSpPr>
        <p:spPr>
          <a:xfrm>
            <a:off x="3456432" y="1828800"/>
            <a:ext cx="2212848" cy="411480"/>
          </a:xfrm>
          <a:prstGeom prst="rect">
            <a:avLst/>
          </a:prstGeom>
          <a:noFill/>
          <a:ln/>
        </p:spPr>
        <p:txBody>
          <a:bodyPr wrap="square" lIns="0" tIns="0" rIns="0" bIns="0" rtlCol="0" anchor="ctr"/>
          <a:lstStyle/>
          <a:p>
            <a:pPr marL="0" indent="0">
              <a:buNone/>
            </a:pPr>
            <a:r>
              <a:rPr lang="en-US" sz="2100" b="1" dirty="0">
                <a:solidFill>
                  <a:srgbClr val="172033"/>
                </a:solidFill>
                <a:latin typeface="Cambria" pitchFamily="34" charset="0"/>
                <a:ea typeface="Cambria" pitchFamily="34" charset="-122"/>
                <a:cs typeface="Cambria" pitchFamily="34" charset="-120"/>
              </a:rPr>
              <a:t>86%</a:t>
            </a:r>
            <a:endParaRPr lang="en-US" sz="2100" dirty="0"/>
          </a:p>
        </p:txBody>
      </p:sp>
      <p:sp>
        <p:nvSpPr>
          <p:cNvPr id="11" name="Text 9"/>
          <p:cNvSpPr/>
          <p:nvPr/>
        </p:nvSpPr>
        <p:spPr>
          <a:xfrm>
            <a:off x="3456432" y="2221992"/>
            <a:ext cx="2212848" cy="219456"/>
          </a:xfrm>
          <a:prstGeom prst="rect">
            <a:avLst/>
          </a:prstGeom>
          <a:noFill/>
          <a:ln/>
        </p:spPr>
        <p:txBody>
          <a:bodyPr wrap="square" lIns="0" tIns="0" rIns="0" bIns="0" rtlCol="0" anchor="ctr"/>
          <a:lstStyle/>
          <a:p>
            <a:pPr marL="0" indent="0">
              <a:buNone/>
            </a:pPr>
            <a:r>
              <a:rPr lang="en-US" sz="900" b="1" dirty="0">
                <a:solidFill>
                  <a:srgbClr val="16A34A"/>
                </a:solidFill>
                <a:latin typeface="Calibri" pitchFamily="34" charset="0"/>
                <a:ea typeface="Calibri" pitchFamily="34" charset="-122"/>
                <a:cs typeface="Calibri" pitchFamily="34" charset="-120"/>
              </a:rPr>
              <a:t>High potential</a:t>
            </a:r>
            <a:endParaRPr lang="en-US" sz="900" dirty="0"/>
          </a:p>
        </p:txBody>
      </p:sp>
      <p:sp>
        <p:nvSpPr>
          <p:cNvPr id="12" name="Shape 10"/>
          <p:cNvSpPr/>
          <p:nvPr/>
        </p:nvSpPr>
        <p:spPr>
          <a:xfrm>
            <a:off x="6035040" y="1508760"/>
            <a:ext cx="2542032" cy="960120"/>
          </a:xfrm>
          <a:prstGeom prst="roundRect">
            <a:avLst>
              <a:gd name="adj" fmla="val 9524"/>
            </a:avLst>
          </a:prstGeom>
          <a:solidFill>
            <a:srgbClr val="F6F7FB"/>
          </a:solidFill>
          <a:ln w="9525">
            <a:solidFill>
              <a:srgbClr val="E5E7EF"/>
            </a:solidFill>
            <a:prstDash val="solid"/>
          </a:ln>
        </p:spPr>
      </p:sp>
      <p:sp>
        <p:nvSpPr>
          <p:cNvPr id="13" name="Text 11"/>
          <p:cNvSpPr/>
          <p:nvPr/>
        </p:nvSpPr>
        <p:spPr>
          <a:xfrm>
            <a:off x="6199632" y="1600200"/>
            <a:ext cx="2212848" cy="274320"/>
          </a:xfrm>
          <a:prstGeom prst="rect">
            <a:avLst/>
          </a:prstGeom>
          <a:noFill/>
          <a:ln/>
        </p:spPr>
        <p:txBody>
          <a:bodyPr wrap="square" lIns="0" tIns="0" rIns="0" bIns="0" rtlCol="0" anchor="ctr"/>
          <a:lstStyle/>
          <a:p>
            <a:pPr marL="0" indent="0">
              <a:buNone/>
            </a:pPr>
            <a:r>
              <a:rPr lang="en-US" sz="950" dirty="0">
                <a:solidFill>
                  <a:srgbClr val="697386"/>
                </a:solidFill>
                <a:latin typeface="Calibri" pitchFamily="34" charset="0"/>
                <a:ea typeface="Calibri" pitchFamily="34" charset="-122"/>
                <a:cs typeface="Calibri" pitchFamily="34" charset="-120"/>
              </a:rPr>
              <a:t>Positive Sentiment</a:t>
            </a:r>
            <a:endParaRPr lang="en-US" sz="950" dirty="0"/>
          </a:p>
        </p:txBody>
      </p:sp>
      <p:sp>
        <p:nvSpPr>
          <p:cNvPr id="14" name="Text 12"/>
          <p:cNvSpPr/>
          <p:nvPr/>
        </p:nvSpPr>
        <p:spPr>
          <a:xfrm>
            <a:off x="6199632" y="1828800"/>
            <a:ext cx="2212848" cy="411480"/>
          </a:xfrm>
          <a:prstGeom prst="rect">
            <a:avLst/>
          </a:prstGeom>
          <a:noFill/>
          <a:ln/>
        </p:spPr>
        <p:txBody>
          <a:bodyPr wrap="square" lIns="0" tIns="0" rIns="0" bIns="0" rtlCol="0" anchor="ctr"/>
          <a:lstStyle/>
          <a:p>
            <a:pPr marL="0" indent="0">
              <a:buNone/>
            </a:pPr>
            <a:r>
              <a:rPr lang="en-US" sz="2100" b="1" dirty="0">
                <a:solidFill>
                  <a:srgbClr val="172033"/>
                </a:solidFill>
                <a:latin typeface="Cambria" pitchFamily="34" charset="0"/>
                <a:ea typeface="Cambria" pitchFamily="34" charset="-122"/>
                <a:cs typeface="Cambria" pitchFamily="34" charset="-120"/>
              </a:rPr>
              <a:t>65%</a:t>
            </a:r>
            <a:endParaRPr lang="en-US" sz="2100" dirty="0"/>
          </a:p>
        </p:txBody>
      </p:sp>
      <p:sp>
        <p:nvSpPr>
          <p:cNvPr id="15" name="Text 13"/>
          <p:cNvSpPr/>
          <p:nvPr/>
        </p:nvSpPr>
        <p:spPr>
          <a:xfrm>
            <a:off x="6199632" y="2221992"/>
            <a:ext cx="2212848" cy="219456"/>
          </a:xfrm>
          <a:prstGeom prst="rect">
            <a:avLst/>
          </a:prstGeom>
          <a:noFill/>
          <a:ln/>
        </p:spPr>
        <p:txBody>
          <a:bodyPr wrap="square" lIns="0" tIns="0" rIns="0" bIns="0" rtlCol="0" anchor="ctr"/>
          <a:lstStyle/>
          <a:p>
            <a:pPr marL="0" indent="0">
              <a:buNone/>
            </a:pPr>
            <a:r>
              <a:rPr lang="en-US" sz="900" b="1" dirty="0">
                <a:solidFill>
                  <a:srgbClr val="16A34A"/>
                </a:solidFill>
                <a:latin typeface="Calibri" pitchFamily="34" charset="0"/>
                <a:ea typeface="Calibri" pitchFamily="34" charset="-122"/>
                <a:cs typeface="Calibri" pitchFamily="34" charset="-120"/>
              </a:rPr>
              <a:t>Audience interest</a:t>
            </a:r>
            <a:endParaRPr lang="en-US" sz="900" dirty="0"/>
          </a:p>
        </p:txBody>
      </p:sp>
      <p:sp>
        <p:nvSpPr>
          <p:cNvPr id="16" name="Shape 14"/>
          <p:cNvSpPr/>
          <p:nvPr/>
        </p:nvSpPr>
        <p:spPr>
          <a:xfrm>
            <a:off x="8778240" y="1508760"/>
            <a:ext cx="2542032" cy="960120"/>
          </a:xfrm>
          <a:prstGeom prst="roundRect">
            <a:avLst>
              <a:gd name="adj" fmla="val 9524"/>
            </a:avLst>
          </a:prstGeom>
          <a:solidFill>
            <a:srgbClr val="F6F7FB"/>
          </a:solidFill>
          <a:ln w="9525">
            <a:solidFill>
              <a:srgbClr val="E5E7EF"/>
            </a:solidFill>
            <a:prstDash val="solid"/>
          </a:ln>
        </p:spPr>
      </p:sp>
      <p:sp>
        <p:nvSpPr>
          <p:cNvPr id="17" name="Text 15"/>
          <p:cNvSpPr/>
          <p:nvPr/>
        </p:nvSpPr>
        <p:spPr>
          <a:xfrm>
            <a:off x="8942832" y="1600200"/>
            <a:ext cx="2212848" cy="274320"/>
          </a:xfrm>
          <a:prstGeom prst="rect">
            <a:avLst/>
          </a:prstGeom>
          <a:noFill/>
          <a:ln/>
        </p:spPr>
        <p:txBody>
          <a:bodyPr wrap="square" lIns="0" tIns="0" rIns="0" bIns="0" rtlCol="0" anchor="ctr"/>
          <a:lstStyle/>
          <a:p>
            <a:pPr marL="0" indent="0">
              <a:buNone/>
            </a:pPr>
            <a:r>
              <a:rPr lang="en-US" sz="950" dirty="0">
                <a:solidFill>
                  <a:srgbClr val="697386"/>
                </a:solidFill>
                <a:latin typeface="Calibri" pitchFamily="34" charset="0"/>
                <a:ea typeface="Calibri" pitchFamily="34" charset="-122"/>
                <a:cs typeface="Calibri" pitchFamily="34" charset="-120"/>
              </a:rPr>
              <a:t>Content Opportunities</a:t>
            </a:r>
            <a:endParaRPr lang="en-US" sz="950" dirty="0"/>
          </a:p>
        </p:txBody>
      </p:sp>
      <p:sp>
        <p:nvSpPr>
          <p:cNvPr id="18" name="Text 16"/>
          <p:cNvSpPr/>
          <p:nvPr/>
        </p:nvSpPr>
        <p:spPr>
          <a:xfrm>
            <a:off x="8942832" y="1828800"/>
            <a:ext cx="2212848" cy="411480"/>
          </a:xfrm>
          <a:prstGeom prst="rect">
            <a:avLst/>
          </a:prstGeom>
          <a:noFill/>
          <a:ln/>
        </p:spPr>
        <p:txBody>
          <a:bodyPr wrap="square" lIns="0" tIns="0" rIns="0" bIns="0" rtlCol="0" anchor="ctr"/>
          <a:lstStyle/>
          <a:p>
            <a:pPr marL="0" indent="0">
              <a:buNone/>
            </a:pPr>
            <a:r>
              <a:rPr lang="en-US" sz="2100" b="1" dirty="0">
                <a:solidFill>
                  <a:srgbClr val="172033"/>
                </a:solidFill>
                <a:latin typeface="Cambria" pitchFamily="34" charset="0"/>
                <a:ea typeface="Cambria" pitchFamily="34" charset="-122"/>
                <a:cs typeface="Cambria" pitchFamily="34" charset="-120"/>
              </a:rPr>
              <a:t>12</a:t>
            </a:r>
            <a:endParaRPr lang="en-US" sz="2100" dirty="0"/>
          </a:p>
        </p:txBody>
      </p:sp>
      <p:sp>
        <p:nvSpPr>
          <p:cNvPr id="19" name="Text 17"/>
          <p:cNvSpPr/>
          <p:nvPr/>
        </p:nvSpPr>
        <p:spPr>
          <a:xfrm>
            <a:off x="8942832" y="2221992"/>
            <a:ext cx="2212848" cy="219456"/>
          </a:xfrm>
          <a:prstGeom prst="rect">
            <a:avLst/>
          </a:prstGeom>
          <a:noFill/>
          <a:ln/>
        </p:spPr>
        <p:txBody>
          <a:bodyPr wrap="square" lIns="0" tIns="0" rIns="0" bIns="0" rtlCol="0" anchor="ctr"/>
          <a:lstStyle/>
          <a:p>
            <a:pPr marL="0" indent="0">
              <a:buNone/>
            </a:pPr>
            <a:r>
              <a:rPr lang="en-US" sz="900" b="1" dirty="0">
                <a:solidFill>
                  <a:srgbClr val="16A34A"/>
                </a:solidFill>
                <a:latin typeface="Calibri" pitchFamily="34" charset="0"/>
                <a:ea typeface="Calibri" pitchFamily="34" charset="-122"/>
                <a:cs typeface="Calibri" pitchFamily="34" charset="-120"/>
              </a:rPr>
              <a:t>↑ 4 new</a:t>
            </a:r>
            <a:endParaRPr lang="en-US" sz="900" dirty="0"/>
          </a:p>
        </p:txBody>
      </p:sp>
      <p:sp>
        <p:nvSpPr>
          <p:cNvPr id="20" name="Text 18"/>
          <p:cNvSpPr/>
          <p:nvPr/>
        </p:nvSpPr>
        <p:spPr>
          <a:xfrm>
            <a:off x="548640" y="2587752"/>
            <a:ext cx="5074920" cy="274320"/>
          </a:xfrm>
          <a:prstGeom prst="rect">
            <a:avLst/>
          </a:prstGeom>
          <a:noFill/>
          <a:ln/>
        </p:spPr>
        <p:txBody>
          <a:bodyPr wrap="square" lIns="0" tIns="0" rIns="0" bIns="0" rtlCol="0" anchor="ctr"/>
          <a:lstStyle/>
          <a:p>
            <a:pPr marL="0" indent="0">
              <a:buNone/>
            </a:pPr>
            <a:r>
              <a:rPr lang="en-US" sz="1250" b="1" dirty="0">
                <a:solidFill>
                  <a:srgbClr val="172033"/>
                </a:solidFill>
                <a:latin typeface="Calibri" pitchFamily="34" charset="0"/>
                <a:ea typeface="Calibri" pitchFamily="34" charset="-122"/>
                <a:cs typeface="Calibri" pitchFamily="34" charset="-120"/>
              </a:rPr>
              <a:t>Topic Trend Score</a:t>
            </a:r>
            <a:endParaRPr lang="en-US" sz="1250" dirty="0"/>
          </a:p>
        </p:txBody>
      </p:sp>
      <p:graphicFrame>
        <p:nvGraphicFramePr>
          <p:cNvPr id="21" name="Chart 0"/>
          <p:cNvGraphicFramePr/>
          <p:nvPr/>
        </p:nvGraphicFramePr>
        <p:xfrm>
          <a:off x="548640" y="2898648"/>
          <a:ext cx="5074920" cy="1554480"/>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 19"/>
          <p:cNvSpPr/>
          <p:nvPr/>
        </p:nvSpPr>
        <p:spPr>
          <a:xfrm>
            <a:off x="5897880" y="2587752"/>
            <a:ext cx="2514600" cy="274320"/>
          </a:xfrm>
          <a:prstGeom prst="rect">
            <a:avLst/>
          </a:prstGeom>
          <a:noFill/>
          <a:ln/>
        </p:spPr>
        <p:txBody>
          <a:bodyPr wrap="square" lIns="0" tIns="0" rIns="0" bIns="0" rtlCol="0" anchor="ctr"/>
          <a:lstStyle/>
          <a:p>
            <a:pPr marL="0" indent="0">
              <a:buNone/>
            </a:pPr>
            <a:r>
              <a:rPr lang="en-US" sz="1250" b="1" dirty="0">
                <a:solidFill>
                  <a:srgbClr val="172033"/>
                </a:solidFill>
                <a:latin typeface="Calibri" pitchFamily="34" charset="0"/>
                <a:ea typeface="Calibri" pitchFamily="34" charset="-122"/>
                <a:cs typeface="Calibri" pitchFamily="34" charset="-120"/>
              </a:rPr>
              <a:t>Sentiment</a:t>
            </a:r>
            <a:endParaRPr lang="en-US" sz="1250" dirty="0"/>
          </a:p>
        </p:txBody>
      </p:sp>
      <p:graphicFrame>
        <p:nvGraphicFramePr>
          <p:cNvPr id="23" name="Chart 1"/>
          <p:cNvGraphicFramePr/>
          <p:nvPr/>
        </p:nvGraphicFramePr>
        <p:xfrm>
          <a:off x="5897880" y="2880360"/>
          <a:ext cx="2514600" cy="1554480"/>
        </p:xfrm>
        <a:graphic>
          <a:graphicData uri="http://schemas.openxmlformats.org/drawingml/2006/chart">
            <c:chart xmlns:c="http://schemas.openxmlformats.org/drawingml/2006/chart" xmlns:r="http://schemas.openxmlformats.org/officeDocument/2006/relationships" r:id="rId4"/>
          </a:graphicData>
        </a:graphic>
      </p:graphicFrame>
      <p:sp>
        <p:nvSpPr>
          <p:cNvPr id="24" name="Text 20"/>
          <p:cNvSpPr/>
          <p:nvPr/>
        </p:nvSpPr>
        <p:spPr>
          <a:xfrm>
            <a:off x="8595360" y="2587752"/>
            <a:ext cx="3063240" cy="274320"/>
          </a:xfrm>
          <a:prstGeom prst="rect">
            <a:avLst/>
          </a:prstGeom>
          <a:noFill/>
          <a:ln/>
        </p:spPr>
        <p:txBody>
          <a:bodyPr wrap="square" lIns="0" tIns="0" rIns="0" bIns="0" rtlCol="0" anchor="ctr"/>
          <a:lstStyle/>
          <a:p>
            <a:pPr marL="0" indent="0">
              <a:buNone/>
            </a:pPr>
            <a:r>
              <a:rPr lang="en-US" sz="1250" b="1" dirty="0">
                <a:solidFill>
                  <a:srgbClr val="172033"/>
                </a:solidFill>
                <a:latin typeface="Calibri" pitchFamily="34" charset="0"/>
                <a:ea typeface="Calibri" pitchFamily="34" charset="-122"/>
                <a:cs typeface="Calibri" pitchFamily="34" charset="-120"/>
              </a:rPr>
              <a:t>Engagement Forecast</a:t>
            </a:r>
            <a:endParaRPr lang="en-US" sz="1250" dirty="0"/>
          </a:p>
        </p:txBody>
      </p:sp>
      <p:graphicFrame>
        <p:nvGraphicFramePr>
          <p:cNvPr id="25" name="Chart 2"/>
          <p:cNvGraphicFramePr/>
          <p:nvPr/>
        </p:nvGraphicFramePr>
        <p:xfrm>
          <a:off x="8595360" y="2898648"/>
          <a:ext cx="3063240" cy="1554480"/>
        </p:xfrm>
        <a:graphic>
          <a:graphicData uri="http://schemas.openxmlformats.org/drawingml/2006/chart">
            <c:chart xmlns:c="http://schemas.openxmlformats.org/drawingml/2006/chart" xmlns:r="http://schemas.openxmlformats.org/officeDocument/2006/relationships" r:id="rId5"/>
          </a:graphicData>
        </a:graphic>
      </p:graphicFrame>
      <p:sp>
        <p:nvSpPr>
          <p:cNvPr id="26" name="Shape 21"/>
          <p:cNvSpPr/>
          <p:nvPr/>
        </p:nvSpPr>
        <p:spPr>
          <a:xfrm>
            <a:off x="548640" y="4709160"/>
            <a:ext cx="11109960" cy="1600200"/>
          </a:xfrm>
          <a:prstGeom prst="roundRect">
            <a:avLst>
              <a:gd name="adj" fmla="val 5714"/>
            </a:avLst>
          </a:prstGeom>
          <a:solidFill>
            <a:srgbClr val="1B1440"/>
          </a:solidFill>
          <a:ln/>
        </p:spPr>
      </p:sp>
      <p:sp>
        <p:nvSpPr>
          <p:cNvPr id="27" name="Text 22"/>
          <p:cNvSpPr/>
          <p:nvPr/>
        </p:nvSpPr>
        <p:spPr>
          <a:xfrm>
            <a:off x="822960" y="4873752"/>
            <a:ext cx="4572000" cy="274320"/>
          </a:xfrm>
          <a:prstGeom prst="rect">
            <a:avLst/>
          </a:prstGeom>
          <a:noFill/>
          <a:ln/>
        </p:spPr>
        <p:txBody>
          <a:bodyPr wrap="square" lIns="0" tIns="0" rIns="0" bIns="0" rtlCol="0" anchor="ctr"/>
          <a:lstStyle/>
          <a:p>
            <a:pPr marL="0" indent="0">
              <a:buNone/>
            </a:pPr>
            <a:r>
              <a:rPr lang="en-US" sz="1200" b="1" dirty="0">
                <a:solidFill>
                  <a:srgbClr val="06B6D4"/>
                </a:solidFill>
                <a:latin typeface="Calibri" pitchFamily="34" charset="0"/>
                <a:ea typeface="Calibri" pitchFamily="34" charset="-122"/>
                <a:cs typeface="Calibri" pitchFamily="34" charset="-120"/>
              </a:rPr>
              <a:t>Content Opportunity Ranking</a:t>
            </a:r>
            <a:endParaRPr lang="en-US" sz="1200" dirty="0"/>
          </a:p>
        </p:txBody>
      </p:sp>
      <p:sp>
        <p:nvSpPr>
          <p:cNvPr id="28" name="Text 23"/>
          <p:cNvSpPr/>
          <p:nvPr/>
        </p:nvSpPr>
        <p:spPr>
          <a:xfrm>
            <a:off x="822960" y="5239512"/>
            <a:ext cx="10561320" cy="219456"/>
          </a:xfrm>
          <a:prstGeom prst="rect">
            <a:avLst/>
          </a:prstGeom>
          <a:noFill/>
          <a:ln/>
        </p:spPr>
        <p:txBody>
          <a:bodyPr wrap="square" lIns="0" tIns="0" rIns="0" bIns="0" rtlCol="0" anchor="ctr"/>
          <a:lstStyle/>
          <a:p>
            <a:pPr marL="0" indent="0">
              <a:buNone/>
            </a:pPr>
            <a:r>
              <a:rPr lang="en-US" sz="1000" dirty="0">
                <a:solidFill>
                  <a:srgbClr val="E7E8FA"/>
                </a:solidFill>
                <a:latin typeface="Calibri" pitchFamily="34" charset="0"/>
                <a:ea typeface="Calibri" pitchFamily="34" charset="-122"/>
                <a:cs typeface="Calibri" pitchFamily="34" charset="-120"/>
              </a:rPr>
              <a:t>1.  AI-powered personalized learning — 91</a:t>
            </a:r>
            <a:endParaRPr lang="en-US" sz="1000" dirty="0"/>
          </a:p>
        </p:txBody>
      </p:sp>
      <p:sp>
        <p:nvSpPr>
          <p:cNvPr id="29" name="Text 24"/>
          <p:cNvSpPr/>
          <p:nvPr/>
        </p:nvSpPr>
        <p:spPr>
          <a:xfrm>
            <a:off x="822960" y="5445252"/>
            <a:ext cx="10561320" cy="219456"/>
          </a:xfrm>
          <a:prstGeom prst="rect">
            <a:avLst/>
          </a:prstGeom>
          <a:noFill/>
          <a:ln/>
        </p:spPr>
        <p:txBody>
          <a:bodyPr wrap="square" lIns="0" tIns="0" rIns="0" bIns="0" rtlCol="0" anchor="ctr"/>
          <a:lstStyle/>
          <a:p>
            <a:pPr marL="0" indent="0">
              <a:buNone/>
            </a:pPr>
            <a:r>
              <a:rPr lang="en-US" sz="1000" dirty="0">
                <a:solidFill>
                  <a:srgbClr val="E7E8FA"/>
                </a:solidFill>
                <a:latin typeface="Calibri" pitchFamily="34" charset="0"/>
                <a:ea typeface="Calibri" pitchFamily="34" charset="-122"/>
                <a:cs typeface="Calibri" pitchFamily="34" charset="-120"/>
              </a:rPr>
              <a:t>2.  AI tutors for students — 88</a:t>
            </a:r>
            <a:endParaRPr lang="en-US" sz="1000" dirty="0"/>
          </a:p>
        </p:txBody>
      </p:sp>
      <p:sp>
        <p:nvSpPr>
          <p:cNvPr id="30" name="Text 25"/>
          <p:cNvSpPr/>
          <p:nvPr/>
        </p:nvSpPr>
        <p:spPr>
          <a:xfrm>
            <a:off x="822960" y="5650992"/>
            <a:ext cx="10561320" cy="219456"/>
          </a:xfrm>
          <a:prstGeom prst="rect">
            <a:avLst/>
          </a:prstGeom>
          <a:noFill/>
          <a:ln/>
        </p:spPr>
        <p:txBody>
          <a:bodyPr wrap="square" lIns="0" tIns="0" rIns="0" bIns="0" rtlCol="0" anchor="ctr"/>
          <a:lstStyle/>
          <a:p>
            <a:pPr marL="0" indent="0">
              <a:buNone/>
            </a:pPr>
            <a:r>
              <a:rPr lang="en-US" sz="1000" dirty="0">
                <a:solidFill>
                  <a:srgbClr val="E7E8FA"/>
                </a:solidFill>
                <a:latin typeface="Calibri" pitchFamily="34" charset="0"/>
                <a:ea typeface="Calibri" pitchFamily="34" charset="-122"/>
                <a:cs typeface="Calibri" pitchFamily="34" charset="-120"/>
              </a:rPr>
              <a:t>3.  Generative AI in education — 85</a:t>
            </a:r>
            <a:endParaRPr lang="en-US" sz="1000" dirty="0"/>
          </a:p>
        </p:txBody>
      </p:sp>
      <p:sp>
        <p:nvSpPr>
          <p:cNvPr id="31" name="Text 26"/>
          <p:cNvSpPr/>
          <p:nvPr/>
        </p:nvSpPr>
        <p:spPr>
          <a:xfrm>
            <a:off x="822960" y="5856732"/>
            <a:ext cx="10561320" cy="219456"/>
          </a:xfrm>
          <a:prstGeom prst="rect">
            <a:avLst/>
          </a:prstGeom>
          <a:noFill/>
          <a:ln/>
        </p:spPr>
        <p:txBody>
          <a:bodyPr wrap="square" lIns="0" tIns="0" rIns="0" bIns="0" rtlCol="0" anchor="ctr"/>
          <a:lstStyle/>
          <a:p>
            <a:pPr marL="0" indent="0">
              <a:buNone/>
            </a:pPr>
            <a:r>
              <a:rPr lang="en-US" sz="1000" dirty="0">
                <a:solidFill>
                  <a:srgbClr val="E7E8FA"/>
                </a:solidFill>
                <a:latin typeface="Calibri" pitchFamily="34" charset="0"/>
                <a:ea typeface="Calibri" pitchFamily="34" charset="-122"/>
                <a:cs typeface="Calibri" pitchFamily="34" charset="-120"/>
              </a:rPr>
              <a:t>4.  Responsible AI — 79</a:t>
            </a:r>
            <a:endParaRPr lang="en-US" sz="1000" dirty="0"/>
          </a:p>
        </p:txBody>
      </p:sp>
      <p:sp>
        <p:nvSpPr>
          <p:cNvPr id="32" name="Text 27"/>
          <p:cNvSpPr/>
          <p:nvPr/>
        </p:nvSpPr>
        <p:spPr>
          <a:xfrm>
            <a:off x="822960" y="6062472"/>
            <a:ext cx="10561320" cy="219456"/>
          </a:xfrm>
          <a:prstGeom prst="rect">
            <a:avLst/>
          </a:prstGeom>
          <a:noFill/>
          <a:ln/>
        </p:spPr>
        <p:txBody>
          <a:bodyPr wrap="square" lIns="0" tIns="0" rIns="0" bIns="0" rtlCol="0" anchor="ctr"/>
          <a:lstStyle/>
          <a:p>
            <a:pPr marL="0" indent="0">
              <a:buNone/>
            </a:pPr>
            <a:r>
              <a:rPr lang="en-US" sz="1000" dirty="0">
                <a:solidFill>
                  <a:srgbClr val="E7E8FA"/>
                </a:solidFill>
                <a:latin typeface="Calibri" pitchFamily="34" charset="0"/>
                <a:ea typeface="Calibri" pitchFamily="34" charset="-122"/>
                <a:cs typeface="Calibri" pitchFamily="34" charset="-120"/>
              </a:rPr>
              <a:t>5.  AI classroom productivity — 76</a:t>
            </a:r>
            <a:endParaRPr lang="en-US" sz="1000" dirty="0"/>
          </a:p>
        </p:txBody>
      </p:sp>
      <p:sp>
        <p:nvSpPr>
          <p:cNvPr id="33" name="Text 28"/>
          <p:cNvSpPr/>
          <p:nvPr/>
        </p:nvSpPr>
        <p:spPr>
          <a:xfrm>
            <a:off x="457200" y="6473952"/>
            <a:ext cx="3657600" cy="274320"/>
          </a:xfrm>
          <a:prstGeom prst="rect">
            <a:avLst/>
          </a:prstGeom>
          <a:noFill/>
          <a:ln/>
        </p:spPr>
        <p:txBody>
          <a:bodyPr wrap="square" lIns="0" tIns="0" rIns="0" bIns="0" rtlCol="0" anchor="ctr"/>
          <a:lstStyle/>
          <a:p>
            <a:pPr marL="0" indent="0">
              <a:buNone/>
            </a:pPr>
            <a:r>
              <a:rPr lang="en-US" sz="900" dirty="0">
                <a:solidFill>
                  <a:srgbClr val="697386"/>
                </a:solidFill>
                <a:latin typeface="Calibri" pitchFamily="34" charset="0"/>
                <a:ea typeface="Calibri" pitchFamily="34" charset="-122"/>
                <a:cs typeface="Calibri" pitchFamily="34" charset="-120"/>
              </a:rPr>
              <a:t>ContentPulse AI</a:t>
            </a:r>
            <a:endParaRPr lang="en-US" sz="900" dirty="0"/>
          </a:p>
        </p:txBody>
      </p:sp>
      <p:sp>
        <p:nvSpPr>
          <p:cNvPr id="34" name="Text 29"/>
          <p:cNvSpPr/>
          <p:nvPr/>
        </p:nvSpPr>
        <p:spPr>
          <a:xfrm>
            <a:off x="8074152" y="6473952"/>
            <a:ext cx="3657600" cy="274320"/>
          </a:xfrm>
          <a:prstGeom prst="rect">
            <a:avLst/>
          </a:prstGeom>
          <a:noFill/>
          <a:ln/>
        </p:spPr>
        <p:txBody>
          <a:bodyPr wrap="square" lIns="0" tIns="0" rIns="0" bIns="0" rtlCol="0" anchor="ctr"/>
          <a:lstStyle/>
          <a:p>
            <a:pPr marL="0" indent="0" algn="r">
              <a:buNone/>
            </a:pPr>
            <a:r>
              <a:rPr lang="en-US" sz="900" dirty="0">
                <a:solidFill>
                  <a:srgbClr val="697386"/>
                </a:solidFill>
                <a:latin typeface="Calibri" pitchFamily="34" charset="0"/>
                <a:ea typeface="Calibri" pitchFamily="34" charset="-122"/>
                <a:cs typeface="Calibri" pitchFamily="34" charset="-120"/>
              </a:rPr>
              <a:t>06  ·  Writing Pulse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4B3BE0"/>
                </a:solidFill>
                <a:latin typeface="Calibri" pitchFamily="34" charset="0"/>
                <a:ea typeface="Calibri" pitchFamily="34" charset="-122"/>
                <a:cs typeface="Calibri" pitchFamily="34" charset="-120"/>
              </a:rPr>
              <a:t>FEATURE 03</a:t>
            </a:r>
            <a:endParaRPr lang="en-US" sz="1200" dirty="0"/>
          </a:p>
        </p:txBody>
      </p:sp>
      <p:sp>
        <p:nvSpPr>
          <p:cNvPr id="3" name="Text 1"/>
          <p:cNvSpPr/>
          <p:nvPr/>
        </p:nvSpPr>
        <p:spPr>
          <a:xfrm>
            <a:off x="548640" y="640080"/>
            <a:ext cx="10515600" cy="685800"/>
          </a:xfrm>
          <a:prstGeom prst="rect">
            <a:avLst/>
          </a:prstGeom>
          <a:noFill/>
          <a:ln/>
        </p:spPr>
        <p:txBody>
          <a:bodyPr wrap="square" lIns="0" tIns="0" rIns="0" bIns="0" rtlCol="0" anchor="ctr"/>
          <a:lstStyle/>
          <a:p>
            <a:pPr marL="0" indent="0">
              <a:buNone/>
            </a:pPr>
            <a:r>
              <a:rPr lang="en-US" sz="3200" b="1" dirty="0">
                <a:solidFill>
                  <a:srgbClr val="172033"/>
                </a:solidFill>
                <a:latin typeface="Cambria" pitchFamily="34" charset="0"/>
                <a:ea typeface="Cambria" pitchFamily="34" charset="-122"/>
                <a:cs typeface="Cambria" pitchFamily="34" charset="-120"/>
              </a:rPr>
              <a:t>Research Sources — One Intelligence Layer</a:t>
            </a:r>
            <a:endParaRPr lang="en-US" sz="3200" dirty="0"/>
          </a:p>
        </p:txBody>
      </p:sp>
      <p:sp>
        <p:nvSpPr>
          <p:cNvPr id="4" name="Text 2"/>
          <p:cNvSpPr/>
          <p:nvPr/>
        </p:nvSpPr>
        <p:spPr>
          <a:xfrm>
            <a:off x="548640" y="1417320"/>
            <a:ext cx="10058400" cy="320040"/>
          </a:xfrm>
          <a:prstGeom prst="rect">
            <a:avLst/>
          </a:prstGeom>
          <a:noFill/>
          <a:ln/>
        </p:spPr>
        <p:txBody>
          <a:bodyPr wrap="square" lIns="0" tIns="0" rIns="0" bIns="0" rtlCol="0" anchor="ctr"/>
          <a:lstStyle/>
          <a:p>
            <a:pPr marL="0" indent="0">
              <a:buNone/>
            </a:pPr>
            <a:r>
              <a:rPr lang="en-US" sz="1300" dirty="0">
                <a:solidFill>
                  <a:srgbClr val="697386"/>
                </a:solidFill>
                <a:latin typeface="Calibri" pitchFamily="34" charset="0"/>
                <a:ea typeface="Calibri" pitchFamily="34" charset="-122"/>
                <a:cs typeface="Calibri" pitchFamily="34" charset="-120"/>
              </a:rPr>
              <a:t>Fuse news, research, social trends and audience feedback into a single, cross-source intelligence layer.</a:t>
            </a:r>
            <a:endParaRPr lang="en-US" sz="1300" dirty="0"/>
          </a:p>
        </p:txBody>
      </p:sp>
      <p:sp>
        <p:nvSpPr>
          <p:cNvPr id="5" name="Shape 3"/>
          <p:cNvSpPr/>
          <p:nvPr/>
        </p:nvSpPr>
        <p:spPr>
          <a:xfrm>
            <a:off x="548640" y="1920240"/>
            <a:ext cx="2542032" cy="2148840"/>
          </a:xfrm>
          <a:prstGeom prst="roundRect">
            <a:avLst>
              <a:gd name="adj" fmla="val 4255"/>
            </a:avLst>
          </a:prstGeom>
          <a:solidFill>
            <a:srgbClr val="F6F7FB"/>
          </a:solidFill>
          <a:ln w="9525">
            <a:solidFill>
              <a:srgbClr val="E5E7EF"/>
            </a:solidFill>
            <a:prstDash val="solid"/>
          </a:ln>
        </p:spPr>
      </p:sp>
      <p:sp>
        <p:nvSpPr>
          <p:cNvPr id="6" name="Text 4"/>
          <p:cNvSpPr/>
          <p:nvPr/>
        </p:nvSpPr>
        <p:spPr>
          <a:xfrm>
            <a:off x="713232" y="2057400"/>
            <a:ext cx="1444752" cy="219456"/>
          </a:xfrm>
          <a:prstGeom prst="rect">
            <a:avLst/>
          </a:prstGeom>
          <a:noFill/>
          <a:ln/>
        </p:spPr>
        <p:txBody>
          <a:bodyPr wrap="square" lIns="0" tIns="0" rIns="0" bIns="0" rtlCol="0" anchor="ctr"/>
          <a:lstStyle/>
          <a:p>
            <a:pPr marL="0" indent="0">
              <a:buNone/>
            </a:pPr>
            <a:r>
              <a:rPr lang="en-US" sz="850" b="1" kern="0" spc="50" dirty="0">
                <a:solidFill>
                  <a:srgbClr val="4B3BE0"/>
                </a:solidFill>
                <a:latin typeface="Calibri" pitchFamily="34" charset="0"/>
                <a:ea typeface="Calibri" pitchFamily="34" charset="-122"/>
                <a:cs typeface="Calibri" pitchFamily="34" charset="-120"/>
              </a:rPr>
              <a:t>NEWS</a:t>
            </a:r>
            <a:endParaRPr lang="en-US" sz="850" dirty="0"/>
          </a:p>
        </p:txBody>
      </p:sp>
      <p:sp>
        <p:nvSpPr>
          <p:cNvPr id="7" name="Text 5"/>
          <p:cNvSpPr/>
          <p:nvPr/>
        </p:nvSpPr>
        <p:spPr>
          <a:xfrm>
            <a:off x="2130552" y="2057400"/>
            <a:ext cx="822960" cy="219456"/>
          </a:xfrm>
          <a:prstGeom prst="rect">
            <a:avLst/>
          </a:prstGeom>
          <a:noFill/>
          <a:ln/>
        </p:spPr>
        <p:txBody>
          <a:bodyPr wrap="square" lIns="0" tIns="0" rIns="0" bIns="0" rtlCol="0" anchor="ctr"/>
          <a:lstStyle/>
          <a:p>
            <a:pPr marL="0" indent="0" algn="r">
              <a:buNone/>
            </a:pPr>
            <a:r>
              <a:rPr lang="en-US" sz="800" b="1" dirty="0">
                <a:solidFill>
                  <a:srgbClr val="16A34A"/>
                </a:solidFill>
                <a:latin typeface="Calibri" pitchFamily="34" charset="0"/>
                <a:ea typeface="Calibri" pitchFamily="34" charset="-122"/>
                <a:cs typeface="Calibri" pitchFamily="34" charset="-120"/>
              </a:rPr>
              <a:t>● Fresh</a:t>
            </a:r>
            <a:endParaRPr lang="en-US" sz="800" dirty="0"/>
          </a:p>
        </p:txBody>
      </p:sp>
      <p:sp>
        <p:nvSpPr>
          <p:cNvPr id="8" name="Text 6"/>
          <p:cNvSpPr/>
          <p:nvPr/>
        </p:nvSpPr>
        <p:spPr>
          <a:xfrm>
            <a:off x="713232" y="2359152"/>
            <a:ext cx="2212848" cy="566928"/>
          </a:xfrm>
          <a:prstGeom prst="rect">
            <a:avLst/>
          </a:prstGeom>
          <a:noFill/>
          <a:ln/>
        </p:spPr>
        <p:txBody>
          <a:bodyPr wrap="square" lIns="0" tIns="0" rIns="0" bIns="0" rtlCol="0" anchor="ctr"/>
          <a:lstStyle/>
          <a:p>
            <a:pPr marL="0" indent="0">
              <a:lnSpc>
                <a:spcPct val="115000"/>
              </a:lnSpc>
              <a:buNone/>
            </a:pPr>
            <a:r>
              <a:rPr lang="en-US" sz="1150" b="1" dirty="0">
                <a:solidFill>
                  <a:srgbClr val="172033"/>
                </a:solidFill>
                <a:latin typeface="Calibri" pitchFamily="34" charset="0"/>
                <a:ea typeface="Calibri" pitchFamily="34" charset="-122"/>
                <a:cs typeface="Calibri" pitchFamily="34" charset="-120"/>
              </a:rPr>
              <a:t>AI tutoring systems gain attention</a:t>
            </a:r>
            <a:endParaRPr lang="en-US" sz="1150" dirty="0"/>
          </a:p>
        </p:txBody>
      </p:sp>
      <p:sp>
        <p:nvSpPr>
          <p:cNvPr id="9" name="Text 7"/>
          <p:cNvSpPr/>
          <p:nvPr/>
        </p:nvSpPr>
        <p:spPr>
          <a:xfrm>
            <a:off x="713232" y="2944368"/>
            <a:ext cx="2212848" cy="777240"/>
          </a:xfrm>
          <a:prstGeom prst="rect">
            <a:avLst/>
          </a:prstGeom>
          <a:noFill/>
          <a:ln/>
        </p:spPr>
        <p:txBody>
          <a:bodyPr wrap="square" lIns="0" tIns="0" rIns="0" bIns="0" rtlCol="0" anchor="ctr"/>
          <a:lstStyle/>
          <a:p>
            <a:pPr marL="0" indent="0">
              <a:lnSpc>
                <a:spcPct val="125000"/>
              </a:lnSpc>
              <a:buNone/>
            </a:pPr>
            <a:r>
              <a:rPr lang="en-US" sz="950" dirty="0">
                <a:solidFill>
                  <a:srgbClr val="697386"/>
                </a:solidFill>
                <a:latin typeface="Calibri" pitchFamily="34" charset="0"/>
                <a:ea typeface="Calibri" pitchFamily="34" charset="-122"/>
                <a:cs typeface="Calibri" pitchFamily="34" charset="-120"/>
              </a:rPr>
              <a:t>AI tutoring and personalized learning are important education technology themes.</a:t>
            </a:r>
            <a:endParaRPr lang="en-US" sz="950" dirty="0"/>
          </a:p>
        </p:txBody>
      </p:sp>
      <p:sp>
        <p:nvSpPr>
          <p:cNvPr id="10" name="Text 8"/>
          <p:cNvSpPr/>
          <p:nvPr/>
        </p:nvSpPr>
        <p:spPr>
          <a:xfrm>
            <a:off x="713232" y="3749040"/>
            <a:ext cx="2212848" cy="219456"/>
          </a:xfrm>
          <a:prstGeom prst="rect">
            <a:avLst/>
          </a:prstGeom>
          <a:noFill/>
          <a:ln/>
        </p:spPr>
        <p:txBody>
          <a:bodyPr wrap="square" lIns="0" tIns="0" rIns="0" bIns="0" rtlCol="0" anchor="ctr"/>
          <a:lstStyle/>
          <a:p>
            <a:pPr marL="0" indent="0">
              <a:buNone/>
            </a:pPr>
            <a:r>
              <a:rPr lang="en-US" sz="850" b="1" dirty="0">
                <a:solidFill>
                  <a:srgbClr val="06B6D4"/>
                </a:solidFill>
                <a:latin typeface="Calibri" pitchFamily="34" charset="0"/>
                <a:ea typeface="Calibri" pitchFamily="34" charset="-122"/>
                <a:cs typeface="Calibri" pitchFamily="34" charset="-120"/>
              </a:rPr>
              <a:t>Relevance 94%</a:t>
            </a:r>
            <a:endParaRPr lang="en-US" sz="850" dirty="0"/>
          </a:p>
        </p:txBody>
      </p:sp>
      <p:sp>
        <p:nvSpPr>
          <p:cNvPr id="11" name="Shape 9"/>
          <p:cNvSpPr/>
          <p:nvPr/>
        </p:nvSpPr>
        <p:spPr>
          <a:xfrm>
            <a:off x="3310128" y="1920240"/>
            <a:ext cx="2542032" cy="2148840"/>
          </a:xfrm>
          <a:prstGeom prst="roundRect">
            <a:avLst>
              <a:gd name="adj" fmla="val 4255"/>
            </a:avLst>
          </a:prstGeom>
          <a:solidFill>
            <a:srgbClr val="F6F7FB"/>
          </a:solidFill>
          <a:ln w="9525">
            <a:solidFill>
              <a:srgbClr val="E5E7EF"/>
            </a:solidFill>
            <a:prstDash val="solid"/>
          </a:ln>
        </p:spPr>
      </p:sp>
      <p:sp>
        <p:nvSpPr>
          <p:cNvPr id="12" name="Text 10"/>
          <p:cNvSpPr/>
          <p:nvPr/>
        </p:nvSpPr>
        <p:spPr>
          <a:xfrm>
            <a:off x="3474720" y="2057400"/>
            <a:ext cx="1444752" cy="219456"/>
          </a:xfrm>
          <a:prstGeom prst="rect">
            <a:avLst/>
          </a:prstGeom>
          <a:noFill/>
          <a:ln/>
        </p:spPr>
        <p:txBody>
          <a:bodyPr wrap="square" lIns="0" tIns="0" rIns="0" bIns="0" rtlCol="0" anchor="ctr"/>
          <a:lstStyle/>
          <a:p>
            <a:pPr marL="0" indent="0">
              <a:buNone/>
            </a:pPr>
            <a:r>
              <a:rPr lang="en-US" sz="850" b="1" kern="0" spc="50" dirty="0">
                <a:solidFill>
                  <a:srgbClr val="4B3BE0"/>
                </a:solidFill>
                <a:latin typeface="Calibri" pitchFamily="34" charset="0"/>
                <a:ea typeface="Calibri" pitchFamily="34" charset="-122"/>
                <a:cs typeface="Calibri" pitchFamily="34" charset="-120"/>
              </a:rPr>
              <a:t>RESEARCH PAPER</a:t>
            </a:r>
            <a:endParaRPr lang="en-US" sz="850" dirty="0"/>
          </a:p>
        </p:txBody>
      </p:sp>
      <p:sp>
        <p:nvSpPr>
          <p:cNvPr id="13" name="Text 11"/>
          <p:cNvSpPr/>
          <p:nvPr/>
        </p:nvSpPr>
        <p:spPr>
          <a:xfrm>
            <a:off x="4892040" y="2057400"/>
            <a:ext cx="822960" cy="219456"/>
          </a:xfrm>
          <a:prstGeom prst="rect">
            <a:avLst/>
          </a:prstGeom>
          <a:noFill/>
          <a:ln/>
        </p:spPr>
        <p:txBody>
          <a:bodyPr wrap="square" lIns="0" tIns="0" rIns="0" bIns="0" rtlCol="0" anchor="ctr"/>
          <a:lstStyle/>
          <a:p>
            <a:pPr marL="0" indent="0" algn="r">
              <a:buNone/>
            </a:pPr>
            <a:r>
              <a:rPr lang="en-US" sz="800" b="1" dirty="0">
                <a:solidFill>
                  <a:srgbClr val="16A34A"/>
                </a:solidFill>
                <a:latin typeface="Calibri" pitchFamily="34" charset="0"/>
                <a:ea typeface="Calibri" pitchFamily="34" charset="-122"/>
                <a:cs typeface="Calibri" pitchFamily="34" charset="-120"/>
              </a:rPr>
              <a:t>● Recent</a:t>
            </a:r>
            <a:endParaRPr lang="en-US" sz="800" dirty="0"/>
          </a:p>
        </p:txBody>
      </p:sp>
      <p:sp>
        <p:nvSpPr>
          <p:cNvPr id="14" name="Text 12"/>
          <p:cNvSpPr/>
          <p:nvPr/>
        </p:nvSpPr>
        <p:spPr>
          <a:xfrm>
            <a:off x="3474720" y="2359152"/>
            <a:ext cx="2212848" cy="566928"/>
          </a:xfrm>
          <a:prstGeom prst="rect">
            <a:avLst/>
          </a:prstGeom>
          <a:noFill/>
          <a:ln/>
        </p:spPr>
        <p:txBody>
          <a:bodyPr wrap="square" lIns="0" tIns="0" rIns="0" bIns="0" rtlCol="0" anchor="ctr"/>
          <a:lstStyle/>
          <a:p>
            <a:pPr marL="0" indent="0">
              <a:lnSpc>
                <a:spcPct val="115000"/>
              </a:lnSpc>
              <a:buNone/>
            </a:pPr>
            <a:r>
              <a:rPr lang="en-US" sz="1150" b="1" dirty="0">
                <a:solidFill>
                  <a:srgbClr val="172033"/>
                </a:solidFill>
                <a:latin typeface="Calibri" pitchFamily="34" charset="0"/>
                <a:ea typeface="Calibri" pitchFamily="34" charset="-122"/>
                <a:cs typeface="Calibri" pitchFamily="34" charset="-120"/>
              </a:rPr>
              <a:t>Personalized learning with AI</a:t>
            </a:r>
            <a:endParaRPr lang="en-US" sz="1150" dirty="0"/>
          </a:p>
        </p:txBody>
      </p:sp>
      <p:sp>
        <p:nvSpPr>
          <p:cNvPr id="15" name="Text 13"/>
          <p:cNvSpPr/>
          <p:nvPr/>
        </p:nvSpPr>
        <p:spPr>
          <a:xfrm>
            <a:off x="3474720" y="2944368"/>
            <a:ext cx="2212848" cy="777240"/>
          </a:xfrm>
          <a:prstGeom prst="rect">
            <a:avLst/>
          </a:prstGeom>
          <a:noFill/>
          <a:ln/>
        </p:spPr>
        <p:txBody>
          <a:bodyPr wrap="square" lIns="0" tIns="0" rIns="0" bIns="0" rtlCol="0" anchor="ctr"/>
          <a:lstStyle/>
          <a:p>
            <a:pPr marL="0" indent="0">
              <a:lnSpc>
                <a:spcPct val="125000"/>
              </a:lnSpc>
              <a:buNone/>
            </a:pPr>
            <a:r>
              <a:rPr lang="en-US" sz="950" dirty="0">
                <a:solidFill>
                  <a:srgbClr val="697386"/>
                </a:solidFill>
                <a:latin typeface="Calibri" pitchFamily="34" charset="0"/>
                <a:ea typeface="Calibri" pitchFamily="34" charset="-122"/>
                <a:cs typeface="Calibri" pitchFamily="34" charset="-120"/>
              </a:rPr>
              <a:t>Adaptive systems can tailor educational content to learner needs.</a:t>
            </a:r>
            <a:endParaRPr lang="en-US" sz="950" dirty="0"/>
          </a:p>
        </p:txBody>
      </p:sp>
      <p:sp>
        <p:nvSpPr>
          <p:cNvPr id="16" name="Text 14"/>
          <p:cNvSpPr/>
          <p:nvPr/>
        </p:nvSpPr>
        <p:spPr>
          <a:xfrm>
            <a:off x="3474720" y="3749040"/>
            <a:ext cx="2212848" cy="219456"/>
          </a:xfrm>
          <a:prstGeom prst="rect">
            <a:avLst/>
          </a:prstGeom>
          <a:noFill/>
          <a:ln/>
        </p:spPr>
        <p:txBody>
          <a:bodyPr wrap="square" lIns="0" tIns="0" rIns="0" bIns="0" rtlCol="0" anchor="ctr"/>
          <a:lstStyle/>
          <a:p>
            <a:pPr marL="0" indent="0">
              <a:buNone/>
            </a:pPr>
            <a:r>
              <a:rPr lang="en-US" sz="850" b="1" dirty="0">
                <a:solidFill>
                  <a:srgbClr val="06B6D4"/>
                </a:solidFill>
                <a:latin typeface="Calibri" pitchFamily="34" charset="0"/>
                <a:ea typeface="Calibri" pitchFamily="34" charset="-122"/>
                <a:cs typeface="Calibri" pitchFamily="34" charset="-120"/>
              </a:rPr>
              <a:t>Relevance 91%</a:t>
            </a:r>
            <a:endParaRPr lang="en-US" sz="850" dirty="0"/>
          </a:p>
        </p:txBody>
      </p:sp>
      <p:sp>
        <p:nvSpPr>
          <p:cNvPr id="17" name="Shape 15"/>
          <p:cNvSpPr/>
          <p:nvPr/>
        </p:nvSpPr>
        <p:spPr>
          <a:xfrm>
            <a:off x="6071616" y="1920240"/>
            <a:ext cx="2542032" cy="2148840"/>
          </a:xfrm>
          <a:prstGeom prst="roundRect">
            <a:avLst>
              <a:gd name="adj" fmla="val 4255"/>
            </a:avLst>
          </a:prstGeom>
          <a:solidFill>
            <a:srgbClr val="F6F7FB"/>
          </a:solidFill>
          <a:ln w="9525">
            <a:solidFill>
              <a:srgbClr val="E5E7EF"/>
            </a:solidFill>
            <a:prstDash val="solid"/>
          </a:ln>
        </p:spPr>
      </p:sp>
      <p:sp>
        <p:nvSpPr>
          <p:cNvPr id="18" name="Text 16"/>
          <p:cNvSpPr/>
          <p:nvPr/>
        </p:nvSpPr>
        <p:spPr>
          <a:xfrm>
            <a:off x="6236208" y="2057400"/>
            <a:ext cx="1444752" cy="219456"/>
          </a:xfrm>
          <a:prstGeom prst="rect">
            <a:avLst/>
          </a:prstGeom>
          <a:noFill/>
          <a:ln/>
        </p:spPr>
        <p:txBody>
          <a:bodyPr wrap="square" lIns="0" tIns="0" rIns="0" bIns="0" rtlCol="0" anchor="ctr"/>
          <a:lstStyle/>
          <a:p>
            <a:pPr marL="0" indent="0">
              <a:buNone/>
            </a:pPr>
            <a:r>
              <a:rPr lang="en-US" sz="850" b="1" kern="0" spc="50" dirty="0">
                <a:solidFill>
                  <a:srgbClr val="4B3BE0"/>
                </a:solidFill>
                <a:latin typeface="Calibri" pitchFamily="34" charset="0"/>
                <a:ea typeface="Calibri" pitchFamily="34" charset="-122"/>
                <a:cs typeface="Calibri" pitchFamily="34" charset="-120"/>
              </a:rPr>
              <a:t>SOCIAL MEDIA</a:t>
            </a:r>
            <a:endParaRPr lang="en-US" sz="850" dirty="0"/>
          </a:p>
        </p:txBody>
      </p:sp>
      <p:sp>
        <p:nvSpPr>
          <p:cNvPr id="19" name="Text 17"/>
          <p:cNvSpPr/>
          <p:nvPr/>
        </p:nvSpPr>
        <p:spPr>
          <a:xfrm>
            <a:off x="7653528" y="2057400"/>
            <a:ext cx="822960" cy="219456"/>
          </a:xfrm>
          <a:prstGeom prst="rect">
            <a:avLst/>
          </a:prstGeom>
          <a:noFill/>
          <a:ln/>
        </p:spPr>
        <p:txBody>
          <a:bodyPr wrap="square" lIns="0" tIns="0" rIns="0" bIns="0" rtlCol="0" anchor="ctr"/>
          <a:lstStyle/>
          <a:p>
            <a:pPr marL="0" indent="0" algn="r">
              <a:buNone/>
            </a:pPr>
            <a:r>
              <a:rPr lang="en-US" sz="800" b="1" dirty="0">
                <a:solidFill>
                  <a:srgbClr val="16A34A"/>
                </a:solidFill>
                <a:latin typeface="Calibri" pitchFamily="34" charset="0"/>
                <a:ea typeface="Calibri" pitchFamily="34" charset="-122"/>
                <a:cs typeface="Calibri" pitchFamily="34" charset="-120"/>
              </a:rPr>
              <a:t>● Trending</a:t>
            </a:r>
            <a:endParaRPr lang="en-US" sz="800" dirty="0"/>
          </a:p>
        </p:txBody>
      </p:sp>
      <p:sp>
        <p:nvSpPr>
          <p:cNvPr id="20" name="Text 18"/>
          <p:cNvSpPr/>
          <p:nvPr/>
        </p:nvSpPr>
        <p:spPr>
          <a:xfrm>
            <a:off x="6236208" y="2359152"/>
            <a:ext cx="2212848" cy="566928"/>
          </a:xfrm>
          <a:prstGeom prst="rect">
            <a:avLst/>
          </a:prstGeom>
          <a:noFill/>
          <a:ln/>
        </p:spPr>
        <p:txBody>
          <a:bodyPr wrap="square" lIns="0" tIns="0" rIns="0" bIns="0" rtlCol="0" anchor="ctr"/>
          <a:lstStyle/>
          <a:p>
            <a:pPr marL="0" indent="0">
              <a:lnSpc>
                <a:spcPct val="115000"/>
              </a:lnSpc>
              <a:buNone/>
            </a:pPr>
            <a:r>
              <a:rPr lang="en-US" sz="1150" b="1" dirty="0">
                <a:solidFill>
                  <a:srgbClr val="172033"/>
                </a:solidFill>
                <a:latin typeface="Calibri" pitchFamily="34" charset="0"/>
                <a:ea typeface="Calibri" pitchFamily="34" charset="-122"/>
                <a:cs typeface="Calibri" pitchFamily="34" charset="-120"/>
              </a:rPr>
              <a:t>Students discuss AI study assistants</a:t>
            </a:r>
            <a:endParaRPr lang="en-US" sz="1150" dirty="0"/>
          </a:p>
        </p:txBody>
      </p:sp>
      <p:sp>
        <p:nvSpPr>
          <p:cNvPr id="21" name="Text 19"/>
          <p:cNvSpPr/>
          <p:nvPr/>
        </p:nvSpPr>
        <p:spPr>
          <a:xfrm>
            <a:off x="6236208" y="2944368"/>
            <a:ext cx="2212848" cy="777240"/>
          </a:xfrm>
          <a:prstGeom prst="rect">
            <a:avLst/>
          </a:prstGeom>
          <a:noFill/>
          <a:ln/>
        </p:spPr>
        <p:txBody>
          <a:bodyPr wrap="square" lIns="0" tIns="0" rIns="0" bIns="0" rtlCol="0" anchor="ctr"/>
          <a:lstStyle/>
          <a:p>
            <a:pPr marL="0" indent="0">
              <a:lnSpc>
                <a:spcPct val="125000"/>
              </a:lnSpc>
              <a:buNone/>
            </a:pPr>
            <a:r>
              <a:rPr lang="en-US" sz="950" dirty="0">
                <a:solidFill>
                  <a:srgbClr val="697386"/>
                </a:solidFill>
                <a:latin typeface="Calibri" pitchFamily="34" charset="0"/>
                <a:ea typeface="Calibri" pitchFamily="34" charset="-122"/>
                <a:cs typeface="Calibri" pitchFamily="34" charset="-120"/>
              </a:rPr>
              <a:t>Students show interest in tools that explain concepts and give fast feedback.</a:t>
            </a:r>
            <a:endParaRPr lang="en-US" sz="950" dirty="0"/>
          </a:p>
        </p:txBody>
      </p:sp>
      <p:sp>
        <p:nvSpPr>
          <p:cNvPr id="22" name="Text 20"/>
          <p:cNvSpPr/>
          <p:nvPr/>
        </p:nvSpPr>
        <p:spPr>
          <a:xfrm>
            <a:off x="6236208" y="3749040"/>
            <a:ext cx="2212848" cy="219456"/>
          </a:xfrm>
          <a:prstGeom prst="rect">
            <a:avLst/>
          </a:prstGeom>
          <a:noFill/>
          <a:ln/>
        </p:spPr>
        <p:txBody>
          <a:bodyPr wrap="square" lIns="0" tIns="0" rIns="0" bIns="0" rtlCol="0" anchor="ctr"/>
          <a:lstStyle/>
          <a:p>
            <a:pPr marL="0" indent="0">
              <a:buNone/>
            </a:pPr>
            <a:r>
              <a:rPr lang="en-US" sz="850" b="1" dirty="0">
                <a:solidFill>
                  <a:srgbClr val="06B6D4"/>
                </a:solidFill>
                <a:latin typeface="Calibri" pitchFamily="34" charset="0"/>
                <a:ea typeface="Calibri" pitchFamily="34" charset="-122"/>
                <a:cs typeface="Calibri" pitchFamily="34" charset="-120"/>
              </a:rPr>
              <a:t>Relevance 88%</a:t>
            </a:r>
            <a:endParaRPr lang="en-US" sz="850" dirty="0"/>
          </a:p>
        </p:txBody>
      </p:sp>
      <p:sp>
        <p:nvSpPr>
          <p:cNvPr id="23" name="Shape 21"/>
          <p:cNvSpPr/>
          <p:nvPr/>
        </p:nvSpPr>
        <p:spPr>
          <a:xfrm>
            <a:off x="8833104" y="1920240"/>
            <a:ext cx="2542032" cy="2148840"/>
          </a:xfrm>
          <a:prstGeom prst="roundRect">
            <a:avLst>
              <a:gd name="adj" fmla="val 4255"/>
            </a:avLst>
          </a:prstGeom>
          <a:solidFill>
            <a:srgbClr val="F6F7FB"/>
          </a:solidFill>
          <a:ln w="9525">
            <a:solidFill>
              <a:srgbClr val="E5E7EF"/>
            </a:solidFill>
            <a:prstDash val="solid"/>
          </a:ln>
        </p:spPr>
      </p:sp>
      <p:sp>
        <p:nvSpPr>
          <p:cNvPr id="24" name="Text 22"/>
          <p:cNvSpPr/>
          <p:nvPr/>
        </p:nvSpPr>
        <p:spPr>
          <a:xfrm>
            <a:off x="8997696" y="2057400"/>
            <a:ext cx="1444752" cy="219456"/>
          </a:xfrm>
          <a:prstGeom prst="rect">
            <a:avLst/>
          </a:prstGeom>
          <a:noFill/>
          <a:ln/>
        </p:spPr>
        <p:txBody>
          <a:bodyPr wrap="square" lIns="0" tIns="0" rIns="0" bIns="0" rtlCol="0" anchor="ctr"/>
          <a:lstStyle/>
          <a:p>
            <a:pPr marL="0" indent="0">
              <a:buNone/>
            </a:pPr>
            <a:r>
              <a:rPr lang="en-US" sz="850" b="1" kern="0" spc="50" dirty="0">
                <a:solidFill>
                  <a:srgbClr val="4B3BE0"/>
                </a:solidFill>
                <a:latin typeface="Calibri" pitchFamily="34" charset="0"/>
                <a:ea typeface="Calibri" pitchFamily="34" charset="-122"/>
                <a:cs typeface="Calibri" pitchFamily="34" charset="-120"/>
              </a:rPr>
              <a:t>AUDIENCE FEEDBACK</a:t>
            </a:r>
            <a:endParaRPr lang="en-US" sz="850" dirty="0"/>
          </a:p>
        </p:txBody>
      </p:sp>
      <p:sp>
        <p:nvSpPr>
          <p:cNvPr id="25" name="Text 23"/>
          <p:cNvSpPr/>
          <p:nvPr/>
        </p:nvSpPr>
        <p:spPr>
          <a:xfrm>
            <a:off x="10415016" y="2057400"/>
            <a:ext cx="822960" cy="219456"/>
          </a:xfrm>
          <a:prstGeom prst="rect">
            <a:avLst/>
          </a:prstGeom>
          <a:noFill/>
          <a:ln/>
        </p:spPr>
        <p:txBody>
          <a:bodyPr wrap="square" lIns="0" tIns="0" rIns="0" bIns="0" rtlCol="0" anchor="ctr"/>
          <a:lstStyle/>
          <a:p>
            <a:pPr marL="0" indent="0" algn="r">
              <a:buNone/>
            </a:pPr>
            <a:r>
              <a:rPr lang="en-US" sz="800" b="1" dirty="0">
                <a:solidFill>
                  <a:srgbClr val="16A34A"/>
                </a:solidFill>
                <a:latin typeface="Calibri" pitchFamily="34" charset="0"/>
                <a:ea typeface="Calibri" pitchFamily="34" charset="-122"/>
                <a:cs typeface="Calibri" pitchFamily="34" charset="-120"/>
              </a:rPr>
              <a:t>● New</a:t>
            </a:r>
            <a:endParaRPr lang="en-US" sz="800" dirty="0"/>
          </a:p>
        </p:txBody>
      </p:sp>
      <p:sp>
        <p:nvSpPr>
          <p:cNvPr id="26" name="Text 24"/>
          <p:cNvSpPr/>
          <p:nvPr/>
        </p:nvSpPr>
        <p:spPr>
          <a:xfrm>
            <a:off x="8997696" y="2359152"/>
            <a:ext cx="2212848" cy="566928"/>
          </a:xfrm>
          <a:prstGeom prst="rect">
            <a:avLst/>
          </a:prstGeom>
          <a:noFill/>
          <a:ln/>
        </p:spPr>
        <p:txBody>
          <a:bodyPr wrap="square" lIns="0" tIns="0" rIns="0" bIns="0" rtlCol="0" anchor="ctr"/>
          <a:lstStyle/>
          <a:p>
            <a:pPr marL="0" indent="0">
              <a:lnSpc>
                <a:spcPct val="115000"/>
              </a:lnSpc>
              <a:buNone/>
            </a:pPr>
            <a:r>
              <a:rPr lang="en-US" sz="1150" b="1" dirty="0">
                <a:solidFill>
                  <a:srgbClr val="172033"/>
                </a:solidFill>
                <a:latin typeface="Calibri" pitchFamily="34" charset="0"/>
                <a:ea typeface="Calibri" pitchFamily="34" charset="-122"/>
                <a:cs typeface="Calibri" pitchFamily="34" charset="-120"/>
              </a:rPr>
              <a:t>Requests for simple AI explanations</a:t>
            </a:r>
            <a:endParaRPr lang="en-US" sz="1150" dirty="0"/>
          </a:p>
        </p:txBody>
      </p:sp>
      <p:sp>
        <p:nvSpPr>
          <p:cNvPr id="27" name="Text 25"/>
          <p:cNvSpPr/>
          <p:nvPr/>
        </p:nvSpPr>
        <p:spPr>
          <a:xfrm>
            <a:off x="8997696" y="2944368"/>
            <a:ext cx="2212848" cy="777240"/>
          </a:xfrm>
          <a:prstGeom prst="rect">
            <a:avLst/>
          </a:prstGeom>
          <a:noFill/>
          <a:ln/>
        </p:spPr>
        <p:txBody>
          <a:bodyPr wrap="square" lIns="0" tIns="0" rIns="0" bIns="0" rtlCol="0" anchor="ctr"/>
          <a:lstStyle/>
          <a:p>
            <a:pPr marL="0" indent="0">
              <a:lnSpc>
                <a:spcPct val="125000"/>
              </a:lnSpc>
              <a:buNone/>
            </a:pPr>
            <a:r>
              <a:rPr lang="en-US" sz="950" dirty="0">
                <a:solidFill>
                  <a:srgbClr val="697386"/>
                </a:solidFill>
                <a:latin typeface="Calibri" pitchFamily="34" charset="0"/>
                <a:ea typeface="Calibri" pitchFamily="34" charset="-122"/>
                <a:cs typeface="Calibri" pitchFamily="34" charset="-120"/>
              </a:rPr>
              <a:t>Feedback highlights demand for practical guidance and accuracy.</a:t>
            </a:r>
            <a:endParaRPr lang="en-US" sz="950" dirty="0"/>
          </a:p>
        </p:txBody>
      </p:sp>
      <p:sp>
        <p:nvSpPr>
          <p:cNvPr id="28" name="Text 26"/>
          <p:cNvSpPr/>
          <p:nvPr/>
        </p:nvSpPr>
        <p:spPr>
          <a:xfrm>
            <a:off x="8997696" y="3749040"/>
            <a:ext cx="2212848" cy="219456"/>
          </a:xfrm>
          <a:prstGeom prst="rect">
            <a:avLst/>
          </a:prstGeom>
          <a:noFill/>
          <a:ln/>
        </p:spPr>
        <p:txBody>
          <a:bodyPr wrap="square" lIns="0" tIns="0" rIns="0" bIns="0" rtlCol="0" anchor="ctr"/>
          <a:lstStyle/>
          <a:p>
            <a:pPr marL="0" indent="0">
              <a:buNone/>
            </a:pPr>
            <a:r>
              <a:rPr lang="en-US" sz="850" b="1" dirty="0">
                <a:solidFill>
                  <a:srgbClr val="06B6D4"/>
                </a:solidFill>
                <a:latin typeface="Calibri" pitchFamily="34" charset="0"/>
                <a:ea typeface="Calibri" pitchFamily="34" charset="-122"/>
                <a:cs typeface="Calibri" pitchFamily="34" charset="-120"/>
              </a:rPr>
              <a:t>Relevance 86%</a:t>
            </a:r>
            <a:endParaRPr lang="en-US" sz="850" dirty="0"/>
          </a:p>
        </p:txBody>
      </p:sp>
      <p:sp>
        <p:nvSpPr>
          <p:cNvPr id="29" name="Shape 27"/>
          <p:cNvSpPr/>
          <p:nvPr/>
        </p:nvSpPr>
        <p:spPr>
          <a:xfrm>
            <a:off x="548640" y="4343400"/>
            <a:ext cx="11109960" cy="1828800"/>
          </a:xfrm>
          <a:prstGeom prst="roundRect">
            <a:avLst>
              <a:gd name="adj" fmla="val 5000"/>
            </a:avLst>
          </a:prstGeom>
          <a:solidFill>
            <a:srgbClr val="1B1440"/>
          </a:solidFill>
          <a:ln/>
        </p:spPr>
      </p:sp>
      <p:sp>
        <p:nvSpPr>
          <p:cNvPr id="30" name="Text 28"/>
          <p:cNvSpPr/>
          <p:nvPr/>
        </p:nvSpPr>
        <p:spPr>
          <a:xfrm>
            <a:off x="822960" y="4526280"/>
            <a:ext cx="10515600" cy="320040"/>
          </a:xfrm>
          <a:prstGeom prst="rect">
            <a:avLst/>
          </a:prstGeom>
          <a:noFill/>
          <a:ln/>
        </p:spPr>
        <p:txBody>
          <a:bodyPr wrap="square" lIns="0" tIns="0" rIns="0" bIns="0" rtlCol="0" anchor="ctr"/>
          <a:lstStyle/>
          <a:p>
            <a:pPr marL="0" indent="0">
              <a:buNone/>
            </a:pPr>
            <a:r>
              <a:rPr lang="en-US" sz="1300" b="1" dirty="0">
                <a:solidFill>
                  <a:srgbClr val="06B6D4"/>
                </a:solidFill>
                <a:latin typeface="Calibri" pitchFamily="34" charset="0"/>
                <a:ea typeface="Calibri" pitchFamily="34" charset="-122"/>
                <a:cs typeface="Calibri" pitchFamily="34" charset="-120"/>
              </a:rPr>
              <a:t>Cross-Source Intelligence  </a:t>
            </a:r>
            <a:r>
              <a:rPr lang="en-US" sz="800" b="1" dirty="0">
                <a:solidFill>
                  <a:srgbClr val="1B1440"/>
                </a:solidFill>
                <a:highlight>
                  <a:srgbClr val="06B6D4"/>
                </a:highlight>
                <a:latin typeface="Calibri" pitchFamily="34" charset="0"/>
                <a:ea typeface="Calibri" pitchFamily="34" charset="-122"/>
                <a:cs typeface="Calibri" pitchFamily="34" charset="-120"/>
              </a:rPr>
              <a:t>DEMO SYNTHESIS</a:t>
            </a:r>
            <a:endParaRPr lang="en-US" sz="1300" dirty="0"/>
          </a:p>
        </p:txBody>
      </p:sp>
      <p:sp>
        <p:nvSpPr>
          <p:cNvPr id="31" name="Text 29"/>
          <p:cNvSpPr/>
          <p:nvPr/>
        </p:nvSpPr>
        <p:spPr>
          <a:xfrm>
            <a:off x="822960" y="4892040"/>
            <a:ext cx="10332720" cy="594360"/>
          </a:xfrm>
          <a:prstGeom prst="rect">
            <a:avLst/>
          </a:prstGeom>
          <a:noFill/>
          <a:ln/>
        </p:spPr>
        <p:txBody>
          <a:bodyPr wrap="square" lIns="0" tIns="0" rIns="0" bIns="0" rtlCol="0" anchor="ctr"/>
          <a:lstStyle/>
          <a:p>
            <a:pPr marL="0" indent="0">
              <a:lnSpc>
                <a:spcPct val="130000"/>
              </a:lnSpc>
              <a:buNone/>
            </a:pPr>
            <a:r>
              <a:rPr lang="en-US" sz="1200" dirty="0">
                <a:solidFill>
                  <a:srgbClr val="DADEF2"/>
                </a:solidFill>
                <a:latin typeface="Calibri" pitchFamily="34" charset="0"/>
                <a:ea typeface="Calibri" pitchFamily="34" charset="-122"/>
                <a:cs typeface="Calibri" pitchFamily="34" charset="-120"/>
              </a:rPr>
              <a:t>News shows rising attention, research supports adaptive learning, social discussion shows demand for AI study assistants, and audience feedback asks for simple practical explanations.</a:t>
            </a:r>
            <a:endParaRPr lang="en-US" sz="1200" dirty="0"/>
          </a:p>
        </p:txBody>
      </p:sp>
      <p:sp>
        <p:nvSpPr>
          <p:cNvPr id="32" name="Text 30"/>
          <p:cNvSpPr/>
          <p:nvPr/>
        </p:nvSpPr>
        <p:spPr>
          <a:xfrm>
            <a:off x="822960" y="5532120"/>
            <a:ext cx="10332720" cy="365760"/>
          </a:xfrm>
          <a:prstGeom prst="rect">
            <a:avLst/>
          </a:prstGeom>
          <a:noFill/>
          <a:ln/>
        </p:spPr>
        <p:txBody>
          <a:bodyPr wrap="square" lIns="0" tIns="0" rIns="0" bIns="0" rtlCol="0" anchor="ctr"/>
          <a:lstStyle/>
          <a:p>
            <a:pPr marL="0" indent="0">
              <a:buNone/>
            </a:pPr>
            <a:r>
              <a:rPr lang="en-US" sz="1250" b="1" dirty="0">
                <a:solidFill>
                  <a:srgbClr val="F59E0B"/>
                </a:solidFill>
                <a:latin typeface="Calibri" pitchFamily="34" charset="0"/>
                <a:ea typeface="Calibri" pitchFamily="34" charset="-122"/>
                <a:cs typeface="Calibri" pitchFamily="34" charset="-120"/>
              </a:rPr>
              <a:t>Combined insight:  </a:t>
            </a:r>
            <a:r>
              <a:rPr lang="en-US" sz="1250" b="1" dirty="0">
                <a:solidFill>
                  <a:srgbClr val="FFFFFF"/>
                </a:solidFill>
                <a:latin typeface="Calibri" pitchFamily="34" charset="0"/>
                <a:ea typeface="Calibri" pitchFamily="34" charset="-122"/>
                <a:cs typeface="Calibri" pitchFamily="34" charset="-120"/>
              </a:rPr>
              <a:t>AI-powered personalized learning is a strong blog opportunity.</a:t>
            </a:r>
            <a:endParaRPr lang="en-US" sz="1250" dirty="0"/>
          </a:p>
        </p:txBody>
      </p:sp>
      <p:sp>
        <p:nvSpPr>
          <p:cNvPr id="33" name="Text 31"/>
          <p:cNvSpPr/>
          <p:nvPr/>
        </p:nvSpPr>
        <p:spPr>
          <a:xfrm>
            <a:off x="457200" y="6473952"/>
            <a:ext cx="3657600" cy="274320"/>
          </a:xfrm>
          <a:prstGeom prst="rect">
            <a:avLst/>
          </a:prstGeom>
          <a:noFill/>
          <a:ln/>
        </p:spPr>
        <p:txBody>
          <a:bodyPr wrap="square" lIns="0" tIns="0" rIns="0" bIns="0" rtlCol="0" anchor="ctr"/>
          <a:lstStyle/>
          <a:p>
            <a:pPr marL="0" indent="0">
              <a:buNone/>
            </a:pPr>
            <a:r>
              <a:rPr lang="en-US" sz="900" dirty="0">
                <a:solidFill>
                  <a:srgbClr val="697386"/>
                </a:solidFill>
                <a:latin typeface="Calibri" pitchFamily="34" charset="0"/>
                <a:ea typeface="Calibri" pitchFamily="34" charset="-122"/>
                <a:cs typeface="Calibri" pitchFamily="34" charset="-120"/>
              </a:rPr>
              <a:t>ContentPulse AI</a:t>
            </a:r>
            <a:endParaRPr lang="en-US" sz="900" dirty="0"/>
          </a:p>
        </p:txBody>
      </p:sp>
      <p:sp>
        <p:nvSpPr>
          <p:cNvPr id="34" name="Text 32"/>
          <p:cNvSpPr/>
          <p:nvPr/>
        </p:nvSpPr>
        <p:spPr>
          <a:xfrm>
            <a:off x="8074152" y="6473952"/>
            <a:ext cx="3657600" cy="274320"/>
          </a:xfrm>
          <a:prstGeom prst="rect">
            <a:avLst/>
          </a:prstGeom>
          <a:noFill/>
          <a:ln/>
        </p:spPr>
        <p:txBody>
          <a:bodyPr wrap="square" lIns="0" tIns="0" rIns="0" bIns="0" rtlCol="0" anchor="ctr"/>
          <a:lstStyle/>
          <a:p>
            <a:pPr marL="0" indent="0" algn="r">
              <a:buNone/>
            </a:pPr>
            <a:r>
              <a:rPr lang="en-US" sz="900" dirty="0">
                <a:solidFill>
                  <a:srgbClr val="697386"/>
                </a:solidFill>
                <a:latin typeface="Calibri" pitchFamily="34" charset="0"/>
                <a:ea typeface="Calibri" pitchFamily="34" charset="-122"/>
                <a:cs typeface="Calibri" pitchFamily="34" charset="-120"/>
              </a:rPr>
              <a:t>07  ·  Research Sources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4B3BE0"/>
                </a:solidFill>
                <a:latin typeface="Calibri" pitchFamily="34" charset="0"/>
                <a:ea typeface="Calibri" pitchFamily="34" charset="-122"/>
                <a:cs typeface="Calibri" pitchFamily="34" charset="-120"/>
              </a:rPr>
              <a:t>MANDATORY TECHNOLOGY STACK</a:t>
            </a:r>
            <a:endParaRPr lang="en-US" sz="1200" dirty="0"/>
          </a:p>
        </p:txBody>
      </p:sp>
      <p:sp>
        <p:nvSpPr>
          <p:cNvPr id="3" name="Text 1"/>
          <p:cNvSpPr/>
          <p:nvPr/>
        </p:nvSpPr>
        <p:spPr>
          <a:xfrm>
            <a:off x="548640" y="640080"/>
            <a:ext cx="10515600" cy="685800"/>
          </a:xfrm>
          <a:prstGeom prst="rect">
            <a:avLst/>
          </a:prstGeom>
          <a:noFill/>
          <a:ln/>
        </p:spPr>
        <p:txBody>
          <a:bodyPr wrap="square" lIns="0" tIns="0" rIns="0" bIns="0" rtlCol="0" anchor="ctr"/>
          <a:lstStyle/>
          <a:p>
            <a:pPr marL="0" indent="0">
              <a:buNone/>
            </a:pPr>
            <a:r>
              <a:rPr lang="en-US" sz="3200" b="1" dirty="0">
                <a:solidFill>
                  <a:srgbClr val="172033"/>
                </a:solidFill>
                <a:latin typeface="Cambria" pitchFamily="34" charset="0"/>
                <a:ea typeface="Cambria" pitchFamily="34" charset="-122"/>
                <a:cs typeface="Cambria" pitchFamily="34" charset="-120"/>
              </a:rPr>
              <a:t>Built on IBM's Agentic AI Stack</a:t>
            </a:r>
            <a:endParaRPr lang="en-US" sz="3200" dirty="0"/>
          </a:p>
        </p:txBody>
      </p:sp>
      <p:sp>
        <p:nvSpPr>
          <p:cNvPr id="4" name="Shape 2"/>
          <p:cNvSpPr/>
          <p:nvPr/>
        </p:nvSpPr>
        <p:spPr>
          <a:xfrm>
            <a:off x="548640" y="1691640"/>
            <a:ext cx="3429000" cy="2743200"/>
          </a:xfrm>
          <a:prstGeom prst="roundRect">
            <a:avLst>
              <a:gd name="adj" fmla="val 4000"/>
            </a:avLst>
          </a:prstGeom>
          <a:solidFill>
            <a:srgbClr val="F6F7FB"/>
          </a:solidFill>
          <a:ln w="9525">
            <a:solidFill>
              <a:srgbClr val="E5E7EF"/>
            </a:solidFill>
            <a:prstDash val="solid"/>
          </a:ln>
        </p:spPr>
      </p:sp>
      <p:sp>
        <p:nvSpPr>
          <p:cNvPr id="5" name="Shape 3"/>
          <p:cNvSpPr/>
          <p:nvPr/>
        </p:nvSpPr>
        <p:spPr>
          <a:xfrm>
            <a:off x="804672" y="1947672"/>
            <a:ext cx="621792" cy="621792"/>
          </a:xfrm>
          <a:prstGeom prst="ellipse">
            <a:avLst/>
          </a:prstGeom>
          <a:solidFill>
            <a:srgbClr val="4B3BE0"/>
          </a:solidFill>
          <a:ln/>
        </p:spPr>
      </p:sp>
      <p:sp>
        <p:nvSpPr>
          <p:cNvPr id="6" name="Text 4"/>
          <p:cNvSpPr/>
          <p:nvPr/>
        </p:nvSpPr>
        <p:spPr>
          <a:xfrm>
            <a:off x="804672" y="1947672"/>
            <a:ext cx="621792" cy="621792"/>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7" name="Text 5"/>
          <p:cNvSpPr/>
          <p:nvPr/>
        </p:nvSpPr>
        <p:spPr>
          <a:xfrm>
            <a:off x="804672" y="2743200"/>
            <a:ext cx="2916936" cy="594360"/>
          </a:xfrm>
          <a:prstGeom prst="rect">
            <a:avLst/>
          </a:prstGeom>
          <a:noFill/>
          <a:ln/>
        </p:spPr>
        <p:txBody>
          <a:bodyPr wrap="square" lIns="0" tIns="0" rIns="0" bIns="0" rtlCol="0" anchor="ctr"/>
          <a:lstStyle/>
          <a:p>
            <a:pPr marL="0" indent="0">
              <a:lnSpc>
                <a:spcPct val="110000"/>
              </a:lnSpc>
              <a:buNone/>
            </a:pPr>
            <a:r>
              <a:rPr lang="en-US" sz="1500" b="1" dirty="0">
                <a:solidFill>
                  <a:srgbClr val="172033"/>
                </a:solidFill>
                <a:latin typeface="Calibri" pitchFamily="34" charset="0"/>
                <a:ea typeface="Calibri" pitchFamily="34" charset="-122"/>
                <a:cs typeface="Calibri" pitchFamily="34" charset="-120"/>
              </a:rPr>
              <a:t>IBM watsonx Orchestrate</a:t>
            </a:r>
            <a:endParaRPr lang="en-US" sz="1500" dirty="0"/>
          </a:p>
        </p:txBody>
      </p:sp>
      <p:sp>
        <p:nvSpPr>
          <p:cNvPr id="8" name="Text 6"/>
          <p:cNvSpPr/>
          <p:nvPr/>
        </p:nvSpPr>
        <p:spPr>
          <a:xfrm>
            <a:off x="804672" y="3291840"/>
            <a:ext cx="2916936" cy="1005840"/>
          </a:xfrm>
          <a:prstGeom prst="rect">
            <a:avLst/>
          </a:prstGeom>
          <a:noFill/>
          <a:ln/>
        </p:spPr>
        <p:txBody>
          <a:bodyPr wrap="square" lIns="0" tIns="0" rIns="0" bIns="0" rtlCol="0" anchor="ctr"/>
          <a:lstStyle/>
          <a:p>
            <a:pPr marL="0" indent="0">
              <a:lnSpc>
                <a:spcPct val="130000"/>
              </a:lnSpc>
              <a:buNone/>
            </a:pPr>
            <a:r>
              <a:rPr lang="en-US" sz="1050" dirty="0">
                <a:solidFill>
                  <a:srgbClr val="697386"/>
                </a:solidFill>
                <a:latin typeface="Calibri" pitchFamily="34" charset="0"/>
                <a:ea typeface="Calibri" pitchFamily="34" charset="-122"/>
                <a:cs typeface="Calibri" pitchFamily="34" charset="-120"/>
              </a:rPr>
              <a:t>Agentic orchestration and tool-execution layer — coordinates each COLLECT → RECOMMEND step and calls the right skill at the right time.</a:t>
            </a:r>
            <a:endParaRPr lang="en-US" sz="1050" dirty="0"/>
          </a:p>
        </p:txBody>
      </p:sp>
      <p:sp>
        <p:nvSpPr>
          <p:cNvPr id="9" name="Shape 7"/>
          <p:cNvSpPr/>
          <p:nvPr/>
        </p:nvSpPr>
        <p:spPr>
          <a:xfrm>
            <a:off x="4251960" y="1691640"/>
            <a:ext cx="3429000" cy="2743200"/>
          </a:xfrm>
          <a:prstGeom prst="roundRect">
            <a:avLst>
              <a:gd name="adj" fmla="val 4000"/>
            </a:avLst>
          </a:prstGeom>
          <a:solidFill>
            <a:srgbClr val="F6F7FB"/>
          </a:solidFill>
          <a:ln w="9525">
            <a:solidFill>
              <a:srgbClr val="E5E7EF"/>
            </a:solidFill>
            <a:prstDash val="solid"/>
          </a:ln>
        </p:spPr>
      </p:sp>
      <p:sp>
        <p:nvSpPr>
          <p:cNvPr id="10" name="Shape 8"/>
          <p:cNvSpPr/>
          <p:nvPr/>
        </p:nvSpPr>
        <p:spPr>
          <a:xfrm>
            <a:off x="4507992" y="1947672"/>
            <a:ext cx="621792" cy="621792"/>
          </a:xfrm>
          <a:prstGeom prst="ellipse">
            <a:avLst/>
          </a:prstGeom>
          <a:solidFill>
            <a:srgbClr val="4B3BE0"/>
          </a:solidFill>
          <a:ln/>
        </p:spPr>
      </p:sp>
      <p:sp>
        <p:nvSpPr>
          <p:cNvPr id="11" name="Text 9"/>
          <p:cNvSpPr/>
          <p:nvPr/>
        </p:nvSpPr>
        <p:spPr>
          <a:xfrm>
            <a:off x="4507992" y="1947672"/>
            <a:ext cx="621792" cy="621792"/>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12" name="Text 10"/>
          <p:cNvSpPr/>
          <p:nvPr/>
        </p:nvSpPr>
        <p:spPr>
          <a:xfrm>
            <a:off x="4507992" y="2743200"/>
            <a:ext cx="2916936" cy="594360"/>
          </a:xfrm>
          <a:prstGeom prst="rect">
            <a:avLst/>
          </a:prstGeom>
          <a:noFill/>
          <a:ln/>
        </p:spPr>
        <p:txBody>
          <a:bodyPr wrap="square" lIns="0" tIns="0" rIns="0" bIns="0" rtlCol="0" anchor="ctr"/>
          <a:lstStyle/>
          <a:p>
            <a:pPr marL="0" indent="0">
              <a:lnSpc>
                <a:spcPct val="110000"/>
              </a:lnSpc>
              <a:buNone/>
            </a:pPr>
            <a:r>
              <a:rPr lang="en-US" sz="1500" b="1" dirty="0">
                <a:solidFill>
                  <a:srgbClr val="172033"/>
                </a:solidFill>
                <a:latin typeface="Calibri" pitchFamily="34" charset="0"/>
                <a:ea typeface="Calibri" pitchFamily="34" charset="-122"/>
                <a:cs typeface="Calibri" pitchFamily="34" charset="-120"/>
              </a:rPr>
              <a:t>IBM Langflow</a:t>
            </a:r>
            <a:endParaRPr lang="en-US" sz="1500" dirty="0"/>
          </a:p>
        </p:txBody>
      </p:sp>
      <p:sp>
        <p:nvSpPr>
          <p:cNvPr id="13" name="Text 11"/>
          <p:cNvSpPr/>
          <p:nvPr/>
        </p:nvSpPr>
        <p:spPr>
          <a:xfrm>
            <a:off x="4507992" y="3291840"/>
            <a:ext cx="2916936" cy="1005840"/>
          </a:xfrm>
          <a:prstGeom prst="rect">
            <a:avLst/>
          </a:prstGeom>
          <a:noFill/>
          <a:ln/>
        </p:spPr>
        <p:txBody>
          <a:bodyPr wrap="square" lIns="0" tIns="0" rIns="0" bIns="0" rtlCol="0" anchor="ctr"/>
          <a:lstStyle/>
          <a:p>
            <a:pPr marL="0" indent="0">
              <a:lnSpc>
                <a:spcPct val="130000"/>
              </a:lnSpc>
              <a:buNone/>
            </a:pPr>
            <a:r>
              <a:rPr lang="en-US" sz="1050" dirty="0">
                <a:solidFill>
                  <a:srgbClr val="697386"/>
                </a:solidFill>
                <a:latin typeface="Calibri" pitchFamily="34" charset="0"/>
                <a:ea typeface="Calibri" pitchFamily="34" charset="-122"/>
                <a:cs typeface="Calibri" pitchFamily="34" charset="-120"/>
              </a:rPr>
              <a:t>Composable AI workflow engine for content analysis — wires together the source-fusion, sentiment and synthesis pipeline visually.</a:t>
            </a:r>
            <a:endParaRPr lang="en-US" sz="1050" dirty="0"/>
          </a:p>
        </p:txBody>
      </p:sp>
      <p:sp>
        <p:nvSpPr>
          <p:cNvPr id="14" name="Shape 12"/>
          <p:cNvSpPr/>
          <p:nvPr/>
        </p:nvSpPr>
        <p:spPr>
          <a:xfrm>
            <a:off x="7955280" y="1691640"/>
            <a:ext cx="3429000" cy="2743200"/>
          </a:xfrm>
          <a:prstGeom prst="roundRect">
            <a:avLst>
              <a:gd name="adj" fmla="val 4000"/>
            </a:avLst>
          </a:prstGeom>
          <a:solidFill>
            <a:srgbClr val="F6F7FB"/>
          </a:solidFill>
          <a:ln w="9525">
            <a:solidFill>
              <a:srgbClr val="E5E7EF"/>
            </a:solidFill>
            <a:prstDash val="solid"/>
          </a:ln>
        </p:spPr>
      </p:sp>
      <p:sp>
        <p:nvSpPr>
          <p:cNvPr id="15" name="Shape 13"/>
          <p:cNvSpPr/>
          <p:nvPr/>
        </p:nvSpPr>
        <p:spPr>
          <a:xfrm>
            <a:off x="8211312" y="1947672"/>
            <a:ext cx="621792" cy="621792"/>
          </a:xfrm>
          <a:prstGeom prst="ellipse">
            <a:avLst/>
          </a:prstGeom>
          <a:solidFill>
            <a:srgbClr val="4B3BE0"/>
          </a:solidFill>
          <a:ln/>
        </p:spPr>
      </p:sp>
      <p:sp>
        <p:nvSpPr>
          <p:cNvPr id="16" name="Text 14"/>
          <p:cNvSpPr/>
          <p:nvPr/>
        </p:nvSpPr>
        <p:spPr>
          <a:xfrm>
            <a:off x="8211312" y="1947672"/>
            <a:ext cx="621792" cy="621792"/>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17" name="Text 15"/>
          <p:cNvSpPr/>
          <p:nvPr/>
        </p:nvSpPr>
        <p:spPr>
          <a:xfrm>
            <a:off x="8211312" y="2743200"/>
            <a:ext cx="2916936" cy="594360"/>
          </a:xfrm>
          <a:prstGeom prst="rect">
            <a:avLst/>
          </a:prstGeom>
          <a:noFill/>
          <a:ln/>
        </p:spPr>
        <p:txBody>
          <a:bodyPr wrap="square" lIns="0" tIns="0" rIns="0" bIns="0" rtlCol="0" anchor="ctr"/>
          <a:lstStyle/>
          <a:p>
            <a:pPr marL="0" indent="0">
              <a:lnSpc>
                <a:spcPct val="110000"/>
              </a:lnSpc>
              <a:buNone/>
            </a:pPr>
            <a:r>
              <a:rPr lang="en-US" sz="1500" b="1" dirty="0">
                <a:solidFill>
                  <a:srgbClr val="172033"/>
                </a:solidFill>
                <a:latin typeface="Calibri" pitchFamily="34" charset="0"/>
                <a:ea typeface="Calibri" pitchFamily="34" charset="-122"/>
                <a:cs typeface="Calibri" pitchFamily="34" charset="-120"/>
              </a:rPr>
              <a:t>IBM Models</a:t>
            </a:r>
            <a:endParaRPr lang="en-US" sz="1500" dirty="0"/>
          </a:p>
        </p:txBody>
      </p:sp>
      <p:sp>
        <p:nvSpPr>
          <p:cNvPr id="18" name="Text 16"/>
          <p:cNvSpPr/>
          <p:nvPr/>
        </p:nvSpPr>
        <p:spPr>
          <a:xfrm>
            <a:off x="8211312" y="3291840"/>
            <a:ext cx="2916936" cy="1005840"/>
          </a:xfrm>
          <a:prstGeom prst="rect">
            <a:avLst/>
          </a:prstGeom>
          <a:noFill/>
          <a:ln/>
        </p:spPr>
        <p:txBody>
          <a:bodyPr wrap="square" lIns="0" tIns="0" rIns="0" bIns="0" rtlCol="0" anchor="ctr"/>
          <a:lstStyle/>
          <a:p>
            <a:pPr marL="0" indent="0">
              <a:lnSpc>
                <a:spcPct val="130000"/>
              </a:lnSpc>
              <a:buNone/>
            </a:pPr>
            <a:r>
              <a:rPr lang="en-US" sz="1050" dirty="0">
                <a:solidFill>
                  <a:srgbClr val="697386"/>
                </a:solidFill>
                <a:latin typeface="Calibri" pitchFamily="34" charset="0"/>
                <a:ea typeface="Calibri" pitchFamily="34" charset="-122"/>
                <a:cs typeface="Calibri" pitchFamily="34" charset="-120"/>
              </a:rPr>
              <a:t>The model layer for synthesis and recommendations — powers summarization, sentiment scoring and content suggestions.</a:t>
            </a:r>
            <a:endParaRPr lang="en-US" sz="1050" dirty="0"/>
          </a:p>
        </p:txBody>
      </p:sp>
      <p:sp>
        <p:nvSpPr>
          <p:cNvPr id="19" name="Shape 17"/>
          <p:cNvSpPr/>
          <p:nvPr/>
        </p:nvSpPr>
        <p:spPr>
          <a:xfrm>
            <a:off x="548640" y="4709160"/>
            <a:ext cx="11109960" cy="1463040"/>
          </a:xfrm>
          <a:prstGeom prst="roundRect">
            <a:avLst>
              <a:gd name="adj" fmla="val 6250"/>
            </a:avLst>
          </a:prstGeom>
          <a:solidFill>
            <a:srgbClr val="1B1440"/>
          </a:solidFill>
          <a:ln/>
        </p:spPr>
      </p:sp>
      <p:sp>
        <p:nvSpPr>
          <p:cNvPr id="20" name="Text 18"/>
          <p:cNvSpPr/>
          <p:nvPr/>
        </p:nvSpPr>
        <p:spPr>
          <a:xfrm>
            <a:off x="822960" y="4846320"/>
            <a:ext cx="4572000" cy="274320"/>
          </a:xfrm>
          <a:prstGeom prst="rect">
            <a:avLst/>
          </a:prstGeom>
          <a:noFill/>
          <a:ln/>
        </p:spPr>
        <p:txBody>
          <a:bodyPr wrap="square" lIns="0" tIns="0" rIns="0" bIns="0" rtlCol="0" anchor="ctr"/>
          <a:lstStyle/>
          <a:p>
            <a:pPr marL="0" indent="0">
              <a:buNone/>
            </a:pPr>
            <a:r>
              <a:rPr lang="en-US" sz="1200" b="1" dirty="0">
                <a:solidFill>
                  <a:srgbClr val="06B6D4"/>
                </a:solidFill>
                <a:latin typeface="Calibri" pitchFamily="34" charset="0"/>
                <a:ea typeface="Calibri" pitchFamily="34" charset="-122"/>
                <a:cs typeface="Calibri" pitchFamily="34" charset="-120"/>
              </a:rPr>
              <a:t>Integration Configuration</a:t>
            </a:r>
            <a:endParaRPr lang="en-US" sz="1200" dirty="0"/>
          </a:p>
        </p:txBody>
      </p:sp>
      <p:sp>
        <p:nvSpPr>
          <p:cNvPr id="21" name="Text 19"/>
          <p:cNvSpPr/>
          <p:nvPr/>
        </p:nvSpPr>
        <p:spPr>
          <a:xfrm>
            <a:off x="822960" y="5138928"/>
            <a:ext cx="5669280" cy="914400"/>
          </a:xfrm>
          <a:prstGeom prst="rect">
            <a:avLst/>
          </a:prstGeom>
          <a:noFill/>
          <a:ln/>
        </p:spPr>
        <p:txBody>
          <a:bodyPr wrap="square" lIns="0" tIns="0" rIns="0" bIns="0" rtlCol="0" anchor="ctr"/>
          <a:lstStyle/>
          <a:p>
            <a:pPr marL="0" indent="0">
              <a:lnSpc>
                <a:spcPct val="120000"/>
              </a:lnSpc>
              <a:buNone/>
            </a:pPr>
            <a:r>
              <a:rPr lang="en-US" sz="1000" dirty="0">
                <a:solidFill>
                  <a:srgbClr val="9BE7F5"/>
                </a:solidFill>
                <a:latin typeface="Courier New" pitchFamily="34" charset="0"/>
                <a:ea typeface="Courier New" pitchFamily="34" charset="-122"/>
                <a:cs typeface="Courier New" pitchFamily="34" charset="-120"/>
              </a:rPr>
              <a:t>const IBM_CONFIG = {</a:t>
            </a:r>
            <a:endParaRPr lang="en-US" sz="1000" dirty="0"/>
          </a:p>
          <a:p>
            <a:pPr marL="0" indent="0">
              <a:lnSpc>
                <a:spcPct val="120000"/>
              </a:lnSpc>
              <a:buNone/>
            </a:pPr>
            <a:r>
              <a:rPr lang="en-US" sz="1000" dirty="0">
                <a:solidFill>
                  <a:srgbClr val="9BE7F5"/>
                </a:solidFill>
                <a:latin typeface="Courier New" pitchFamily="34" charset="0"/>
                <a:ea typeface="Courier New" pitchFamily="34" charset="-122"/>
                <a:cs typeface="Courier New" pitchFamily="34" charset="-120"/>
              </a:rPr>
              <a:t>  mode: "demo",</a:t>
            </a:r>
            <a:endParaRPr lang="en-US" sz="1000" dirty="0"/>
          </a:p>
          <a:p>
            <a:pPr marL="0" indent="0">
              <a:lnSpc>
                <a:spcPct val="120000"/>
              </a:lnSpc>
              <a:buNone/>
            </a:pPr>
            <a:r>
              <a:rPr lang="en-US" sz="1000" dirty="0">
                <a:solidFill>
                  <a:srgbClr val="9BE7F5"/>
                </a:solidFill>
                <a:latin typeface="Courier New" pitchFamily="34" charset="0"/>
                <a:ea typeface="Courier New" pitchFamily="34" charset="-122"/>
                <a:cs typeface="Courier New" pitchFamily="34" charset="-120"/>
              </a:rPr>
              <a:t>  langflowEndpoint: "",</a:t>
            </a:r>
            <a:endParaRPr lang="en-US" sz="1000" dirty="0"/>
          </a:p>
          <a:p>
            <a:pPr marL="0" indent="0">
              <a:lnSpc>
                <a:spcPct val="120000"/>
              </a:lnSpc>
              <a:buNone/>
            </a:pPr>
            <a:r>
              <a:rPr lang="en-US" sz="1000" dirty="0">
                <a:solidFill>
                  <a:srgbClr val="9BE7F5"/>
                </a:solidFill>
                <a:latin typeface="Courier New" pitchFamily="34" charset="0"/>
                <a:ea typeface="Courier New" pitchFamily="34" charset="-122"/>
                <a:cs typeface="Courier New" pitchFamily="34" charset="-120"/>
              </a:rPr>
              <a:t>  orchestrateEndpoint: "",</a:t>
            </a:r>
            <a:endParaRPr lang="en-US" sz="1000" dirty="0"/>
          </a:p>
          <a:p>
            <a:pPr marL="0" indent="0">
              <a:lnSpc>
                <a:spcPct val="120000"/>
              </a:lnSpc>
              <a:buNone/>
            </a:pPr>
            <a:r>
              <a:rPr lang="en-US" sz="1000" dirty="0">
                <a:solidFill>
                  <a:srgbClr val="9BE7F5"/>
                </a:solidFill>
                <a:latin typeface="Courier New" pitchFamily="34" charset="0"/>
                <a:ea typeface="Courier New" pitchFamily="34" charset="-122"/>
                <a:cs typeface="Courier New" pitchFamily="34" charset="-120"/>
              </a:rPr>
              <a:t>  apiKey: ""</a:t>
            </a:r>
            <a:endParaRPr lang="en-US" sz="1000" dirty="0"/>
          </a:p>
          <a:p>
            <a:pPr marL="0" indent="0">
              <a:lnSpc>
                <a:spcPct val="120000"/>
              </a:lnSpc>
              <a:buNone/>
            </a:pPr>
            <a:r>
              <a:rPr lang="en-US" sz="1000" dirty="0">
                <a:solidFill>
                  <a:srgbClr val="9BE7F5"/>
                </a:solidFill>
                <a:latin typeface="Courier New" pitchFamily="34" charset="0"/>
                <a:ea typeface="Courier New" pitchFamily="34" charset="-122"/>
                <a:cs typeface="Courier New" pitchFamily="34" charset="-120"/>
              </a:rPr>
              <a:t>};</a:t>
            </a:r>
            <a:endParaRPr lang="en-US" sz="1000" dirty="0"/>
          </a:p>
        </p:txBody>
      </p:sp>
      <p:sp>
        <p:nvSpPr>
          <p:cNvPr id="22" name="Text 20"/>
          <p:cNvSpPr/>
          <p:nvPr/>
        </p:nvSpPr>
        <p:spPr>
          <a:xfrm>
            <a:off x="6766560" y="5138928"/>
            <a:ext cx="4663440" cy="914400"/>
          </a:xfrm>
          <a:prstGeom prst="rect">
            <a:avLst/>
          </a:prstGeom>
          <a:noFill/>
          <a:ln/>
        </p:spPr>
        <p:txBody>
          <a:bodyPr wrap="square" lIns="0" tIns="0" rIns="0" bIns="0" rtlCol="0" anchor="ctr"/>
          <a:lstStyle/>
          <a:p>
            <a:pPr marL="0" indent="0">
              <a:lnSpc>
                <a:spcPct val="130000"/>
              </a:lnSpc>
              <a:buNone/>
            </a:pPr>
            <a:r>
              <a:rPr lang="en-US" sz="1050" dirty="0">
                <a:solidFill>
                  <a:srgbClr val="DADEF2"/>
                </a:solidFill>
                <a:latin typeface="Calibri" pitchFamily="34" charset="0"/>
                <a:ea typeface="Calibri" pitchFamily="34" charset="-122"/>
                <a:cs typeface="Calibri" pitchFamily="34" charset="-120"/>
              </a:rPr>
              <a:t>Runs fully in demo mode without credentials — real IBM Langflow / watsonx Orchestrate endpoints and API keys are configured once the IBM environment is ready for production.</a:t>
            </a:r>
            <a:endParaRPr lang="en-US" sz="1050" dirty="0"/>
          </a:p>
        </p:txBody>
      </p:sp>
      <p:sp>
        <p:nvSpPr>
          <p:cNvPr id="23" name="Text 21"/>
          <p:cNvSpPr/>
          <p:nvPr/>
        </p:nvSpPr>
        <p:spPr>
          <a:xfrm>
            <a:off x="457200" y="6473952"/>
            <a:ext cx="3657600" cy="274320"/>
          </a:xfrm>
          <a:prstGeom prst="rect">
            <a:avLst/>
          </a:prstGeom>
          <a:noFill/>
          <a:ln/>
        </p:spPr>
        <p:txBody>
          <a:bodyPr wrap="square" lIns="0" tIns="0" rIns="0" bIns="0" rtlCol="0" anchor="ctr"/>
          <a:lstStyle/>
          <a:p>
            <a:pPr marL="0" indent="0">
              <a:buNone/>
            </a:pPr>
            <a:r>
              <a:rPr lang="en-US" sz="900" dirty="0">
                <a:solidFill>
                  <a:srgbClr val="697386"/>
                </a:solidFill>
                <a:latin typeface="Calibri" pitchFamily="34" charset="0"/>
                <a:ea typeface="Calibri" pitchFamily="34" charset="-122"/>
                <a:cs typeface="Calibri" pitchFamily="34" charset="-120"/>
              </a:rPr>
              <a:t>ContentPulse AI</a:t>
            </a:r>
            <a:endParaRPr lang="en-US" sz="900" dirty="0"/>
          </a:p>
        </p:txBody>
      </p:sp>
      <p:sp>
        <p:nvSpPr>
          <p:cNvPr id="24" name="Text 22"/>
          <p:cNvSpPr/>
          <p:nvPr/>
        </p:nvSpPr>
        <p:spPr>
          <a:xfrm>
            <a:off x="8074152" y="6473952"/>
            <a:ext cx="3657600" cy="274320"/>
          </a:xfrm>
          <a:prstGeom prst="rect">
            <a:avLst/>
          </a:prstGeom>
          <a:noFill/>
          <a:ln/>
        </p:spPr>
        <p:txBody>
          <a:bodyPr wrap="square" lIns="0" tIns="0" rIns="0" bIns="0" rtlCol="0" anchor="ctr"/>
          <a:lstStyle/>
          <a:p>
            <a:pPr marL="0" indent="0" algn="r">
              <a:buNone/>
            </a:pPr>
            <a:r>
              <a:rPr lang="en-US" sz="900" dirty="0">
                <a:solidFill>
                  <a:srgbClr val="697386"/>
                </a:solidFill>
                <a:latin typeface="Calibri" pitchFamily="34" charset="0"/>
                <a:ea typeface="Calibri" pitchFamily="34" charset="-122"/>
                <a:cs typeface="Calibri" pitchFamily="34" charset="-120"/>
              </a:rPr>
              <a:t>08  ·  Tech Stack</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440"/>
        </a:solidFill>
        <a:effectLst/>
      </p:bgPr>
    </p:bg>
    <p:spTree>
      <p:nvGrpSpPr>
        <p:cNvPr id="1" name=""/>
        <p:cNvGrpSpPr/>
        <p:nvPr/>
      </p:nvGrpSpPr>
      <p:grpSpPr>
        <a:xfrm>
          <a:off x="0" y="0"/>
          <a:ext cx="0" cy="0"/>
          <a:chOff x="0" y="0"/>
          <a:chExt cx="0" cy="0"/>
        </a:xfrm>
      </p:grpSpPr>
      <p:sp>
        <p:nvSpPr>
          <p:cNvPr id="2" name="Shape 0"/>
          <p:cNvSpPr/>
          <p:nvPr/>
        </p:nvSpPr>
        <p:spPr>
          <a:xfrm>
            <a:off x="-1463040" y="-1645920"/>
            <a:ext cx="5486400" cy="5486400"/>
          </a:xfrm>
          <a:prstGeom prst="ellipse">
            <a:avLst/>
          </a:prstGeom>
          <a:solidFill>
            <a:srgbClr val="4B3BE0">
              <a:alpha val="35000"/>
            </a:srgbClr>
          </a:solidFill>
          <a:ln/>
        </p:spPr>
      </p:sp>
      <p:sp>
        <p:nvSpPr>
          <p:cNvPr id="3" name="Shape 1"/>
          <p:cNvSpPr/>
          <p:nvPr/>
        </p:nvSpPr>
        <p:spPr>
          <a:xfrm>
            <a:off x="8961120" y="3657600"/>
            <a:ext cx="4754880" cy="4754880"/>
          </a:xfrm>
          <a:prstGeom prst="ellipse">
            <a:avLst/>
          </a:prstGeom>
          <a:solidFill>
            <a:srgbClr val="06B6D4">
              <a:alpha val="22000"/>
            </a:srgbClr>
          </a:solidFill>
          <a:ln/>
        </p:spPr>
      </p:sp>
      <p:sp>
        <p:nvSpPr>
          <p:cNvPr id="4" name="Text 2"/>
          <p:cNvSpPr/>
          <p:nvPr/>
        </p:nvSpPr>
        <p:spPr>
          <a:xfrm>
            <a:off x="548640" y="1737360"/>
            <a:ext cx="7315200" cy="100584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5" name="Text 3"/>
          <p:cNvSpPr/>
          <p:nvPr/>
        </p:nvSpPr>
        <p:spPr>
          <a:xfrm>
            <a:off x="566928" y="2651760"/>
            <a:ext cx="8686800" cy="457200"/>
          </a:xfrm>
          <a:prstGeom prst="rect">
            <a:avLst/>
          </a:prstGeom>
          <a:noFill/>
          <a:ln/>
        </p:spPr>
        <p:txBody>
          <a:bodyPr wrap="square" lIns="0" tIns="0" rIns="0" bIns="0" rtlCol="0" anchor="ctr"/>
          <a:lstStyle/>
          <a:p>
            <a:pPr marL="0" indent="0">
              <a:buNone/>
            </a:pPr>
            <a:r>
              <a:rPr lang="en-US" sz="1500" dirty="0">
                <a:solidFill>
                  <a:srgbClr val="C9CEE8"/>
                </a:solidFill>
                <a:latin typeface="Calibri" pitchFamily="34" charset="0"/>
                <a:ea typeface="Calibri" pitchFamily="34" charset="-122"/>
                <a:cs typeface="Calibri" pitchFamily="34" charset="-120"/>
              </a:rPr>
              <a:t>ContentPulse AI — turning content overload into content opportunity.</a:t>
            </a:r>
            <a:endParaRPr lang="en-US" sz="1500" dirty="0"/>
          </a:p>
        </p:txBody>
      </p:sp>
      <p:sp>
        <p:nvSpPr>
          <p:cNvPr id="6" name="Shape 4"/>
          <p:cNvSpPr/>
          <p:nvPr/>
        </p:nvSpPr>
        <p:spPr>
          <a:xfrm>
            <a:off x="566928" y="3337560"/>
            <a:ext cx="3291840" cy="0"/>
          </a:xfrm>
          <a:prstGeom prst="line">
            <a:avLst/>
          </a:prstGeom>
          <a:noFill/>
          <a:ln w="12700">
            <a:solidFill>
              <a:srgbClr val="3A3470"/>
            </a:solidFill>
            <a:prstDash val="solid"/>
          </a:ln>
        </p:spPr>
      </p:sp>
      <p:sp>
        <p:nvSpPr>
          <p:cNvPr id="7" name="Text 5"/>
          <p:cNvSpPr/>
          <p:nvPr/>
        </p:nvSpPr>
        <p:spPr>
          <a:xfrm>
            <a:off x="566928" y="3566160"/>
            <a:ext cx="3657600" cy="256032"/>
          </a:xfrm>
          <a:prstGeom prst="rect">
            <a:avLst/>
          </a:prstGeom>
          <a:noFill/>
          <a:ln/>
        </p:spPr>
        <p:txBody>
          <a:bodyPr wrap="square" lIns="0" tIns="0" rIns="0" bIns="0" rtlCol="0" anchor="ctr"/>
          <a:lstStyle/>
          <a:p>
            <a:pPr marL="0" indent="0">
              <a:buNone/>
            </a:pPr>
            <a:r>
              <a:rPr lang="en-US" sz="1000" b="1" kern="0" spc="150" dirty="0">
                <a:solidFill>
                  <a:srgbClr val="06B6D4"/>
                </a:solidFill>
                <a:latin typeface="Calibri" pitchFamily="34" charset="0"/>
                <a:ea typeface="Calibri" pitchFamily="34" charset="-122"/>
                <a:cs typeface="Calibri" pitchFamily="34" charset="-120"/>
              </a:rPr>
              <a:t>PROJECT BY</a:t>
            </a:r>
            <a:endParaRPr lang="en-US" sz="1000" dirty="0"/>
          </a:p>
        </p:txBody>
      </p:sp>
      <p:sp>
        <p:nvSpPr>
          <p:cNvPr id="8" name="Text 6"/>
          <p:cNvSpPr/>
          <p:nvPr/>
        </p:nvSpPr>
        <p:spPr>
          <a:xfrm>
            <a:off x="566928" y="3813048"/>
            <a:ext cx="5486400" cy="50292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Shreya Dahule</a:t>
            </a:r>
            <a:endParaRPr lang="en-US" sz="2200" dirty="0"/>
          </a:p>
        </p:txBody>
      </p:sp>
      <p:sp>
        <p:nvSpPr>
          <p:cNvPr id="10" name="Shape 8"/>
          <p:cNvSpPr/>
          <p:nvPr/>
        </p:nvSpPr>
        <p:spPr>
          <a:xfrm>
            <a:off x="749808" y="4828032"/>
            <a:ext cx="457200" cy="457200"/>
          </a:xfrm>
          <a:prstGeom prst="ellipse">
            <a:avLst/>
          </a:prstGeom>
          <a:solidFill>
            <a:srgbClr val="0F0A2E"/>
          </a:solidFill>
          <a:ln/>
        </p:spPr>
      </p:sp>
      <p:sp>
        <p:nvSpPr>
          <p:cNvPr id="11" name="Text 9"/>
          <p:cNvSpPr/>
          <p:nvPr/>
        </p:nvSpPr>
        <p:spPr>
          <a:xfrm>
            <a:off x="749808" y="4828032"/>
            <a:ext cx="457200" cy="457200"/>
          </a:xfrm>
          <a:prstGeom prst="rect">
            <a:avLst/>
          </a:prstGeom>
          <a:noFill/>
          <a:ln/>
        </p:spPr>
        <p:txBody>
          <a:bodyPr wrap="square" lIns="0" tIns="0" rIns="0" bIns="0" rtlCol="0" anchor="ctr"/>
          <a:lstStyle/>
          <a:p>
            <a:pPr marL="0" indent="0" algn="ctr">
              <a:buNone/>
            </a:pPr>
            <a:r>
              <a:rPr lang="en-US" sz="2000" b="1" dirty="0">
                <a:solidFill>
                  <a:srgbClr val="06B6D4"/>
                </a:solidFill>
                <a:latin typeface="Calibri" pitchFamily="34" charset="0"/>
                <a:ea typeface="Calibri" pitchFamily="34" charset="-122"/>
                <a:cs typeface="Calibri" pitchFamily="34" charset="-120"/>
              </a:rPr>
              <a:t>⌥</a:t>
            </a:r>
            <a:endParaRPr lang="en-US" sz="2000" dirty="0"/>
          </a:p>
        </p:txBody>
      </p:sp>
      <p:sp>
        <p:nvSpPr>
          <p:cNvPr id="12" name="Text 10"/>
          <p:cNvSpPr/>
          <p:nvPr/>
        </p:nvSpPr>
        <p:spPr>
          <a:xfrm>
            <a:off x="1371600" y="4718304"/>
            <a:ext cx="4572000" cy="274320"/>
          </a:xfrm>
          <a:prstGeom prst="rect">
            <a:avLst/>
          </a:prstGeom>
          <a:noFill/>
          <a:ln/>
        </p:spPr>
        <p:txBody>
          <a:bodyPr wrap="square" lIns="0" tIns="0" rIns="0" bIns="0" rtlCol="0" anchor="ctr"/>
          <a:lstStyle/>
          <a:p>
            <a:pPr marL="0" indent="0">
              <a:buNone/>
            </a:pPr>
            <a:endParaRPr lang="en-US" sz="1050" dirty="0"/>
          </a:p>
        </p:txBody>
      </p:sp>
      <p:sp>
        <p:nvSpPr>
          <p:cNvPr id="13" name="Text 11"/>
          <p:cNvSpPr/>
          <p:nvPr/>
        </p:nvSpPr>
        <p:spPr>
          <a:xfrm>
            <a:off x="1371600" y="4992624"/>
            <a:ext cx="5486400" cy="320040"/>
          </a:xfrm>
          <a:prstGeom prst="rect">
            <a:avLst/>
          </a:prstGeom>
          <a:noFill/>
          <a:ln/>
        </p:spPr>
        <p:txBody>
          <a:bodyPr wrap="square" lIns="0" tIns="0" rIns="0" bIns="0" rtlCol="0" anchor="ctr"/>
          <a:lstStyle/>
          <a:p>
            <a:pPr marL="0" indent="0">
              <a:buNone/>
            </a:pP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1137</Words>
  <Application>Microsoft Office PowerPoint</Application>
  <PresentationFormat>Widescreen</PresentationFormat>
  <Paragraphs>221</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ADMIN</cp:lastModifiedBy>
  <cp:revision>2</cp:revision>
  <dcterms:created xsi:type="dcterms:W3CDTF">2026-08-23T20:42:26Z</dcterms:created>
  <dcterms:modified xsi:type="dcterms:W3CDTF">2026-08-23T20:45:14Z</dcterms:modified>
</cp:coreProperties>
</file>